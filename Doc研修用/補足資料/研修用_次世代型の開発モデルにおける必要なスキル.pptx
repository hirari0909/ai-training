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40" r:id="rId2"/>
    <p:sldId id="441" r:id="rId3"/>
    <p:sldId id="442" r:id="rId4"/>
    <p:sldId id="443" r:id="rId5"/>
    <p:sldId id="446" r:id="rId6"/>
    <p:sldId id="447" r:id="rId7"/>
    <p:sldId id="448" r:id="rId8"/>
    <p:sldId id="449" r:id="rId9"/>
    <p:sldId id="444" r:id="rId10"/>
    <p:sldId id="451" r:id="rId11"/>
    <p:sldId id="450" r:id="rId12"/>
    <p:sldId id="452" r:id="rId13"/>
    <p:sldId id="453" r:id="rId14"/>
  </p:sldIdLst>
  <p:sldSz cx="12192000" cy="6858000"/>
  <p:notesSz cx="6800850" cy="99329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8D1"/>
    <a:srgbClr val="FFFFCC"/>
    <a:srgbClr val="FFCC99"/>
    <a:srgbClr val="FF9966"/>
    <a:srgbClr val="FF9900"/>
    <a:srgbClr val="F57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26" autoAdjust="0"/>
    <p:restoredTop sz="93988" autoAdjust="0"/>
  </p:normalViewPr>
  <p:slideViewPr>
    <p:cSldViewPr snapToGrid="0">
      <p:cViewPr varScale="1">
        <p:scale>
          <a:sx n="126" d="100"/>
          <a:sy n="126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2687427912341407E-2"/>
          <c:y val="0.21905460824519749"/>
          <c:w val="0.9746251441753172"/>
          <c:h val="0.7327990895355455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今まで</c:v>
                </c:pt>
              </c:strCache>
            </c:strRef>
          </c:tx>
          <c:spPr>
            <a:ln w="28575">
              <a:solidFill>
                <a:schemeClr val="accent5"/>
              </a:solidFill>
            </a:ln>
          </c:spPr>
          <c:marker>
            <c:symbol val="circle"/>
            <c:size val="7"/>
            <c:spPr>
              <a:solidFill>
                <a:schemeClr val="accent5"/>
              </a:solidFill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chemeClr val="accent5"/>
                    </a:solidFill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要件・概要</c:v>
                </c:pt>
                <c:pt idx="1">
                  <c:v>基本設計</c:v>
                </c:pt>
                <c:pt idx="2">
                  <c:v>詳細設計</c:v>
                </c:pt>
                <c:pt idx="3">
                  <c:v>CD/UT</c:v>
                </c:pt>
                <c:pt idx="4">
                  <c:v>結合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15</c:v>
                </c:pt>
                <c:pt idx="3">
                  <c:v>15</c:v>
                </c:pt>
                <c:pt idx="4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AA-4B79-B5D7-77DABE81D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AI時代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7"/>
            <c:spPr>
              <a:solidFill>
                <a:schemeClr val="accent1"/>
              </a:solidFill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5F6-4B12-BED5-A016C79A617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5F6-4B12-BED5-A016C79A617C}"/>
                </c:ext>
              </c:extLst>
            </c:dLbl>
            <c:dLbl>
              <c:idx val="2"/>
              <c:layout>
                <c:manualLayout>
                  <c:x val="-1.5268234204288477E-2"/>
                  <c:y val="-0.1838596628926867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AAD-4838-8C4C-2223C80CB5CD}"/>
                </c:ext>
              </c:extLst>
            </c:dLbl>
            <c:dLbl>
              <c:idx val="3"/>
              <c:layout>
                <c:manualLayout>
                  <c:x val="-1.5268234204288562E-2"/>
                  <c:y val="-0.1838596628926867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AD-4838-8C4C-2223C80CB5CD}"/>
                </c:ext>
              </c:extLst>
            </c:dLbl>
            <c:dLbl>
              <c:idx val="4"/>
              <c:layout>
                <c:manualLayout>
                  <c:x val="-3.7342088294326529E-3"/>
                  <c:y val="-0.1140835508113729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AAD-4838-8C4C-2223C80CB5CD}"/>
                </c:ext>
              </c:extLst>
            </c:dLbl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chemeClr val="accent1"/>
                    </a:solidFill>
                  </a:defRPr>
                </a:pPr>
                <a:endParaRPr lang="ja-JP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要件・概要</c:v>
                </c:pt>
                <c:pt idx="1">
                  <c:v>基本設計</c:v>
                </c:pt>
                <c:pt idx="2">
                  <c:v>詳細設計</c:v>
                </c:pt>
                <c:pt idx="3">
                  <c:v>CD/UT</c:v>
                </c:pt>
                <c:pt idx="4">
                  <c:v>結合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AA-4B79-B5D7-77DABE81D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  <c:max val="16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11111111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2.9548992362113904E-2"/>
          <c:y val="7.8472396055697238E-2"/>
          <c:w val="0.18426995068523008"/>
          <c:h val="0.13112292213473317"/>
        </c:manualLayout>
      </c:layout>
      <c:overlay val="0"/>
      <c:txPr>
        <a:bodyPr/>
        <a:lstStyle/>
        <a:p>
          <a:pPr>
            <a:defRPr sz="1400"/>
          </a:pPr>
          <a:endParaRPr lang="ja-JP"/>
        </a:p>
      </c:txPr>
    </c:legend>
    <c:plotVisOnly val="1"/>
    <c:dispBlanksAs val="zero"/>
    <c:showDLblsOverMax val="1"/>
  </c:chart>
  <c:spPr>
    <a:ln>
      <a:solidFill>
        <a:schemeClr val="bg1">
          <a:lumMod val="95000"/>
        </a:schemeClr>
      </a:solidFill>
    </a:ln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FD2468-8B7A-4EC3-ACCF-30ADEDDDFE27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A726CD98-D217-4C08-B542-27F2558BFEC4}">
      <dgm:prSet phldrT="[テキスト]" custT="1"/>
      <dgm:spPr>
        <a:solidFill>
          <a:schemeClr val="bg1">
            <a:lumMod val="95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kumimoji="1" lang="en-US" altLang="ja-JP" sz="1000" b="1" dirty="0">
              <a:solidFill>
                <a:schemeClr val="accent1"/>
              </a:solidFill>
            </a:rPr>
            <a:t>Input/</a:t>
          </a:r>
          <a:r>
            <a:rPr kumimoji="1" lang="ja-JP" altLang="en-US" sz="1000" b="1" dirty="0">
              <a:solidFill>
                <a:schemeClr val="accent1"/>
              </a:solidFill>
            </a:rPr>
            <a:t>仕様書</a:t>
          </a:r>
        </a:p>
      </dgm:t>
    </dgm:pt>
    <dgm:pt modelId="{AF0AAC53-A617-4C47-BCD8-0A86D5A9F46B}" type="parTrans" cxnId="{23391F2C-6BF6-4C4F-B425-349EE00DD2D6}">
      <dgm:prSet/>
      <dgm:spPr/>
      <dgm:t>
        <a:bodyPr/>
        <a:lstStyle/>
        <a:p>
          <a:endParaRPr kumimoji="1" lang="ja-JP" altLang="en-US"/>
        </a:p>
      </dgm:t>
    </dgm:pt>
    <dgm:pt modelId="{F6263319-428F-4519-B38E-65D3BE103FA6}" type="sibTrans" cxnId="{23391F2C-6BF6-4C4F-B425-349EE00DD2D6}">
      <dgm:prSet/>
      <dgm:spPr/>
      <dgm:t>
        <a:bodyPr/>
        <a:lstStyle/>
        <a:p>
          <a:endParaRPr kumimoji="1" lang="ja-JP" altLang="en-US"/>
        </a:p>
      </dgm:t>
    </dgm:pt>
    <dgm:pt modelId="{D77534F9-CCD8-4CB4-A33D-03B31C255B10}">
      <dgm:prSet phldrT="[テキスト]" custT="1"/>
      <dgm:spPr>
        <a:solidFill>
          <a:schemeClr val="bg1">
            <a:lumMod val="95000"/>
          </a:schemeClr>
        </a:solidFill>
        <a:ln>
          <a:solidFill>
            <a:schemeClr val="accent1"/>
          </a:solidFill>
        </a:ln>
      </dgm:spPr>
      <dgm:t>
        <a:bodyPr lIns="0" tIns="0" rIns="0" bIns="0"/>
        <a:lstStyle/>
        <a:p>
          <a:r>
            <a:rPr kumimoji="1" lang="ja-JP" altLang="en-US" sz="1000" b="1" dirty="0">
              <a:solidFill>
                <a:schemeClr val="accent1"/>
              </a:solidFill>
            </a:rPr>
            <a:t>成果物</a:t>
          </a:r>
          <a:endParaRPr kumimoji="1" lang="en-US" altLang="ja-JP" sz="1000" b="1" dirty="0">
            <a:solidFill>
              <a:schemeClr val="accent1"/>
            </a:solidFill>
          </a:endParaRPr>
        </a:p>
        <a:p>
          <a:r>
            <a:rPr kumimoji="1" lang="en-US" altLang="ja-JP" sz="1000" dirty="0">
              <a:solidFill>
                <a:schemeClr val="accent1"/>
              </a:solidFill>
            </a:rPr>
            <a:t>(</a:t>
          </a:r>
          <a:r>
            <a:rPr kumimoji="1" lang="ja-JP" altLang="en-US" sz="1000" dirty="0">
              <a:solidFill>
                <a:schemeClr val="accent1"/>
              </a:solidFill>
            </a:rPr>
            <a:t>設計書・プログラム</a:t>
          </a:r>
          <a:r>
            <a:rPr kumimoji="1" lang="en-US" altLang="ja-JP" sz="1000" dirty="0">
              <a:solidFill>
                <a:schemeClr val="accent1"/>
              </a:solidFill>
            </a:rPr>
            <a:t>)</a:t>
          </a:r>
          <a:endParaRPr kumimoji="1" lang="ja-JP" altLang="en-US" sz="1000" dirty="0">
            <a:solidFill>
              <a:schemeClr val="accent1"/>
            </a:solidFill>
          </a:endParaRPr>
        </a:p>
      </dgm:t>
    </dgm:pt>
    <dgm:pt modelId="{1119F6F8-8CF1-4D3A-9E49-051D12F12383}" type="parTrans" cxnId="{8C6917DC-A6BF-46B4-B77E-A63FC5B980A0}">
      <dgm:prSet/>
      <dgm:spPr/>
      <dgm:t>
        <a:bodyPr/>
        <a:lstStyle/>
        <a:p>
          <a:endParaRPr kumimoji="1" lang="ja-JP" altLang="en-US"/>
        </a:p>
      </dgm:t>
    </dgm:pt>
    <dgm:pt modelId="{EDC78327-FCF6-492A-927A-EF73AF3B147D}" type="sibTrans" cxnId="{8C6917DC-A6BF-46B4-B77E-A63FC5B980A0}">
      <dgm:prSet/>
      <dgm:spPr/>
      <dgm:t>
        <a:bodyPr/>
        <a:lstStyle/>
        <a:p>
          <a:endParaRPr kumimoji="1" lang="ja-JP" altLang="en-US"/>
        </a:p>
      </dgm:t>
    </dgm:pt>
    <dgm:pt modelId="{4C8293BB-1FEF-4872-9E41-804CAD4C014D}">
      <dgm:prSet phldrT="[テキスト]"/>
      <dgm:spPr>
        <a:solidFill>
          <a:schemeClr val="bg1">
            <a:lumMod val="95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kumimoji="1" lang="ja-JP" altLang="en-US" b="1" dirty="0">
              <a:solidFill>
                <a:schemeClr val="accent1"/>
              </a:solidFill>
            </a:rPr>
            <a:t>改善</a:t>
          </a:r>
        </a:p>
      </dgm:t>
    </dgm:pt>
    <dgm:pt modelId="{3A6250BF-35AC-460E-AD89-287A4118B29D}" type="parTrans" cxnId="{157EA67B-0E8F-4505-A152-EAA64F80A327}">
      <dgm:prSet/>
      <dgm:spPr/>
      <dgm:t>
        <a:bodyPr/>
        <a:lstStyle/>
        <a:p>
          <a:endParaRPr kumimoji="1" lang="ja-JP" altLang="en-US"/>
        </a:p>
      </dgm:t>
    </dgm:pt>
    <dgm:pt modelId="{09B3FFD8-329B-448E-B167-676685E566D2}" type="sibTrans" cxnId="{157EA67B-0E8F-4505-A152-EAA64F80A327}">
      <dgm:prSet/>
      <dgm:spPr/>
      <dgm:t>
        <a:bodyPr/>
        <a:lstStyle/>
        <a:p>
          <a:endParaRPr kumimoji="1" lang="ja-JP" altLang="en-US"/>
        </a:p>
      </dgm:t>
    </dgm:pt>
    <dgm:pt modelId="{39555D22-8438-426F-8085-98AB2136F665}">
      <dgm:prSet phldrT="[テキスト]" custT="1"/>
      <dgm:spPr>
        <a:solidFill>
          <a:schemeClr val="bg1">
            <a:lumMod val="95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kumimoji="1" lang="ja-JP" altLang="en-US" sz="1000" b="1" dirty="0">
              <a:solidFill>
                <a:schemeClr val="accent1"/>
              </a:solidFill>
            </a:rPr>
            <a:t>プロンプト等</a:t>
          </a:r>
          <a:endParaRPr kumimoji="1" lang="en-US" altLang="ja-JP" sz="1000" b="1" dirty="0">
            <a:solidFill>
              <a:schemeClr val="accent1"/>
            </a:solidFill>
          </a:endParaRPr>
        </a:p>
        <a:p>
          <a:r>
            <a:rPr kumimoji="1" lang="en-US" altLang="ja-JP" sz="1000" b="1" dirty="0">
              <a:solidFill>
                <a:schemeClr val="accent1"/>
              </a:solidFill>
            </a:rPr>
            <a:t>AI</a:t>
          </a:r>
          <a:r>
            <a:rPr kumimoji="1" lang="ja-JP" altLang="en-US" sz="1000" b="1" dirty="0">
              <a:solidFill>
                <a:schemeClr val="accent1"/>
              </a:solidFill>
            </a:rPr>
            <a:t>による生成</a:t>
          </a:r>
          <a:endParaRPr kumimoji="1" lang="en-US" altLang="ja-JP" sz="1000" b="1" dirty="0">
            <a:solidFill>
              <a:schemeClr val="accent1"/>
            </a:solidFill>
          </a:endParaRPr>
        </a:p>
      </dgm:t>
    </dgm:pt>
    <dgm:pt modelId="{484D587A-9428-46C2-B417-3C6FEBBC3E56}" type="parTrans" cxnId="{0DBD9065-C17A-4F98-8FF3-DD9629DD25FC}">
      <dgm:prSet/>
      <dgm:spPr/>
      <dgm:t>
        <a:bodyPr/>
        <a:lstStyle/>
        <a:p>
          <a:endParaRPr kumimoji="1" lang="ja-JP" altLang="en-US"/>
        </a:p>
      </dgm:t>
    </dgm:pt>
    <dgm:pt modelId="{3EDED96B-4A45-4CAC-8D1E-08016BC1D6D4}" type="sibTrans" cxnId="{0DBD9065-C17A-4F98-8FF3-DD9629DD25FC}">
      <dgm:prSet/>
      <dgm:spPr/>
      <dgm:t>
        <a:bodyPr/>
        <a:lstStyle/>
        <a:p>
          <a:endParaRPr kumimoji="1" lang="ja-JP" altLang="en-US"/>
        </a:p>
      </dgm:t>
    </dgm:pt>
    <dgm:pt modelId="{33D26DF8-132D-46E5-B626-55F16BB68BCD}" type="pres">
      <dgm:prSet presAssocID="{01FD2468-8B7A-4EC3-ACCF-30ADEDDDFE27}" presName="cycle" presStyleCnt="0">
        <dgm:presLayoutVars>
          <dgm:dir/>
          <dgm:resizeHandles val="exact"/>
        </dgm:presLayoutVars>
      </dgm:prSet>
      <dgm:spPr/>
    </dgm:pt>
    <dgm:pt modelId="{545BEFCF-7F99-4933-86A6-857EE136F892}" type="pres">
      <dgm:prSet presAssocID="{A726CD98-D217-4C08-B542-27F2558BFEC4}" presName="node" presStyleLbl="node1" presStyleIdx="0" presStyleCnt="4" custScaleX="239499">
        <dgm:presLayoutVars>
          <dgm:bulletEnabled val="1"/>
        </dgm:presLayoutVars>
      </dgm:prSet>
      <dgm:spPr/>
    </dgm:pt>
    <dgm:pt modelId="{CD206FDB-49D9-4849-9C80-50FBCBFA4E4C}" type="pres">
      <dgm:prSet presAssocID="{F6263319-428F-4519-B38E-65D3BE103FA6}" presName="sibTrans" presStyleLbl="sibTrans2D1" presStyleIdx="0" presStyleCnt="4"/>
      <dgm:spPr/>
    </dgm:pt>
    <dgm:pt modelId="{DDE68BD2-BA4F-4FBC-B530-57FA29966760}" type="pres">
      <dgm:prSet presAssocID="{F6263319-428F-4519-B38E-65D3BE103FA6}" presName="connectorText" presStyleLbl="sibTrans2D1" presStyleIdx="0" presStyleCnt="4"/>
      <dgm:spPr/>
    </dgm:pt>
    <dgm:pt modelId="{C0CA2D99-920C-4C17-8457-F5025BD13A58}" type="pres">
      <dgm:prSet presAssocID="{39555D22-8438-426F-8085-98AB2136F665}" presName="node" presStyleLbl="node1" presStyleIdx="1" presStyleCnt="4" custScaleX="222794" custScaleY="111572" custRadScaleRad="185030" custRadScaleInc="-4724">
        <dgm:presLayoutVars>
          <dgm:bulletEnabled val="1"/>
        </dgm:presLayoutVars>
      </dgm:prSet>
      <dgm:spPr/>
    </dgm:pt>
    <dgm:pt modelId="{8E4D922C-DBB1-45DF-9A32-C8ED3107BFAB}" type="pres">
      <dgm:prSet presAssocID="{3EDED96B-4A45-4CAC-8D1E-08016BC1D6D4}" presName="sibTrans" presStyleLbl="sibTrans2D1" presStyleIdx="1" presStyleCnt="4"/>
      <dgm:spPr/>
    </dgm:pt>
    <dgm:pt modelId="{6E16787C-33D7-4DD6-8116-A29623744B14}" type="pres">
      <dgm:prSet presAssocID="{3EDED96B-4A45-4CAC-8D1E-08016BC1D6D4}" presName="connectorText" presStyleLbl="sibTrans2D1" presStyleIdx="1" presStyleCnt="4"/>
      <dgm:spPr/>
    </dgm:pt>
    <dgm:pt modelId="{DD6EC0BD-FB74-4AE9-B791-0F609DE8C31A}" type="pres">
      <dgm:prSet presAssocID="{D77534F9-CCD8-4CB4-A33D-03B31C255B10}" presName="node" presStyleLbl="node1" presStyleIdx="2" presStyleCnt="4" custScaleX="361730">
        <dgm:presLayoutVars>
          <dgm:bulletEnabled val="1"/>
        </dgm:presLayoutVars>
      </dgm:prSet>
      <dgm:spPr/>
    </dgm:pt>
    <dgm:pt modelId="{96CE0E12-661B-472E-905F-BD0204711BA0}" type="pres">
      <dgm:prSet presAssocID="{EDC78327-FCF6-492A-927A-EF73AF3B147D}" presName="sibTrans" presStyleLbl="sibTrans2D1" presStyleIdx="2" presStyleCnt="4"/>
      <dgm:spPr/>
    </dgm:pt>
    <dgm:pt modelId="{BB12EE72-75A1-4BB5-A54C-F670B47BA75F}" type="pres">
      <dgm:prSet presAssocID="{EDC78327-FCF6-492A-927A-EF73AF3B147D}" presName="connectorText" presStyleLbl="sibTrans2D1" presStyleIdx="2" presStyleCnt="4"/>
      <dgm:spPr/>
    </dgm:pt>
    <dgm:pt modelId="{61761EAF-F001-4CC9-B073-786F9EE92C77}" type="pres">
      <dgm:prSet presAssocID="{4C8293BB-1FEF-4872-9E41-804CAD4C014D}" presName="node" presStyleLbl="node1" presStyleIdx="3" presStyleCnt="4" custScaleX="153673" custScaleY="72660" custRadScaleRad="157646" custRadScaleInc="5545">
        <dgm:presLayoutVars>
          <dgm:bulletEnabled val="1"/>
        </dgm:presLayoutVars>
      </dgm:prSet>
      <dgm:spPr/>
    </dgm:pt>
    <dgm:pt modelId="{F141085B-4D06-468A-A170-1B26497F6389}" type="pres">
      <dgm:prSet presAssocID="{09B3FFD8-329B-448E-B167-676685E566D2}" presName="sibTrans" presStyleLbl="sibTrans2D1" presStyleIdx="3" presStyleCnt="4"/>
      <dgm:spPr/>
    </dgm:pt>
    <dgm:pt modelId="{D98CB015-AA26-40AC-BE7C-CA7DA90D214F}" type="pres">
      <dgm:prSet presAssocID="{09B3FFD8-329B-448E-B167-676685E566D2}" presName="connectorText" presStyleLbl="sibTrans2D1" presStyleIdx="3" presStyleCnt="4"/>
      <dgm:spPr/>
    </dgm:pt>
  </dgm:ptLst>
  <dgm:cxnLst>
    <dgm:cxn modelId="{23391F2C-6BF6-4C4F-B425-349EE00DD2D6}" srcId="{01FD2468-8B7A-4EC3-ACCF-30ADEDDDFE27}" destId="{A726CD98-D217-4C08-B542-27F2558BFEC4}" srcOrd="0" destOrd="0" parTransId="{AF0AAC53-A617-4C47-BCD8-0A86D5A9F46B}" sibTransId="{F6263319-428F-4519-B38E-65D3BE103FA6}"/>
    <dgm:cxn modelId="{9FE7642D-1DB3-4A47-865F-3DEACA0BAEAF}" type="presOf" srcId="{4C8293BB-1FEF-4872-9E41-804CAD4C014D}" destId="{61761EAF-F001-4CC9-B073-786F9EE92C77}" srcOrd="0" destOrd="0" presId="urn:microsoft.com/office/officeart/2005/8/layout/cycle2"/>
    <dgm:cxn modelId="{0DBD9065-C17A-4F98-8FF3-DD9629DD25FC}" srcId="{01FD2468-8B7A-4EC3-ACCF-30ADEDDDFE27}" destId="{39555D22-8438-426F-8085-98AB2136F665}" srcOrd="1" destOrd="0" parTransId="{484D587A-9428-46C2-B417-3C6FEBBC3E56}" sibTransId="{3EDED96B-4A45-4CAC-8D1E-08016BC1D6D4}"/>
    <dgm:cxn modelId="{20FE404C-7E5B-44A3-A9EF-640F94B7FBD4}" type="presOf" srcId="{D77534F9-CCD8-4CB4-A33D-03B31C255B10}" destId="{DD6EC0BD-FB74-4AE9-B791-0F609DE8C31A}" srcOrd="0" destOrd="0" presId="urn:microsoft.com/office/officeart/2005/8/layout/cycle2"/>
    <dgm:cxn modelId="{A5EF0E58-6FFB-4256-B8D0-029CF351A222}" type="presOf" srcId="{EDC78327-FCF6-492A-927A-EF73AF3B147D}" destId="{BB12EE72-75A1-4BB5-A54C-F670B47BA75F}" srcOrd="1" destOrd="0" presId="urn:microsoft.com/office/officeart/2005/8/layout/cycle2"/>
    <dgm:cxn modelId="{157EA67B-0E8F-4505-A152-EAA64F80A327}" srcId="{01FD2468-8B7A-4EC3-ACCF-30ADEDDDFE27}" destId="{4C8293BB-1FEF-4872-9E41-804CAD4C014D}" srcOrd="3" destOrd="0" parTransId="{3A6250BF-35AC-460E-AD89-287A4118B29D}" sibTransId="{09B3FFD8-329B-448E-B167-676685E566D2}"/>
    <dgm:cxn modelId="{4B779B89-4DAC-43C9-B366-BA9DBF25EB19}" type="presOf" srcId="{3EDED96B-4A45-4CAC-8D1E-08016BC1D6D4}" destId="{8E4D922C-DBB1-45DF-9A32-C8ED3107BFAB}" srcOrd="0" destOrd="0" presId="urn:microsoft.com/office/officeart/2005/8/layout/cycle2"/>
    <dgm:cxn modelId="{1858529A-7964-4D03-8ECD-46203A408054}" type="presOf" srcId="{F6263319-428F-4519-B38E-65D3BE103FA6}" destId="{CD206FDB-49D9-4849-9C80-50FBCBFA4E4C}" srcOrd="0" destOrd="0" presId="urn:microsoft.com/office/officeart/2005/8/layout/cycle2"/>
    <dgm:cxn modelId="{D0BFFD9B-8B20-4B71-83EF-0457E47379B7}" type="presOf" srcId="{09B3FFD8-329B-448E-B167-676685E566D2}" destId="{D98CB015-AA26-40AC-BE7C-CA7DA90D214F}" srcOrd="1" destOrd="0" presId="urn:microsoft.com/office/officeart/2005/8/layout/cycle2"/>
    <dgm:cxn modelId="{FCA33C9C-661B-4784-A93F-208016A6EEA2}" type="presOf" srcId="{A726CD98-D217-4C08-B542-27F2558BFEC4}" destId="{545BEFCF-7F99-4933-86A6-857EE136F892}" srcOrd="0" destOrd="0" presId="urn:microsoft.com/office/officeart/2005/8/layout/cycle2"/>
    <dgm:cxn modelId="{1EF0BCA5-7443-4C41-95B5-41B0895228E5}" type="presOf" srcId="{09B3FFD8-329B-448E-B167-676685E566D2}" destId="{F141085B-4D06-468A-A170-1B26497F6389}" srcOrd="0" destOrd="0" presId="urn:microsoft.com/office/officeart/2005/8/layout/cycle2"/>
    <dgm:cxn modelId="{59EAB6AA-C2B6-4C8A-B584-90DA6E09AA50}" type="presOf" srcId="{01FD2468-8B7A-4EC3-ACCF-30ADEDDDFE27}" destId="{33D26DF8-132D-46E5-B626-55F16BB68BCD}" srcOrd="0" destOrd="0" presId="urn:microsoft.com/office/officeart/2005/8/layout/cycle2"/>
    <dgm:cxn modelId="{4D8B18B1-4B60-44EA-8141-4420D1FBB386}" type="presOf" srcId="{EDC78327-FCF6-492A-927A-EF73AF3B147D}" destId="{96CE0E12-661B-472E-905F-BD0204711BA0}" srcOrd="0" destOrd="0" presId="urn:microsoft.com/office/officeart/2005/8/layout/cycle2"/>
    <dgm:cxn modelId="{4EBC6BBC-8CBE-4C64-B65B-07FF9C9F0BE7}" type="presOf" srcId="{F6263319-428F-4519-B38E-65D3BE103FA6}" destId="{DDE68BD2-BA4F-4FBC-B530-57FA29966760}" srcOrd="1" destOrd="0" presId="urn:microsoft.com/office/officeart/2005/8/layout/cycle2"/>
    <dgm:cxn modelId="{3DC423C6-FA2D-473D-A634-D0D681C90D78}" type="presOf" srcId="{39555D22-8438-426F-8085-98AB2136F665}" destId="{C0CA2D99-920C-4C17-8457-F5025BD13A58}" srcOrd="0" destOrd="0" presId="urn:microsoft.com/office/officeart/2005/8/layout/cycle2"/>
    <dgm:cxn modelId="{8C6917DC-A6BF-46B4-B77E-A63FC5B980A0}" srcId="{01FD2468-8B7A-4EC3-ACCF-30ADEDDDFE27}" destId="{D77534F9-CCD8-4CB4-A33D-03B31C255B10}" srcOrd="2" destOrd="0" parTransId="{1119F6F8-8CF1-4D3A-9E49-051D12F12383}" sibTransId="{EDC78327-FCF6-492A-927A-EF73AF3B147D}"/>
    <dgm:cxn modelId="{BE5ED6DF-E543-46FA-902E-DB18DACE71C8}" type="presOf" srcId="{3EDED96B-4A45-4CAC-8D1E-08016BC1D6D4}" destId="{6E16787C-33D7-4DD6-8116-A29623744B14}" srcOrd="1" destOrd="0" presId="urn:microsoft.com/office/officeart/2005/8/layout/cycle2"/>
    <dgm:cxn modelId="{33C35D7C-6B7A-4C2E-BA12-4D636851DC92}" type="presParOf" srcId="{33D26DF8-132D-46E5-B626-55F16BB68BCD}" destId="{545BEFCF-7F99-4933-86A6-857EE136F892}" srcOrd="0" destOrd="0" presId="urn:microsoft.com/office/officeart/2005/8/layout/cycle2"/>
    <dgm:cxn modelId="{0A7DDC09-FD72-462B-818E-4F917A0C24FD}" type="presParOf" srcId="{33D26DF8-132D-46E5-B626-55F16BB68BCD}" destId="{CD206FDB-49D9-4849-9C80-50FBCBFA4E4C}" srcOrd="1" destOrd="0" presId="urn:microsoft.com/office/officeart/2005/8/layout/cycle2"/>
    <dgm:cxn modelId="{3B029639-C282-4CB2-89A2-15A0903F5707}" type="presParOf" srcId="{CD206FDB-49D9-4849-9C80-50FBCBFA4E4C}" destId="{DDE68BD2-BA4F-4FBC-B530-57FA29966760}" srcOrd="0" destOrd="0" presId="urn:microsoft.com/office/officeart/2005/8/layout/cycle2"/>
    <dgm:cxn modelId="{99B7809D-6DD0-454B-B519-BE5978CE85E9}" type="presParOf" srcId="{33D26DF8-132D-46E5-B626-55F16BB68BCD}" destId="{C0CA2D99-920C-4C17-8457-F5025BD13A58}" srcOrd="2" destOrd="0" presId="urn:microsoft.com/office/officeart/2005/8/layout/cycle2"/>
    <dgm:cxn modelId="{A661D74D-DF65-4DA8-8DFB-836685A93BB6}" type="presParOf" srcId="{33D26DF8-132D-46E5-B626-55F16BB68BCD}" destId="{8E4D922C-DBB1-45DF-9A32-C8ED3107BFAB}" srcOrd="3" destOrd="0" presId="urn:microsoft.com/office/officeart/2005/8/layout/cycle2"/>
    <dgm:cxn modelId="{D51C2FB6-04A4-419C-BEB1-100F08E5B4A1}" type="presParOf" srcId="{8E4D922C-DBB1-45DF-9A32-C8ED3107BFAB}" destId="{6E16787C-33D7-4DD6-8116-A29623744B14}" srcOrd="0" destOrd="0" presId="urn:microsoft.com/office/officeart/2005/8/layout/cycle2"/>
    <dgm:cxn modelId="{7365D03B-D269-4942-8A1B-BCF78B487BA4}" type="presParOf" srcId="{33D26DF8-132D-46E5-B626-55F16BB68BCD}" destId="{DD6EC0BD-FB74-4AE9-B791-0F609DE8C31A}" srcOrd="4" destOrd="0" presId="urn:microsoft.com/office/officeart/2005/8/layout/cycle2"/>
    <dgm:cxn modelId="{630681D6-79E8-4D60-8575-9C2866297B30}" type="presParOf" srcId="{33D26DF8-132D-46E5-B626-55F16BB68BCD}" destId="{96CE0E12-661B-472E-905F-BD0204711BA0}" srcOrd="5" destOrd="0" presId="urn:microsoft.com/office/officeart/2005/8/layout/cycle2"/>
    <dgm:cxn modelId="{95DAA2B7-1BCC-482A-AEE5-AE5FE224269D}" type="presParOf" srcId="{96CE0E12-661B-472E-905F-BD0204711BA0}" destId="{BB12EE72-75A1-4BB5-A54C-F670B47BA75F}" srcOrd="0" destOrd="0" presId="urn:microsoft.com/office/officeart/2005/8/layout/cycle2"/>
    <dgm:cxn modelId="{573B4FAE-A76F-49A9-93F1-7E01B77C0A6A}" type="presParOf" srcId="{33D26DF8-132D-46E5-B626-55F16BB68BCD}" destId="{61761EAF-F001-4CC9-B073-786F9EE92C77}" srcOrd="6" destOrd="0" presId="urn:microsoft.com/office/officeart/2005/8/layout/cycle2"/>
    <dgm:cxn modelId="{D4912663-D4F3-49F2-800A-660EF83BCB8F}" type="presParOf" srcId="{33D26DF8-132D-46E5-B626-55F16BB68BCD}" destId="{F141085B-4D06-468A-A170-1B26497F6389}" srcOrd="7" destOrd="0" presId="urn:microsoft.com/office/officeart/2005/8/layout/cycle2"/>
    <dgm:cxn modelId="{A0CEB54A-E3CD-4E11-B591-CE4CFB5A49F4}" type="presParOf" srcId="{F141085B-4D06-468A-A170-1B26497F6389}" destId="{D98CB015-AA26-40AC-BE7C-CA7DA90D214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BEFCF-7F99-4933-86A6-857EE136F892}">
      <dsp:nvSpPr>
        <dsp:cNvPr id="0" name=""/>
        <dsp:cNvSpPr/>
      </dsp:nvSpPr>
      <dsp:spPr>
        <a:xfrm>
          <a:off x="985578" y="706"/>
          <a:ext cx="1307804" cy="546058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1" kern="1200" dirty="0">
              <a:solidFill>
                <a:schemeClr val="accent1"/>
              </a:solidFill>
            </a:rPr>
            <a:t>Input/</a:t>
          </a:r>
          <a:r>
            <a:rPr kumimoji="1" lang="ja-JP" altLang="en-US" sz="1000" b="1" kern="1200" dirty="0">
              <a:solidFill>
                <a:schemeClr val="accent1"/>
              </a:solidFill>
            </a:rPr>
            <a:t>仕様書</a:t>
          </a:r>
        </a:p>
      </dsp:txBody>
      <dsp:txXfrm>
        <a:off x="1177101" y="80674"/>
        <a:ext cx="924758" cy="386122"/>
      </dsp:txXfrm>
    </dsp:sp>
    <dsp:sp modelId="{CD206FDB-49D9-4849-9C80-50FBCBFA4E4C}">
      <dsp:nvSpPr>
        <dsp:cNvPr id="0" name=""/>
        <dsp:cNvSpPr/>
      </dsp:nvSpPr>
      <dsp:spPr>
        <a:xfrm rot="1604080">
          <a:off x="2099187" y="446800"/>
          <a:ext cx="133631" cy="184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2101330" y="474642"/>
        <a:ext cx="93542" cy="110576"/>
      </dsp:txXfrm>
    </dsp:sp>
    <dsp:sp modelId="{C0CA2D99-920C-4C17-8457-F5025BD13A58}">
      <dsp:nvSpPr>
        <dsp:cNvPr id="0" name=""/>
        <dsp:cNvSpPr/>
      </dsp:nvSpPr>
      <dsp:spPr>
        <a:xfrm>
          <a:off x="2102554" y="508765"/>
          <a:ext cx="1216585" cy="609248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1" kern="1200" dirty="0">
              <a:solidFill>
                <a:schemeClr val="accent1"/>
              </a:solidFill>
            </a:rPr>
            <a:t>プロンプト等</a:t>
          </a:r>
          <a:endParaRPr kumimoji="1" lang="en-US" altLang="ja-JP" sz="1000" b="1" kern="1200" dirty="0">
            <a:solidFill>
              <a:schemeClr val="accent1"/>
            </a:solidFill>
          </a:endParaRP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1" kern="1200" dirty="0">
              <a:solidFill>
                <a:schemeClr val="accent1"/>
              </a:solidFill>
            </a:rPr>
            <a:t>AI</a:t>
          </a:r>
          <a:r>
            <a:rPr kumimoji="1" lang="ja-JP" altLang="en-US" sz="1000" b="1" kern="1200" dirty="0">
              <a:solidFill>
                <a:schemeClr val="accent1"/>
              </a:solidFill>
            </a:rPr>
            <a:t>による生成</a:t>
          </a:r>
          <a:endParaRPr kumimoji="1" lang="en-US" altLang="ja-JP" sz="1000" b="1" kern="1200" dirty="0">
            <a:solidFill>
              <a:schemeClr val="accent1"/>
            </a:solidFill>
          </a:endParaRPr>
        </a:p>
      </dsp:txBody>
      <dsp:txXfrm>
        <a:off x="2280719" y="597987"/>
        <a:ext cx="860255" cy="430804"/>
      </dsp:txXfrm>
    </dsp:sp>
    <dsp:sp modelId="{8E4D922C-DBB1-45DF-9A32-C8ED3107BFAB}">
      <dsp:nvSpPr>
        <dsp:cNvPr id="0" name=""/>
        <dsp:cNvSpPr/>
      </dsp:nvSpPr>
      <dsp:spPr>
        <a:xfrm rot="8998469">
          <a:off x="2117224" y="1020656"/>
          <a:ext cx="151110" cy="184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 rot="10800000">
        <a:off x="2159515" y="1046173"/>
        <a:ext cx="105777" cy="110576"/>
      </dsp:txXfrm>
    </dsp:sp>
    <dsp:sp modelId="{DD6EC0BD-FB74-4AE9-B791-0F609DE8C31A}">
      <dsp:nvSpPr>
        <dsp:cNvPr id="0" name=""/>
        <dsp:cNvSpPr/>
      </dsp:nvSpPr>
      <dsp:spPr>
        <a:xfrm>
          <a:off x="651852" y="1159550"/>
          <a:ext cx="1975257" cy="546058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1" kern="1200" dirty="0">
              <a:solidFill>
                <a:schemeClr val="accent1"/>
              </a:solidFill>
            </a:rPr>
            <a:t>成果物</a:t>
          </a:r>
          <a:endParaRPr kumimoji="1" lang="en-US" altLang="ja-JP" sz="1000" b="1" kern="1200" dirty="0">
            <a:solidFill>
              <a:schemeClr val="accent1"/>
            </a:solidFill>
          </a:endParaRP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>
              <a:solidFill>
                <a:schemeClr val="accent1"/>
              </a:solidFill>
            </a:rPr>
            <a:t>(</a:t>
          </a:r>
          <a:r>
            <a:rPr kumimoji="1" lang="ja-JP" altLang="en-US" sz="1000" kern="1200" dirty="0">
              <a:solidFill>
                <a:schemeClr val="accent1"/>
              </a:solidFill>
            </a:rPr>
            <a:t>設計書・プログラム</a:t>
          </a:r>
          <a:r>
            <a:rPr kumimoji="1" lang="en-US" altLang="ja-JP" sz="1000" kern="1200" dirty="0">
              <a:solidFill>
                <a:schemeClr val="accent1"/>
              </a:solidFill>
            </a:rPr>
            <a:t>)</a:t>
          </a:r>
          <a:endParaRPr kumimoji="1" lang="ja-JP" altLang="en-US" sz="1000" kern="1200" dirty="0">
            <a:solidFill>
              <a:schemeClr val="accent1"/>
            </a:solidFill>
          </a:endParaRPr>
        </a:p>
      </dsp:txBody>
      <dsp:txXfrm>
        <a:off x="941122" y="1239518"/>
        <a:ext cx="1396717" cy="386122"/>
      </dsp:txXfrm>
    </dsp:sp>
    <dsp:sp modelId="{96CE0E12-661B-472E-905F-BD0204711BA0}">
      <dsp:nvSpPr>
        <dsp:cNvPr id="0" name=""/>
        <dsp:cNvSpPr/>
      </dsp:nvSpPr>
      <dsp:spPr>
        <a:xfrm rot="12849443">
          <a:off x="1025227" y="988847"/>
          <a:ext cx="192169" cy="184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 rot="10800000">
        <a:off x="1075746" y="1041227"/>
        <a:ext cx="136881" cy="110576"/>
      </dsp:txXfrm>
    </dsp:sp>
    <dsp:sp modelId="{61761EAF-F001-4CC9-B073-786F9EE92C77}">
      <dsp:nvSpPr>
        <dsp:cNvPr id="0" name=""/>
        <dsp:cNvSpPr/>
      </dsp:nvSpPr>
      <dsp:spPr>
        <a:xfrm>
          <a:off x="307339" y="615006"/>
          <a:ext cx="839144" cy="396766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b="1" kern="1200" dirty="0">
              <a:solidFill>
                <a:schemeClr val="accent1"/>
              </a:solidFill>
            </a:rPr>
            <a:t>改善</a:t>
          </a:r>
        </a:p>
      </dsp:txBody>
      <dsp:txXfrm>
        <a:off x="430229" y="673111"/>
        <a:ext cx="593364" cy="280556"/>
      </dsp:txXfrm>
    </dsp:sp>
    <dsp:sp modelId="{F141085B-4D06-468A-A170-1B26497F6389}">
      <dsp:nvSpPr>
        <dsp:cNvPr id="0" name=""/>
        <dsp:cNvSpPr/>
      </dsp:nvSpPr>
      <dsp:spPr>
        <a:xfrm rot="19764106">
          <a:off x="1037354" y="487886"/>
          <a:ext cx="168337" cy="1842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1040870" y="537598"/>
        <a:ext cx="117836" cy="1105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1BFD0-8016-4F04-8852-BB276A14E796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41950" cy="3911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3451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2863" y="943451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6EF69-17ED-4F97-9530-905CEB905C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54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6EF69-17ED-4F97-9530-905CEB905CB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493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6EF69-17ED-4F97-9530-905CEB905CB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059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00025" indent="-200025">
              <a:lnSpc>
                <a:spcPts val="2000"/>
              </a:lnSpc>
              <a:buClr>
                <a:srgbClr val="0ABAB5"/>
              </a:buClr>
              <a:buFont typeface="Arial"/>
              <a:buChar char="●"/>
            </a:pPr>
            <a:r>
              <a:rPr lang="ja-JP" altLang="ja-JP" sz="1200" dirty="0">
                <a:solidFill>
                  <a:srgbClr val="1A2332"/>
                </a:solidFill>
              </a:rPr>
              <a:t>ウォーターフォールを完全に捨てるのではなく、</a:t>
            </a:r>
            <a:r>
              <a:rPr lang="ja-JP" altLang="ja-JP" sz="1200" b="1" dirty="0">
                <a:solidFill>
                  <a:srgbClr val="008B85"/>
                </a:solidFill>
              </a:rPr>
              <a:t>工程ごとの検収(レビューゲート)は維持</a:t>
            </a:r>
            <a:r>
              <a:rPr lang="ja-JP" altLang="ja-JP" sz="1200" dirty="0">
                <a:solidFill>
                  <a:srgbClr val="1A2332"/>
                </a:solidFill>
              </a:rPr>
              <a:t>しつつ</a:t>
            </a:r>
            <a:r>
              <a:rPr lang="ja-JP" altLang="ja-JP" sz="1200" b="1" dirty="0">
                <a:solidFill>
                  <a:srgbClr val="008B85"/>
                </a:solidFill>
              </a:rPr>
              <a:t>一気通貫化</a:t>
            </a:r>
            <a:r>
              <a:rPr lang="ja-JP" altLang="ja-JP" sz="1200" dirty="0">
                <a:solidFill>
                  <a:srgbClr val="1A2332"/>
                </a:solidFill>
              </a:rPr>
              <a:t>する。</a:t>
            </a:r>
          </a:p>
          <a:p>
            <a:pPr marL="200025" indent="-200025">
              <a:lnSpc>
                <a:spcPts val="2000"/>
              </a:lnSpc>
              <a:spcBef>
                <a:spcPts val="3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ja-JP" sz="1200" b="1" dirty="0">
                <a:solidFill>
                  <a:srgbClr val="008B85"/>
                </a:solidFill>
              </a:rPr>
              <a:t>変わる点：</a:t>
            </a:r>
            <a:r>
              <a:rPr lang="ja-JP" altLang="ja-JP" sz="1200" dirty="0">
                <a:solidFill>
                  <a:srgbClr val="1A2332"/>
                </a:solidFill>
              </a:rPr>
              <a:t>従来の「担当者が正しく作ったか」チェックから、「AI生成物が意図と整合しているか」「AI生成物として技術的に妥当か」の</a:t>
            </a:r>
            <a:r>
              <a:rPr lang="ja-JP" altLang="ja-JP" sz="1200" b="1" dirty="0">
                <a:solidFill>
                  <a:srgbClr val="008B85"/>
                </a:solidFill>
              </a:rPr>
              <a:t>二重チェック</a:t>
            </a:r>
            <a:r>
              <a:rPr lang="ja-JP" altLang="ja-JP" sz="1200" dirty="0">
                <a:solidFill>
                  <a:srgbClr val="1A2332"/>
                </a:solidFill>
              </a:rPr>
              <a:t>へ。</a:t>
            </a:r>
          </a:p>
          <a:p>
            <a:pPr marL="200025" indent="-200025">
              <a:lnSpc>
                <a:spcPts val="2000"/>
              </a:lnSpc>
              <a:spcBef>
                <a:spcPts val="3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ja-JP" sz="1200" dirty="0">
                <a:solidFill>
                  <a:srgbClr val="1A2332"/>
                </a:solidFill>
              </a:rPr>
              <a:t>担当者はビジネス要件・システム要件・技術的実現性（そもそもその機能が実現可能か）・周辺機能との関連性まで、</a:t>
            </a:r>
            <a:r>
              <a:rPr lang="ja-JP" altLang="ja-JP" sz="1200" b="1" dirty="0">
                <a:solidFill>
                  <a:srgbClr val="008B85"/>
                </a:solidFill>
              </a:rPr>
              <a:t>横断的に理解</a:t>
            </a:r>
            <a:r>
              <a:rPr lang="ja-JP" altLang="ja-JP" sz="1200" dirty="0">
                <a:solidFill>
                  <a:srgbClr val="1A2332"/>
                </a:solidFill>
              </a:rPr>
              <a:t>している必要がある。従来の分業前提の育成モデルではない、</a:t>
            </a:r>
            <a:r>
              <a:rPr lang="ja-JP" altLang="ja-JP" sz="1200" b="1" dirty="0">
                <a:solidFill>
                  <a:srgbClr val="008B85"/>
                </a:solidFill>
              </a:rPr>
              <a:t>高い要求レベルの1MM基準</a:t>
            </a:r>
            <a:r>
              <a:rPr lang="ja-JP" altLang="ja-JP" sz="1200" dirty="0">
                <a:solidFill>
                  <a:srgbClr val="1A2332"/>
                </a:solidFill>
              </a:rPr>
              <a:t>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6EF69-17ED-4F97-9530-905CEB905CB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36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00025" indent="-200025">
              <a:lnSpc>
                <a:spcPts val="2600"/>
              </a:lnSpc>
              <a:spcBef>
                <a:spcPts val="2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200" dirty="0">
                <a:solidFill>
                  <a:srgbClr val="1A2332"/>
                </a:solidFill>
              </a:rPr>
              <a:t>メンバー数は減少し</a:t>
            </a:r>
            <a:r>
              <a:rPr lang="ja-JP" altLang="en-US" sz="1200" b="1" dirty="0">
                <a:solidFill>
                  <a:srgbClr val="008B85"/>
                </a:solidFill>
              </a:rPr>
              <a:t>多くのメンバーをマネージメントを発揮する機会は減少</a:t>
            </a:r>
            <a:r>
              <a:rPr lang="ja-JP" altLang="en-US" sz="1200" dirty="0">
                <a:solidFill>
                  <a:srgbClr val="1A2332"/>
                </a:solidFill>
              </a:rPr>
              <a:t>(マネージメント自体は必要)</a:t>
            </a:r>
          </a:p>
          <a:p>
            <a:pPr marL="200025" indent="-200025">
              <a:lnSpc>
                <a:spcPts val="2600"/>
              </a:lnSpc>
              <a:spcBef>
                <a:spcPts val="2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200" dirty="0">
                <a:solidFill>
                  <a:srgbClr val="1A2332"/>
                </a:solidFill>
              </a:rPr>
              <a:t>顧客と要件を詰めていく、システム化していくスキルは</a:t>
            </a:r>
            <a:r>
              <a:rPr lang="ja-JP" altLang="en-US" sz="1200" b="1" dirty="0">
                <a:solidFill>
                  <a:srgbClr val="008B85"/>
                </a:solidFill>
              </a:rPr>
              <a:t>継続的に必要</a:t>
            </a:r>
            <a:r>
              <a:rPr lang="ja-JP" altLang="en-US" sz="1200" dirty="0">
                <a:solidFill>
                  <a:srgbClr val="1A2332"/>
                </a:solidFill>
              </a:rPr>
              <a:t>。他TM調整も必要で大切なスキル。</a:t>
            </a:r>
          </a:p>
          <a:p>
            <a:pPr marL="200025" indent="-200025">
              <a:lnSpc>
                <a:spcPts val="2600"/>
              </a:lnSpc>
              <a:spcBef>
                <a:spcPts val="2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200" dirty="0">
                <a:solidFill>
                  <a:srgbClr val="1A2332"/>
                </a:solidFill>
              </a:rPr>
              <a:t>業務・システム開発の基本を上流～下流まで売れる(業界標準)スキルを持っている事は</a:t>
            </a:r>
            <a:r>
              <a:rPr lang="ja-JP" altLang="en-US" sz="1200" b="1" dirty="0">
                <a:solidFill>
                  <a:srgbClr val="008B85"/>
                </a:solidFill>
              </a:rPr>
              <a:t>前提</a:t>
            </a:r>
          </a:p>
          <a:p>
            <a:pPr marL="200025" indent="-200025">
              <a:lnSpc>
                <a:spcPts val="2600"/>
              </a:lnSpc>
              <a:spcBef>
                <a:spcPts val="2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200" dirty="0">
                <a:solidFill>
                  <a:srgbClr val="1A2332"/>
                </a:solidFill>
              </a:rPr>
              <a:t>AI活用に上記のノウハウを反映できるか？受領してる計画・スキル・テンプレの</a:t>
            </a:r>
            <a:r>
              <a:rPr lang="ja-JP" altLang="en-US" sz="1200" b="1" dirty="0">
                <a:solidFill>
                  <a:srgbClr val="008B85"/>
                </a:solidFill>
              </a:rPr>
              <a:t>問題点の発掘・訂正案提示に価値</a:t>
            </a:r>
          </a:p>
          <a:p>
            <a:pPr marL="200025" indent="-200025">
              <a:lnSpc>
                <a:spcPts val="2600"/>
              </a:lnSpc>
              <a:spcBef>
                <a:spcPts val="2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200" dirty="0">
                <a:solidFill>
                  <a:srgbClr val="1A2332"/>
                </a:solidFill>
              </a:rPr>
              <a:t>ユーザーもAIを活用して指摘を上げてくる。(</a:t>
            </a:r>
            <a:r>
              <a:rPr lang="ja-JP" altLang="en-US" sz="1200" b="1" dirty="0">
                <a:solidFill>
                  <a:srgbClr val="008B85"/>
                </a:solidFill>
              </a:rPr>
              <a:t>先回りした観点洗い出し・チェックルール構築に価値</a:t>
            </a:r>
            <a:r>
              <a:rPr lang="ja-JP" altLang="en-US" sz="1200" dirty="0">
                <a:solidFill>
                  <a:srgbClr val="1A2332"/>
                </a:solidFill>
              </a:rPr>
              <a:t>)</a:t>
            </a:r>
          </a:p>
          <a:p>
            <a:pPr marL="200025" indent="-200025">
              <a:lnSpc>
                <a:spcPts val="2600"/>
              </a:lnSpc>
              <a:spcBef>
                <a:spcPts val="2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200" dirty="0">
                <a:solidFill>
                  <a:srgbClr val="1A2332"/>
                </a:solidFill>
              </a:rPr>
              <a:t>期間が短いため進行中の局面に対しての</a:t>
            </a:r>
            <a:r>
              <a:rPr lang="ja-JP" altLang="en-US" sz="1200" b="1" dirty="0">
                <a:solidFill>
                  <a:srgbClr val="008B85"/>
                </a:solidFill>
              </a:rPr>
              <a:t>問題検知・問題解消の動きが早く出来るか？に価値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6EF69-17ED-4F97-9530-905CEB905CB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920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F5F7-0619-926F-07C1-92A0547E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F2D7A5D-6C66-C267-7BE7-9F80ED799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F8FC36-2F24-054E-BD9A-BB2E0C19C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DE9828-79E4-B100-708D-5B321385C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6EF69-17ED-4F97-9530-905CEB905CB1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2141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90CE0-A592-F363-A8D0-50121AA8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C87C964-998A-6EDF-6D1C-00F20C6A5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343E5F-DDB1-A022-D996-ABD9AAA19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95BAD7-2A2F-65C9-840A-8494F12CE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6EF69-17ED-4F97-9530-905CEB905CB1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76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3C7922-CE5B-9C1F-DD90-6E4566910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40D7D6C-EE7B-2DF7-C313-72D72832D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22E858-49F7-F17F-D411-2623976D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EB71CB-0B21-D6D3-83D0-3157E25B6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70CD85-39BC-8E0F-8DEE-D94233DB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899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F0B7-51B4-1186-F752-B004CF73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3C9DAB-AF28-FEA6-69A8-05CAD5F03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CD7FFE-63C7-193B-1B6B-24852212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10823-A09E-C2D0-2E66-34728B8B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8F03E3-DE15-7AE7-E5EE-108DA132C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62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38B28E-C1B0-BF81-9487-2BE3FA3E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9BBFC0-8571-B52D-AD10-6EB279FDF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24C153-5B7C-40DA-0C69-CB27CED0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6461C7-86D9-F4A0-0C4C-D92DAFF3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2F5D44-5803-5E1C-A91C-D5C8CD2A0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1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1E0E23-8B7C-7C59-AC2C-744B509B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FF897C-E515-9429-880E-AFC1D2ED2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55E4D2-3117-C0AF-123C-5AF02D1A5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57E3CF-5D10-AEF4-E1EB-7EF45749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0905C8-657F-A4D6-DAE3-8F454F21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FC601A-9462-21BC-9BA6-AF0A9C437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010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137E6-0FA7-DA43-EC20-937F83A1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10F860-B84D-A42D-96DF-82EE6E5FE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5DC766-E67A-32BD-EE13-F34F7ADD9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813E28-9324-CFC6-3A8E-1AF445876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DCB289D-4740-06BB-E065-E6355DE0C5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AE7FCE1-9D01-D4C4-52CD-E0C792D6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83BDD22-3912-6771-67BD-40F1E20D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BF1684-5462-FC3A-223E-8518A50E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667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2DEF25-4DC3-6ED0-BAE7-A95863F6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7B7D130-BBB1-61E0-81BE-B4BB6ED8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6711EC-2D4B-6218-081D-7C6013E0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98895E-CDCC-4681-1BD5-4A1B4387D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705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1F51033-8EB6-54DB-EB70-E0C20FFA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EDC4A7E-1F82-120D-3B4B-A0FA56B9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39DA8D-3F5A-0936-EBBE-85FDF0BD1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25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D48AD-7E2B-A8AD-A11F-6CB81769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F2C97C-97A3-9417-F9D9-00D0F2FA3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957C1E-5A23-74E7-9875-EC7443E7B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57BAE2-1665-D579-8DD6-A487EF2F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C75A91-6B98-2A75-EC74-172A2988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97AD09-1123-BF44-1746-8ABC16A0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701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B657E7-39FA-4BE8-A715-B54FCFF2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5F21B16-5D36-A931-BD2D-E67F4B6DB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F0EBC5-E972-8FAF-AD8B-DEBC5697D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F77FBA-D38A-2BB0-2AE1-4C70A1A1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7BA242-334D-4697-5088-08CFBD75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36B9F5-6911-6351-3030-8BB67EA6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09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E12DD-9C5E-9B81-F171-0F25F023B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4D8FDC-D0E4-552F-3BDA-9B3F272C1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2098D7-756E-9F2D-D99E-D532A35E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8D1B6B-8F85-4906-D200-93D10318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291F12-6978-BF2F-5E54-FFDBDDFB4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05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9BB786-F321-2F7C-04C1-34CDC7575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B67001-AA9F-E251-D155-2B72242FE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AF9D25-54AB-80AE-C1C2-9B4113CA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626EE7-4B0A-A396-EC9B-1343ECD1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8EA7F8-A040-B2D9-F768-CCE833B6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39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E6C683-DA26-580A-8E26-EE3057E7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DC3CE3-885A-F6DB-9A0F-1ABE3B85A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ACEE21-226D-C38E-046D-4B654E587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E647C-4CF4-4B82-A424-80A5C30CFD4B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B8995E-215F-4FF7-F9B0-8E1085F21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054170-6477-163F-83D6-796B52D9F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03381-07A1-430D-8CAC-881B25EB7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1" name="LeftBarDecor"/>
          <p:cNvSpPr>
            <a:spLocks noGrp="1"/>
          </p:cNvSpPr>
          <p:nvPr/>
        </p:nvSpPr>
        <p:spPr>
          <a:xfrm>
            <a:off x="0" y="0"/>
            <a:ext cx="18000" cy="495300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opRightAccent"/>
          <p:cNvSpPr>
            <a:spLocks noGrp="1"/>
          </p:cNvSpPr>
          <p:nvPr/>
        </p:nvSpPr>
        <p:spPr>
          <a:xfrm>
            <a:off x="8544000" y="0"/>
            <a:ext cx="600000" cy="2000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768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A2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1A233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_Left"/>
          <p:cNvSpPr>
            <a:spLocks noGrp="1"/>
          </p:cNvSpPr>
          <p:nvPr/>
        </p:nvSpPr>
        <p:spPr>
          <a:xfrm>
            <a:off x="0" y="0"/>
            <a:ext cx="3200000" cy="6858000"/>
          </a:xfrm>
          <a:prstGeom prst="rect">
            <a:avLst/>
          </a:prstGeom>
          <a:gradFill>
            <a:gsLst>
              <a:gs pos="0">
                <a:srgbClr val="0ABAB5"/>
              </a:gs>
              <a:gs pos="100000">
                <a:srgbClr val="007A76"/>
              </a:gs>
            </a:gsLst>
            <a:lin ang="90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Stripe"/>
          <p:cNvSpPr>
            <a:spLocks noGrp="1"/>
          </p:cNvSpPr>
          <p:nvPr/>
        </p:nvSpPr>
        <p:spPr>
          <a:xfrm>
            <a:off x="3200000" y="0"/>
            <a:ext cx="38000" cy="68580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ottomBar"/>
          <p:cNvSpPr>
            <a:spLocks noGrp="1"/>
          </p:cNvSpPr>
          <p:nvPr/>
        </p:nvSpPr>
        <p:spPr>
          <a:xfrm>
            <a:off x="0" y="4953600"/>
            <a:ext cx="9144000" cy="6000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Circle1"/>
          <p:cNvSpPr>
            <a:spLocks noGrp="1"/>
          </p:cNvSpPr>
          <p:nvPr/>
        </p:nvSpPr>
        <p:spPr>
          <a:xfrm>
            <a:off x="200000" y="2500000"/>
            <a:ext cx="900000" cy="90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ircle2"/>
          <p:cNvSpPr>
            <a:spLocks noGrp="1"/>
          </p:cNvSpPr>
          <p:nvPr/>
        </p:nvSpPr>
        <p:spPr>
          <a:xfrm>
            <a:off x="600000" y="2800000"/>
            <a:ext cx="500000" cy="50000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MainTitle"/>
          <p:cNvSpPr/>
          <p:nvPr/>
        </p:nvSpPr>
        <p:spPr>
          <a:xfrm>
            <a:off x="3331419" y="2258400"/>
            <a:ext cx="6763195" cy="131896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lnSpc>
                <a:spcPct val="110000"/>
              </a:lnSpc>
              <a:buNone/>
            </a:pPr>
            <a:r>
              <a:rPr lang="ja-JP" sz="2000" b="1" dirty="0">
                <a:solidFill>
                  <a:schemeClr val="accent1"/>
                </a:solidFill>
                <a:latin typeface="Meiryo UI"/>
              </a:rPr>
              <a:t>次世代型の開発モデル（AI活用型）における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ja-JP" sz="4000" b="1" dirty="0">
                <a:solidFill>
                  <a:schemeClr val="accent2"/>
                </a:solidFill>
                <a:latin typeface="Meiryo UI"/>
              </a:rPr>
              <a:t>PJ</a:t>
            </a:r>
            <a:r>
              <a:rPr lang="ja-JP" altLang="en-US" sz="4000" b="1" dirty="0">
                <a:solidFill>
                  <a:schemeClr val="accent2"/>
                </a:solidFill>
                <a:latin typeface="Meiryo UI"/>
              </a:rPr>
              <a:t>の変化</a:t>
            </a:r>
            <a:r>
              <a:rPr lang="ja-JP" altLang="en-US" sz="4000" b="1" dirty="0">
                <a:solidFill>
                  <a:schemeClr val="accent2"/>
                </a:solidFill>
              </a:rPr>
              <a:t>・</a:t>
            </a:r>
            <a:r>
              <a:rPr lang="ja-JP" altLang="ja-JP" sz="4000" b="1" dirty="0">
                <a:solidFill>
                  <a:schemeClr val="accent2"/>
                </a:solidFill>
              </a:rPr>
              <a:t>必要スキル</a:t>
            </a:r>
            <a:endParaRPr lang="ja-JP" sz="4000" b="1" dirty="0">
              <a:solidFill>
                <a:schemeClr val="accent2"/>
              </a:solidFill>
              <a:latin typeface="Meiryo UI"/>
            </a:endParaRPr>
          </a:p>
        </p:txBody>
      </p:sp>
      <p:sp>
        <p:nvSpPr>
          <p:cNvPr id="17" name="AgendaTitle"/>
          <p:cNvSpPr/>
          <p:nvPr/>
        </p:nvSpPr>
        <p:spPr>
          <a:xfrm>
            <a:off x="3400000" y="304800"/>
            <a:ext cx="55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buNone/>
            </a:pPr>
            <a:r>
              <a:rPr lang="ja-JP" altLang="en-US" sz="1400" b="1" dirty="0">
                <a:solidFill>
                  <a:srgbClr val="0ABAB5"/>
                </a:solidFill>
                <a:latin typeface="Meiryo UI"/>
              </a:rPr>
              <a:t>研修バージョン</a:t>
            </a:r>
            <a:endParaRPr lang="ja-JP" sz="1400" b="1" dirty="0">
              <a:solidFill>
                <a:srgbClr val="0ABAB5"/>
              </a:solidFill>
              <a:latin typeface="Meiryo UI"/>
            </a:endParaRPr>
          </a:p>
        </p:txBody>
      </p:sp>
      <p:sp>
        <p:nvSpPr>
          <p:cNvPr id="18" name="DivLine"/>
          <p:cNvSpPr/>
          <p:nvPr/>
        </p:nvSpPr>
        <p:spPr>
          <a:xfrm>
            <a:off x="3400000" y="720000"/>
            <a:ext cx="5500000" cy="1905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SpeakerInfo"/>
          <p:cNvSpPr/>
          <p:nvPr/>
        </p:nvSpPr>
        <p:spPr>
          <a:xfrm>
            <a:off x="10335362" y="5588000"/>
            <a:ext cx="1573639" cy="90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>
              <a:buNone/>
            </a:pPr>
            <a:r>
              <a:rPr lang="ja-JP" sz="1000" dirty="0">
                <a:solidFill>
                  <a:schemeClr val="accent2"/>
                </a:solidFill>
                <a:latin typeface="Meiryo UI"/>
              </a:rPr>
              <a:t>発表者</a:t>
            </a:r>
          </a:p>
          <a:p>
            <a:pPr>
              <a:buNone/>
            </a:pPr>
            <a:r>
              <a:rPr lang="en-US" altLang="ja-JP" sz="1200" dirty="0">
                <a:solidFill>
                  <a:schemeClr val="accent2"/>
                </a:solidFill>
                <a:latin typeface="Meiryo UI"/>
              </a:rPr>
              <a:t>SA </a:t>
            </a:r>
            <a:r>
              <a:rPr lang="ja-JP" altLang="en-US" sz="2000" b="1" dirty="0">
                <a:solidFill>
                  <a:schemeClr val="accent2"/>
                </a:solidFill>
                <a:latin typeface="Meiryo UI"/>
              </a:rPr>
              <a:t>初見昌宏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817000-6114-18E3-9833-1A3E53B32908}"/>
              </a:ext>
            </a:extLst>
          </p:cNvPr>
          <p:cNvSpPr txBox="1"/>
          <p:nvPr/>
        </p:nvSpPr>
        <p:spPr>
          <a:xfrm>
            <a:off x="3208489" y="3577367"/>
            <a:ext cx="5775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ja-JP" altLang="ja-JP" sz="1400" dirty="0">
                <a:solidFill>
                  <a:schemeClr val="bg1">
                    <a:lumMod val="50000"/>
                  </a:schemeClr>
                </a:solidFill>
                <a:latin typeface="Meiryo UI"/>
              </a:rPr>
              <a:t>― 現状を踏まえた3年後の展望 ―</a:t>
            </a:r>
          </a:p>
        </p:txBody>
      </p:sp>
      <p:sp>
        <p:nvSpPr>
          <p:cNvPr id="3" name="PageNum">
            <a:extLst>
              <a:ext uri="{FF2B5EF4-FFF2-40B4-BE49-F238E27FC236}">
                <a16:creationId xmlns:a16="http://schemas.microsoft.com/office/drawing/2014/main" id="{69C7BF7C-019D-43DD-9610-5E44361C6D99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r">
              <a:buNone/>
            </a:pPr>
            <a:fld id="{C2978BB9-12EA-C654-F332-09912E1723EC}" type="slidenum">
              <a:rPr lang="ja-JP" altLang="en-US" sz="1100" dirty="0">
                <a:solidFill>
                  <a:srgbClr val="78909C"/>
                </a:solidFill>
              </a:rPr>
              <a:t>1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  <a:endParaRPr lang="ja-JP" altLang="en-US" sz="1100" dirty="0">
              <a:solidFill>
                <a:srgbClr val="7890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93FA-A7AC-FA80-61DD-0865E892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">
            <a:extLst>
              <a:ext uri="{FF2B5EF4-FFF2-40B4-BE49-F238E27FC236}">
                <a16:creationId xmlns:a16="http://schemas.microsoft.com/office/drawing/2014/main" id="{59A47013-362D-F32A-C112-B1D63E010CC9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ja-JP" sz="1400" b="1" dirty="0">
                <a:solidFill>
                  <a:schemeClr val="bg1"/>
                </a:solidFill>
                <a:latin typeface="Meiryo UI"/>
              </a:rPr>
              <a:t>0</a:t>
            </a:r>
            <a:r>
              <a:rPr lang="en-US" altLang="ja-JP" sz="1400" b="1" dirty="0">
                <a:solidFill>
                  <a:schemeClr val="bg1"/>
                </a:solidFill>
                <a:latin typeface="Meiryo UI"/>
              </a:rPr>
              <a:t>1. </a:t>
            </a:r>
            <a:r>
              <a:rPr lang="ja-JP" altLang="en-US" sz="1400" b="1" dirty="0">
                <a:solidFill>
                  <a:schemeClr val="bg1"/>
                </a:solidFill>
              </a:rPr>
              <a:t>現状各案件で進めてる開発プロセス変革</a:t>
            </a:r>
            <a:endParaRPr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AEB0AD1-65EE-CD10-8A73-3A07AFBB23AF}"/>
              </a:ext>
            </a:extLst>
          </p:cNvPr>
          <p:cNvSpPr/>
          <p:nvPr/>
        </p:nvSpPr>
        <p:spPr>
          <a:xfrm>
            <a:off x="228600" y="369685"/>
            <a:ext cx="117348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ja-JP" altLang="en-US" sz="2400" b="1" dirty="0">
                <a:solidFill>
                  <a:schemeClr val="tx2"/>
                </a:solidFill>
                <a:latin typeface="Meiryo UI"/>
              </a:rPr>
              <a:t>先行してる案件の</a:t>
            </a:r>
            <a:r>
              <a:rPr lang="en-US" altLang="ja-JP" sz="2400" b="1" dirty="0">
                <a:solidFill>
                  <a:schemeClr val="tx2"/>
                </a:solidFill>
                <a:latin typeface="Meiryo UI"/>
              </a:rPr>
              <a:t>AI</a:t>
            </a:r>
            <a:r>
              <a:rPr lang="ja-JP" altLang="en-US" sz="2400" b="1" dirty="0">
                <a:solidFill>
                  <a:schemeClr val="tx2"/>
                </a:solidFill>
                <a:latin typeface="Meiryo UI"/>
              </a:rPr>
              <a:t>適用の手法</a:t>
            </a:r>
          </a:p>
        </p:txBody>
      </p:sp>
      <p:sp>
        <p:nvSpPr>
          <p:cNvPr id="7" name="Sep">
            <a:extLst>
              <a:ext uri="{FF2B5EF4-FFF2-40B4-BE49-F238E27FC236}">
                <a16:creationId xmlns:a16="http://schemas.microsoft.com/office/drawing/2014/main" id="{441D1E52-0307-EE58-E7C0-33A288305F73}"/>
              </a:ext>
            </a:extLst>
          </p:cNvPr>
          <p:cNvSpPr/>
          <p:nvPr/>
        </p:nvSpPr>
        <p:spPr>
          <a:xfrm>
            <a:off x="228600" y="876300"/>
            <a:ext cx="11734800" cy="2540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8" name="LeftBG">
            <a:extLst>
              <a:ext uri="{FF2B5EF4-FFF2-40B4-BE49-F238E27FC236}">
                <a16:creationId xmlns:a16="http://schemas.microsoft.com/office/drawing/2014/main" id="{AB6D26BF-8A2D-E170-502B-3B2600C49F77}"/>
              </a:ext>
            </a:extLst>
          </p:cNvPr>
          <p:cNvSpPr/>
          <p:nvPr/>
        </p:nvSpPr>
        <p:spPr>
          <a:xfrm>
            <a:off x="228600" y="1094966"/>
            <a:ext cx="5715000" cy="3810000"/>
          </a:xfrm>
          <a:prstGeom prst="rect">
            <a:avLst/>
          </a:prstGeom>
          <a:solidFill>
            <a:srgbClr val="F0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LeftTopBar">
            <a:extLst>
              <a:ext uri="{FF2B5EF4-FFF2-40B4-BE49-F238E27FC236}">
                <a16:creationId xmlns:a16="http://schemas.microsoft.com/office/drawing/2014/main" id="{A88399C7-3692-A399-52A1-E6251CCACF43}"/>
              </a:ext>
            </a:extLst>
          </p:cNvPr>
          <p:cNvSpPr/>
          <p:nvPr/>
        </p:nvSpPr>
        <p:spPr>
          <a:xfrm>
            <a:off x="228600" y="1094966"/>
            <a:ext cx="5715000" cy="76200"/>
          </a:xfrm>
          <a:prstGeom prst="rect">
            <a:avLst/>
          </a:prstGeom>
          <a:solidFill>
            <a:srgbClr val="0ABA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LeftNumBadge">
            <a:extLst>
              <a:ext uri="{FF2B5EF4-FFF2-40B4-BE49-F238E27FC236}">
                <a16:creationId xmlns:a16="http://schemas.microsoft.com/office/drawing/2014/main" id="{2981A521-1307-D438-E078-EDD7047EE829}"/>
              </a:ext>
            </a:extLst>
          </p:cNvPr>
          <p:cNvSpPr/>
          <p:nvPr/>
        </p:nvSpPr>
        <p:spPr>
          <a:xfrm>
            <a:off x="355600" y="1247366"/>
            <a:ext cx="952500" cy="40432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LeftNumText">
            <a:extLst>
              <a:ext uri="{FF2B5EF4-FFF2-40B4-BE49-F238E27FC236}">
                <a16:creationId xmlns:a16="http://schemas.microsoft.com/office/drawing/2014/main" id="{40DF521A-5160-A4E8-7F6F-9BE56F51B4B4}"/>
              </a:ext>
            </a:extLst>
          </p:cNvPr>
          <p:cNvSpPr txBox="1"/>
          <p:nvPr/>
        </p:nvSpPr>
        <p:spPr>
          <a:xfrm>
            <a:off x="344001" y="1297776"/>
            <a:ext cx="1826598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NRI</a:t>
            </a:r>
            <a:endParaRPr lang="ja-JP" altLang="en-US" sz="2800" b="1" dirty="0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12" name="LeftTitle">
            <a:extLst>
              <a:ext uri="{FF2B5EF4-FFF2-40B4-BE49-F238E27FC236}">
                <a16:creationId xmlns:a16="http://schemas.microsoft.com/office/drawing/2014/main" id="{D415CE31-BB87-D769-21CE-43496FB7F933}"/>
              </a:ext>
            </a:extLst>
          </p:cNvPr>
          <p:cNvSpPr txBox="1"/>
          <p:nvPr/>
        </p:nvSpPr>
        <p:spPr>
          <a:xfrm>
            <a:off x="304800" y="1830320"/>
            <a:ext cx="546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1600" b="1" dirty="0">
                <a:solidFill>
                  <a:schemeClr val="accent2"/>
                </a:solidFill>
                <a:latin typeface="Meiryo UI"/>
              </a:rPr>
              <a:t>ボトムアップ型</a:t>
            </a:r>
            <a:r>
              <a:rPr lang="ja-JP" sz="1300" b="0" dirty="0">
                <a:solidFill>
                  <a:srgbClr val="78909C"/>
                </a:solidFill>
                <a:latin typeface="Meiryo UI"/>
              </a:rPr>
              <a:t>  </a:t>
            </a:r>
            <a:r>
              <a:rPr lang="ja-JP" altLang="en-US" sz="1300" dirty="0">
                <a:solidFill>
                  <a:srgbClr val="78909C"/>
                </a:solidFill>
                <a:latin typeface="Meiryo UI"/>
              </a:rPr>
              <a:t> </a:t>
            </a:r>
            <a:r>
              <a:rPr lang="ja-JP" altLang="en-US" sz="1300" b="0" dirty="0">
                <a:solidFill>
                  <a:schemeClr val="tx2"/>
                </a:solidFill>
                <a:latin typeface="Meiryo UI"/>
              </a:rPr>
              <a:t>効果が高い所から段階的に拡大</a:t>
            </a:r>
            <a:endParaRPr lang="ja-JP" sz="1300" b="0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24" name="BarLabel2">
            <a:extLst>
              <a:ext uri="{FF2B5EF4-FFF2-40B4-BE49-F238E27FC236}">
                <a16:creationId xmlns:a16="http://schemas.microsoft.com/office/drawing/2014/main" id="{AA1861A4-CD2B-44EF-C1AE-5AC49E673F3F}"/>
              </a:ext>
            </a:extLst>
          </p:cNvPr>
          <p:cNvSpPr txBox="1"/>
          <p:nvPr/>
        </p:nvSpPr>
        <p:spPr>
          <a:xfrm>
            <a:off x="304800" y="214326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1100" dirty="0">
                <a:solidFill>
                  <a:srgbClr val="37474F"/>
                </a:solidFill>
                <a:latin typeface="Meiryo UI"/>
                <a:ea typeface="Meiryo UI"/>
              </a:rPr>
              <a:t>Step1:Agent</a:t>
            </a:r>
            <a:r>
              <a:rPr lang="ja-JP" altLang="en-US" sz="1100" dirty="0">
                <a:solidFill>
                  <a:srgbClr val="37474F"/>
                </a:solidFill>
                <a:latin typeface="Meiryo UI"/>
                <a:ea typeface="Meiryo UI"/>
              </a:rPr>
              <a:t>型登場で現実化</a:t>
            </a:r>
          </a:p>
        </p:txBody>
      </p:sp>
      <p:sp>
        <p:nvSpPr>
          <p:cNvPr id="30" name="BarLabel0">
            <a:extLst>
              <a:ext uri="{FF2B5EF4-FFF2-40B4-BE49-F238E27FC236}">
                <a16:creationId xmlns:a16="http://schemas.microsoft.com/office/drawing/2014/main" id="{E408EBEC-042C-588D-EDA4-29B1E1D16DF8}"/>
              </a:ext>
            </a:extLst>
          </p:cNvPr>
          <p:cNvSpPr txBox="1"/>
          <p:nvPr/>
        </p:nvSpPr>
        <p:spPr>
          <a:xfrm>
            <a:off x="1398760" y="1304809"/>
            <a:ext cx="4572000" cy="232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400" b="1" dirty="0">
                <a:solidFill>
                  <a:schemeClr val="accent4">
                    <a:lumMod val="25000"/>
                  </a:schemeClr>
                </a:solidFill>
                <a:latin typeface="Meiryo UI"/>
                <a:ea typeface="Meiryo UI"/>
              </a:rPr>
              <a:t>金融：</a:t>
            </a:r>
            <a:r>
              <a:rPr lang="en-US" altLang="ja-JP" sz="1400" b="1" dirty="0">
                <a:solidFill>
                  <a:schemeClr val="accent4">
                    <a:lumMod val="25000"/>
                  </a:schemeClr>
                </a:solidFill>
                <a:latin typeface="Meiryo UI"/>
                <a:ea typeface="Meiryo UI"/>
              </a:rPr>
              <a:t>SSNB</a:t>
            </a:r>
            <a:endParaRPr lang="ja-JP" altLang="en-US" sz="1400" b="1" dirty="0">
              <a:solidFill>
                <a:schemeClr val="accent4">
                  <a:lumMod val="25000"/>
                </a:schemeClr>
              </a:solidFill>
              <a:latin typeface="Meiryo UI"/>
              <a:ea typeface="Meiryo UI"/>
            </a:endParaRPr>
          </a:p>
        </p:txBody>
      </p:sp>
      <p:sp>
        <p:nvSpPr>
          <p:cNvPr id="31" name="LeftBG">
            <a:extLst>
              <a:ext uri="{FF2B5EF4-FFF2-40B4-BE49-F238E27FC236}">
                <a16:creationId xmlns:a16="http://schemas.microsoft.com/office/drawing/2014/main" id="{FC97722D-6D72-1FC2-A8FC-26C5D7B387A2}"/>
              </a:ext>
            </a:extLst>
          </p:cNvPr>
          <p:cNvSpPr/>
          <p:nvPr/>
        </p:nvSpPr>
        <p:spPr>
          <a:xfrm>
            <a:off x="6248400" y="1094966"/>
            <a:ext cx="5715000" cy="3810000"/>
          </a:xfrm>
          <a:prstGeom prst="rect">
            <a:avLst/>
          </a:prstGeom>
          <a:solidFill>
            <a:srgbClr val="F0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2" name="LeftTopBar">
            <a:extLst>
              <a:ext uri="{FF2B5EF4-FFF2-40B4-BE49-F238E27FC236}">
                <a16:creationId xmlns:a16="http://schemas.microsoft.com/office/drawing/2014/main" id="{232C8564-4213-A34C-8F08-8794943404FC}"/>
              </a:ext>
            </a:extLst>
          </p:cNvPr>
          <p:cNvSpPr/>
          <p:nvPr/>
        </p:nvSpPr>
        <p:spPr>
          <a:xfrm>
            <a:off x="6248400" y="1094966"/>
            <a:ext cx="5715000" cy="76200"/>
          </a:xfrm>
          <a:prstGeom prst="rect">
            <a:avLst/>
          </a:prstGeom>
          <a:solidFill>
            <a:srgbClr val="0ABA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3" name="LeftNumBadge">
            <a:extLst>
              <a:ext uri="{FF2B5EF4-FFF2-40B4-BE49-F238E27FC236}">
                <a16:creationId xmlns:a16="http://schemas.microsoft.com/office/drawing/2014/main" id="{4CBA4380-8770-C678-A611-475206AD3760}"/>
              </a:ext>
            </a:extLst>
          </p:cNvPr>
          <p:cNvSpPr/>
          <p:nvPr/>
        </p:nvSpPr>
        <p:spPr>
          <a:xfrm>
            <a:off x="6375400" y="1247365"/>
            <a:ext cx="1016000" cy="404329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4" name="LeftNumText">
            <a:extLst>
              <a:ext uri="{FF2B5EF4-FFF2-40B4-BE49-F238E27FC236}">
                <a16:creationId xmlns:a16="http://schemas.microsoft.com/office/drawing/2014/main" id="{670778D1-89A7-3669-D4F8-8460C6F0FDAB}"/>
              </a:ext>
            </a:extLst>
          </p:cNvPr>
          <p:cNvSpPr txBox="1"/>
          <p:nvPr/>
        </p:nvSpPr>
        <p:spPr>
          <a:xfrm>
            <a:off x="6402560" y="1286917"/>
            <a:ext cx="98884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IBM</a:t>
            </a:r>
            <a:endParaRPr lang="ja-JP" altLang="en-US" sz="2800" b="1" dirty="0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53" name="BarLabel0">
            <a:extLst>
              <a:ext uri="{FF2B5EF4-FFF2-40B4-BE49-F238E27FC236}">
                <a16:creationId xmlns:a16="http://schemas.microsoft.com/office/drawing/2014/main" id="{3E7B4EEB-873D-33B7-22E8-8D6B5F1F9B90}"/>
              </a:ext>
            </a:extLst>
          </p:cNvPr>
          <p:cNvSpPr txBox="1"/>
          <p:nvPr/>
        </p:nvSpPr>
        <p:spPr>
          <a:xfrm>
            <a:off x="7418560" y="1313611"/>
            <a:ext cx="4572000" cy="232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400" b="1" dirty="0">
                <a:solidFill>
                  <a:schemeClr val="accent4">
                    <a:lumMod val="25000"/>
                  </a:schemeClr>
                </a:solidFill>
                <a:latin typeface="Meiryo UI"/>
                <a:ea typeface="Meiryo UI"/>
              </a:rPr>
              <a:t>代表例：保険：</a:t>
            </a:r>
            <a:r>
              <a:rPr lang="en-US" altLang="ja-JP" sz="1400" b="1" dirty="0">
                <a:solidFill>
                  <a:schemeClr val="accent4">
                    <a:lumMod val="25000"/>
                  </a:schemeClr>
                </a:solidFill>
                <a:latin typeface="Meiryo UI"/>
                <a:ea typeface="Meiryo UI"/>
              </a:rPr>
              <a:t>KP</a:t>
            </a:r>
            <a:endParaRPr lang="ja-JP" altLang="en-US" sz="1400" b="1" dirty="0">
              <a:solidFill>
                <a:schemeClr val="accent4">
                  <a:lumMod val="25000"/>
                </a:schemeClr>
              </a:solidFill>
              <a:latin typeface="Meiryo UI"/>
              <a:ea typeface="Meiryo UI"/>
            </a:endParaRPr>
          </a:p>
        </p:txBody>
      </p:sp>
      <p:sp>
        <p:nvSpPr>
          <p:cNvPr id="40" name="Step0">
            <a:extLst>
              <a:ext uri="{FF2B5EF4-FFF2-40B4-BE49-F238E27FC236}">
                <a16:creationId xmlns:a16="http://schemas.microsoft.com/office/drawing/2014/main" id="{22DDB56F-5CD4-749A-7678-58C0DFD44B94}"/>
              </a:ext>
            </a:extLst>
          </p:cNvPr>
          <p:cNvSpPr/>
          <p:nvPr/>
        </p:nvSpPr>
        <p:spPr>
          <a:xfrm>
            <a:off x="355600" y="2454547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700" b="1" dirty="0">
                <a:solidFill>
                  <a:schemeClr val="tx2"/>
                </a:solidFill>
                <a:latin typeface="Meiryo UI"/>
                <a:ea typeface="Meiryo UI"/>
              </a:rPr>
              <a:t>要件定義/</a:t>
            </a:r>
          </a:p>
          <a:p>
            <a:pPr algn="ctr">
              <a:buNone/>
            </a:pPr>
            <a:r>
              <a:rPr lang="ja-JP" sz="700" b="1" dirty="0">
                <a:solidFill>
                  <a:schemeClr val="tx2"/>
                </a:solidFill>
                <a:latin typeface="Meiryo UI"/>
                <a:ea typeface="Meiryo UI"/>
              </a:rPr>
              <a:t>概要設計</a:t>
            </a:r>
          </a:p>
        </p:txBody>
      </p:sp>
      <p:sp>
        <p:nvSpPr>
          <p:cNvPr id="5" name="Step2">
            <a:extLst>
              <a:ext uri="{FF2B5EF4-FFF2-40B4-BE49-F238E27FC236}">
                <a16:creationId xmlns:a16="http://schemas.microsoft.com/office/drawing/2014/main" id="{9A4EBB87-C47D-D085-C92A-A1470C47C0EB}"/>
              </a:ext>
            </a:extLst>
          </p:cNvPr>
          <p:cNvSpPr/>
          <p:nvPr/>
        </p:nvSpPr>
        <p:spPr>
          <a:xfrm>
            <a:off x="1257300" y="2454547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tx2"/>
                </a:solidFill>
                <a:latin typeface="Meiryo UI"/>
                <a:ea typeface="Meiryo UI"/>
              </a:rPr>
              <a:t>外部設計</a:t>
            </a:r>
          </a:p>
        </p:txBody>
      </p:sp>
      <p:sp>
        <p:nvSpPr>
          <p:cNvPr id="25" name="Step3">
            <a:extLst>
              <a:ext uri="{FF2B5EF4-FFF2-40B4-BE49-F238E27FC236}">
                <a16:creationId xmlns:a16="http://schemas.microsoft.com/office/drawing/2014/main" id="{3F77331D-04B4-32A3-96B9-20E88869C949}"/>
              </a:ext>
            </a:extLst>
          </p:cNvPr>
          <p:cNvSpPr/>
          <p:nvPr/>
        </p:nvSpPr>
        <p:spPr>
          <a:xfrm>
            <a:off x="2159000" y="2454547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tx2"/>
                </a:solidFill>
                <a:latin typeface="Meiryo UI"/>
                <a:ea typeface="Meiryo UI"/>
              </a:rPr>
              <a:t>詳細設計</a:t>
            </a:r>
          </a:p>
        </p:txBody>
      </p:sp>
      <p:sp>
        <p:nvSpPr>
          <p:cNvPr id="26" name="Step4">
            <a:extLst>
              <a:ext uri="{FF2B5EF4-FFF2-40B4-BE49-F238E27FC236}">
                <a16:creationId xmlns:a16="http://schemas.microsoft.com/office/drawing/2014/main" id="{4EE768BC-E54D-DD56-C5DC-ED6AAA957908}"/>
              </a:ext>
            </a:extLst>
          </p:cNvPr>
          <p:cNvSpPr/>
          <p:nvPr/>
        </p:nvSpPr>
        <p:spPr>
          <a:xfrm>
            <a:off x="3060700" y="2454547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CD/UT</a:t>
            </a:r>
          </a:p>
        </p:txBody>
      </p:sp>
      <p:sp>
        <p:nvSpPr>
          <p:cNvPr id="27" name="Step5">
            <a:extLst>
              <a:ext uri="{FF2B5EF4-FFF2-40B4-BE49-F238E27FC236}">
                <a16:creationId xmlns:a16="http://schemas.microsoft.com/office/drawing/2014/main" id="{5C850992-BEB8-0F34-A965-B6A8A73C17C6}"/>
              </a:ext>
            </a:extLst>
          </p:cNvPr>
          <p:cNvSpPr/>
          <p:nvPr/>
        </p:nvSpPr>
        <p:spPr>
          <a:xfrm>
            <a:off x="3962400" y="2454547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tx2"/>
                </a:solidFill>
                <a:latin typeface="Meiryo UI"/>
                <a:ea typeface="Meiryo UI"/>
              </a:rPr>
              <a:t>ITA/ITB</a:t>
            </a:r>
          </a:p>
        </p:txBody>
      </p:sp>
      <p:sp>
        <p:nvSpPr>
          <p:cNvPr id="28" name="Step6">
            <a:extLst>
              <a:ext uri="{FF2B5EF4-FFF2-40B4-BE49-F238E27FC236}">
                <a16:creationId xmlns:a16="http://schemas.microsoft.com/office/drawing/2014/main" id="{7EEDCD44-68A0-12B6-4750-2EC6662AFF90}"/>
              </a:ext>
            </a:extLst>
          </p:cNvPr>
          <p:cNvSpPr/>
          <p:nvPr/>
        </p:nvSpPr>
        <p:spPr>
          <a:xfrm>
            <a:off x="4864100" y="2454547"/>
            <a:ext cx="952500" cy="33020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tx2"/>
                </a:solidFill>
                <a:latin typeface="Meiryo UI"/>
                <a:ea typeface="Meiryo UI"/>
              </a:rPr>
              <a:t>ST</a:t>
            </a:r>
          </a:p>
        </p:txBody>
      </p:sp>
      <p:sp>
        <p:nvSpPr>
          <p:cNvPr id="29" name="Step0">
            <a:extLst>
              <a:ext uri="{FF2B5EF4-FFF2-40B4-BE49-F238E27FC236}">
                <a16:creationId xmlns:a16="http://schemas.microsoft.com/office/drawing/2014/main" id="{006A8C38-9C42-79EB-BA1C-83A27031C038}"/>
              </a:ext>
            </a:extLst>
          </p:cNvPr>
          <p:cNvSpPr/>
          <p:nvPr/>
        </p:nvSpPr>
        <p:spPr>
          <a:xfrm>
            <a:off x="355600" y="317768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700" b="1" dirty="0">
                <a:solidFill>
                  <a:schemeClr val="tx2"/>
                </a:solidFill>
                <a:latin typeface="Meiryo UI"/>
                <a:ea typeface="Meiryo UI"/>
              </a:rPr>
              <a:t>要件定義/</a:t>
            </a:r>
          </a:p>
          <a:p>
            <a:pPr algn="ctr">
              <a:buNone/>
            </a:pPr>
            <a:r>
              <a:rPr lang="ja-JP" sz="700" b="1" dirty="0">
                <a:solidFill>
                  <a:schemeClr val="tx2"/>
                </a:solidFill>
                <a:latin typeface="Meiryo UI"/>
                <a:ea typeface="Meiryo UI"/>
              </a:rPr>
              <a:t>概要設計</a:t>
            </a:r>
          </a:p>
        </p:txBody>
      </p:sp>
      <p:sp>
        <p:nvSpPr>
          <p:cNvPr id="55" name="Step2">
            <a:extLst>
              <a:ext uri="{FF2B5EF4-FFF2-40B4-BE49-F238E27FC236}">
                <a16:creationId xmlns:a16="http://schemas.microsoft.com/office/drawing/2014/main" id="{DDD40B41-0ECF-A6A8-718C-06DAE204BBAA}"/>
              </a:ext>
            </a:extLst>
          </p:cNvPr>
          <p:cNvSpPr/>
          <p:nvPr/>
        </p:nvSpPr>
        <p:spPr>
          <a:xfrm>
            <a:off x="1257300" y="317768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tx2"/>
                </a:solidFill>
                <a:latin typeface="Meiryo UI"/>
                <a:ea typeface="Meiryo UI"/>
              </a:rPr>
              <a:t>外部設計</a:t>
            </a:r>
          </a:p>
        </p:txBody>
      </p:sp>
      <p:sp>
        <p:nvSpPr>
          <p:cNvPr id="56" name="Step3">
            <a:extLst>
              <a:ext uri="{FF2B5EF4-FFF2-40B4-BE49-F238E27FC236}">
                <a16:creationId xmlns:a16="http://schemas.microsoft.com/office/drawing/2014/main" id="{288CC1F7-821F-99C3-1CC0-AA7250D23664}"/>
              </a:ext>
            </a:extLst>
          </p:cNvPr>
          <p:cNvSpPr/>
          <p:nvPr/>
        </p:nvSpPr>
        <p:spPr>
          <a:xfrm>
            <a:off x="2159000" y="317768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詳細設計</a:t>
            </a:r>
          </a:p>
        </p:txBody>
      </p:sp>
      <p:sp>
        <p:nvSpPr>
          <p:cNvPr id="57" name="Step4">
            <a:extLst>
              <a:ext uri="{FF2B5EF4-FFF2-40B4-BE49-F238E27FC236}">
                <a16:creationId xmlns:a16="http://schemas.microsoft.com/office/drawing/2014/main" id="{CABD3EF7-4FE5-2A91-DA1C-DB1FAFACC61F}"/>
              </a:ext>
            </a:extLst>
          </p:cNvPr>
          <p:cNvSpPr/>
          <p:nvPr/>
        </p:nvSpPr>
        <p:spPr>
          <a:xfrm>
            <a:off x="3060700" y="317768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CD/UT</a:t>
            </a:r>
          </a:p>
        </p:txBody>
      </p:sp>
      <p:sp>
        <p:nvSpPr>
          <p:cNvPr id="58" name="Step5">
            <a:extLst>
              <a:ext uri="{FF2B5EF4-FFF2-40B4-BE49-F238E27FC236}">
                <a16:creationId xmlns:a16="http://schemas.microsoft.com/office/drawing/2014/main" id="{92A3F0FE-9220-D861-EE94-07D309446D2E}"/>
              </a:ext>
            </a:extLst>
          </p:cNvPr>
          <p:cNvSpPr/>
          <p:nvPr/>
        </p:nvSpPr>
        <p:spPr>
          <a:xfrm>
            <a:off x="3962400" y="317768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tx2"/>
                </a:solidFill>
                <a:latin typeface="Meiryo UI"/>
                <a:ea typeface="Meiryo UI"/>
              </a:rPr>
              <a:t>ITA/ITB</a:t>
            </a:r>
          </a:p>
        </p:txBody>
      </p:sp>
      <p:sp>
        <p:nvSpPr>
          <p:cNvPr id="59" name="Step6">
            <a:extLst>
              <a:ext uri="{FF2B5EF4-FFF2-40B4-BE49-F238E27FC236}">
                <a16:creationId xmlns:a16="http://schemas.microsoft.com/office/drawing/2014/main" id="{DBD6FF92-D3F4-A5C8-D911-079D88D16980}"/>
              </a:ext>
            </a:extLst>
          </p:cNvPr>
          <p:cNvSpPr/>
          <p:nvPr/>
        </p:nvSpPr>
        <p:spPr>
          <a:xfrm>
            <a:off x="4864100" y="3177689"/>
            <a:ext cx="952500" cy="33020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tx2"/>
                </a:solidFill>
                <a:latin typeface="Meiryo UI"/>
                <a:ea typeface="Meiryo UI"/>
              </a:rPr>
              <a:t>ST</a:t>
            </a:r>
          </a:p>
        </p:txBody>
      </p:sp>
      <p:sp>
        <p:nvSpPr>
          <p:cNvPr id="60" name="Step0">
            <a:extLst>
              <a:ext uri="{FF2B5EF4-FFF2-40B4-BE49-F238E27FC236}">
                <a16:creationId xmlns:a16="http://schemas.microsoft.com/office/drawing/2014/main" id="{FCF1C2F2-BC8E-88C0-4CD8-37C20ED59D15}"/>
              </a:ext>
            </a:extLst>
          </p:cNvPr>
          <p:cNvSpPr/>
          <p:nvPr/>
        </p:nvSpPr>
        <p:spPr>
          <a:xfrm>
            <a:off x="355600" y="3934028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700" b="1" dirty="0">
                <a:solidFill>
                  <a:schemeClr val="tx2"/>
                </a:solidFill>
                <a:latin typeface="Meiryo UI"/>
                <a:ea typeface="Meiryo UI"/>
              </a:rPr>
              <a:t>要件定義/</a:t>
            </a:r>
          </a:p>
          <a:p>
            <a:pPr algn="ctr">
              <a:buNone/>
            </a:pPr>
            <a:r>
              <a:rPr lang="ja-JP" sz="700" b="1" dirty="0">
                <a:solidFill>
                  <a:schemeClr val="tx2"/>
                </a:solidFill>
                <a:latin typeface="Meiryo UI"/>
                <a:ea typeface="Meiryo UI"/>
              </a:rPr>
              <a:t>概要設計</a:t>
            </a:r>
          </a:p>
        </p:txBody>
      </p:sp>
      <p:sp>
        <p:nvSpPr>
          <p:cNvPr id="62" name="Step2">
            <a:extLst>
              <a:ext uri="{FF2B5EF4-FFF2-40B4-BE49-F238E27FC236}">
                <a16:creationId xmlns:a16="http://schemas.microsoft.com/office/drawing/2014/main" id="{8391B2ED-7543-7E41-77BF-6DBD0BD1388E}"/>
              </a:ext>
            </a:extLst>
          </p:cNvPr>
          <p:cNvSpPr/>
          <p:nvPr/>
        </p:nvSpPr>
        <p:spPr>
          <a:xfrm>
            <a:off x="1257300" y="3934028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外部設計</a:t>
            </a:r>
          </a:p>
        </p:txBody>
      </p:sp>
      <p:sp>
        <p:nvSpPr>
          <p:cNvPr id="63" name="Step3">
            <a:extLst>
              <a:ext uri="{FF2B5EF4-FFF2-40B4-BE49-F238E27FC236}">
                <a16:creationId xmlns:a16="http://schemas.microsoft.com/office/drawing/2014/main" id="{8F071FA4-DE0E-033F-50EC-E8B9E224B6F1}"/>
              </a:ext>
            </a:extLst>
          </p:cNvPr>
          <p:cNvSpPr/>
          <p:nvPr/>
        </p:nvSpPr>
        <p:spPr>
          <a:xfrm>
            <a:off x="2159000" y="3934028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詳細設計</a:t>
            </a:r>
          </a:p>
        </p:txBody>
      </p:sp>
      <p:sp>
        <p:nvSpPr>
          <p:cNvPr id="64" name="Step4">
            <a:extLst>
              <a:ext uri="{FF2B5EF4-FFF2-40B4-BE49-F238E27FC236}">
                <a16:creationId xmlns:a16="http://schemas.microsoft.com/office/drawing/2014/main" id="{6D688044-5900-E799-9D30-1D3492DE1318}"/>
              </a:ext>
            </a:extLst>
          </p:cNvPr>
          <p:cNvSpPr/>
          <p:nvPr/>
        </p:nvSpPr>
        <p:spPr>
          <a:xfrm>
            <a:off x="3060700" y="3934028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CD/UT</a:t>
            </a:r>
          </a:p>
        </p:txBody>
      </p:sp>
      <p:sp>
        <p:nvSpPr>
          <p:cNvPr id="65" name="Step5">
            <a:extLst>
              <a:ext uri="{FF2B5EF4-FFF2-40B4-BE49-F238E27FC236}">
                <a16:creationId xmlns:a16="http://schemas.microsoft.com/office/drawing/2014/main" id="{418AFF3E-58DA-C070-2317-5CBC56D964F8}"/>
              </a:ext>
            </a:extLst>
          </p:cNvPr>
          <p:cNvSpPr/>
          <p:nvPr/>
        </p:nvSpPr>
        <p:spPr>
          <a:xfrm>
            <a:off x="3962400" y="3934028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ITA/ITB</a:t>
            </a:r>
          </a:p>
        </p:txBody>
      </p:sp>
      <p:sp>
        <p:nvSpPr>
          <p:cNvPr id="66" name="Step6">
            <a:extLst>
              <a:ext uri="{FF2B5EF4-FFF2-40B4-BE49-F238E27FC236}">
                <a16:creationId xmlns:a16="http://schemas.microsoft.com/office/drawing/2014/main" id="{38E75738-C345-ECFD-365F-C91334679321}"/>
              </a:ext>
            </a:extLst>
          </p:cNvPr>
          <p:cNvSpPr/>
          <p:nvPr/>
        </p:nvSpPr>
        <p:spPr>
          <a:xfrm>
            <a:off x="4864100" y="3934028"/>
            <a:ext cx="952500" cy="33020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tx2"/>
                </a:solidFill>
                <a:latin typeface="Meiryo UI"/>
                <a:ea typeface="Meiryo UI"/>
              </a:rPr>
              <a:t>ST</a:t>
            </a: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5F20CCE9-B975-501F-D33C-3B7D9F98196B}"/>
              </a:ext>
            </a:extLst>
          </p:cNvPr>
          <p:cNvSpPr/>
          <p:nvPr/>
        </p:nvSpPr>
        <p:spPr>
          <a:xfrm rot="10800000">
            <a:off x="3274399" y="2894645"/>
            <a:ext cx="262551" cy="18219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36A990B2-5276-891D-20B0-30589479FEFC}"/>
              </a:ext>
            </a:extLst>
          </p:cNvPr>
          <p:cNvSpPr/>
          <p:nvPr/>
        </p:nvSpPr>
        <p:spPr>
          <a:xfrm rot="10800000">
            <a:off x="3274399" y="3655959"/>
            <a:ext cx="262551" cy="18219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BarLabel2">
            <a:extLst>
              <a:ext uri="{FF2B5EF4-FFF2-40B4-BE49-F238E27FC236}">
                <a16:creationId xmlns:a16="http://schemas.microsoft.com/office/drawing/2014/main" id="{B51333FD-FD43-0328-364A-8722B711CDE1}"/>
              </a:ext>
            </a:extLst>
          </p:cNvPr>
          <p:cNvSpPr txBox="1"/>
          <p:nvPr/>
        </p:nvSpPr>
        <p:spPr>
          <a:xfrm>
            <a:off x="304800" y="2878559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1100" dirty="0">
                <a:solidFill>
                  <a:srgbClr val="37474F"/>
                </a:solidFill>
                <a:latin typeface="Meiryo UI"/>
                <a:ea typeface="Meiryo UI"/>
              </a:rPr>
              <a:t>Step2:</a:t>
            </a:r>
            <a:r>
              <a:rPr lang="ja-JP" altLang="en-US" sz="1100" dirty="0">
                <a:solidFill>
                  <a:srgbClr val="37474F"/>
                </a:solidFill>
                <a:latin typeface="Meiryo UI"/>
                <a:ea typeface="Meiryo UI"/>
              </a:rPr>
              <a:t>スキル・精度向上で現実化</a:t>
            </a:r>
          </a:p>
        </p:txBody>
      </p:sp>
      <p:sp>
        <p:nvSpPr>
          <p:cNvPr id="16" name="BarLabel2">
            <a:extLst>
              <a:ext uri="{FF2B5EF4-FFF2-40B4-BE49-F238E27FC236}">
                <a16:creationId xmlns:a16="http://schemas.microsoft.com/office/drawing/2014/main" id="{AC54F16F-727A-B8BC-E05D-84C859E852A7}"/>
              </a:ext>
            </a:extLst>
          </p:cNvPr>
          <p:cNvSpPr txBox="1"/>
          <p:nvPr/>
        </p:nvSpPr>
        <p:spPr>
          <a:xfrm>
            <a:off x="304800" y="3630499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1100" dirty="0">
                <a:solidFill>
                  <a:srgbClr val="37474F"/>
                </a:solidFill>
                <a:latin typeface="Meiryo UI"/>
                <a:ea typeface="Meiryo UI"/>
              </a:rPr>
              <a:t>Step3:AI</a:t>
            </a:r>
            <a:r>
              <a:rPr lang="ja-JP" altLang="en-US" sz="1100" dirty="0">
                <a:solidFill>
                  <a:srgbClr val="37474F"/>
                </a:solidFill>
                <a:latin typeface="Meiryo UI"/>
                <a:ea typeface="Meiryo UI"/>
              </a:rPr>
              <a:t>精度向上</a:t>
            </a:r>
            <a:r>
              <a:rPr lang="en-US" altLang="ja-JP" sz="1100" dirty="0">
                <a:solidFill>
                  <a:srgbClr val="37474F"/>
                </a:solidFill>
                <a:latin typeface="Meiryo UI"/>
                <a:ea typeface="Meiryo UI"/>
              </a:rPr>
              <a:t>(</a:t>
            </a:r>
            <a:r>
              <a:rPr lang="ja-JP" altLang="en-US" sz="1100" dirty="0">
                <a:solidFill>
                  <a:srgbClr val="37474F"/>
                </a:solidFill>
                <a:latin typeface="Meiryo UI"/>
                <a:ea typeface="Meiryo UI"/>
              </a:rPr>
              <a:t>コンテキスト大</a:t>
            </a:r>
            <a:r>
              <a:rPr lang="en-US" altLang="ja-JP" sz="1100" dirty="0">
                <a:solidFill>
                  <a:srgbClr val="37474F"/>
                </a:solidFill>
                <a:latin typeface="Meiryo UI"/>
                <a:ea typeface="Meiryo UI"/>
              </a:rPr>
              <a:t>)</a:t>
            </a:r>
            <a:r>
              <a:rPr lang="ja-JP" altLang="en-US" sz="1100" dirty="0">
                <a:solidFill>
                  <a:srgbClr val="37474F"/>
                </a:solidFill>
                <a:latin typeface="Meiryo UI"/>
                <a:ea typeface="Meiryo UI"/>
              </a:rPr>
              <a:t>・</a:t>
            </a:r>
            <a:r>
              <a:rPr lang="en-US" altLang="ja-JP" sz="1100" dirty="0">
                <a:solidFill>
                  <a:srgbClr val="37474F"/>
                </a:solidFill>
                <a:latin typeface="Meiryo UI"/>
                <a:ea typeface="Meiryo UI"/>
              </a:rPr>
              <a:t>Workflow</a:t>
            </a:r>
            <a:endParaRPr lang="ja-JP" altLang="en-US" sz="1100" dirty="0">
              <a:solidFill>
                <a:srgbClr val="37474F"/>
              </a:solidFill>
              <a:latin typeface="Meiryo UI"/>
              <a:ea typeface="Meiryo UI"/>
            </a:endParaRPr>
          </a:p>
        </p:txBody>
      </p:sp>
      <p:sp>
        <p:nvSpPr>
          <p:cNvPr id="18" name="LeftTitle">
            <a:extLst>
              <a:ext uri="{FF2B5EF4-FFF2-40B4-BE49-F238E27FC236}">
                <a16:creationId xmlns:a16="http://schemas.microsoft.com/office/drawing/2014/main" id="{21903696-ABCB-DAE7-3152-EF8DC2667323}"/>
              </a:ext>
            </a:extLst>
          </p:cNvPr>
          <p:cNvSpPr txBox="1"/>
          <p:nvPr/>
        </p:nvSpPr>
        <p:spPr>
          <a:xfrm>
            <a:off x="6399604" y="1801466"/>
            <a:ext cx="546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1600" b="1" dirty="0">
                <a:solidFill>
                  <a:schemeClr val="accent2"/>
                </a:solidFill>
                <a:latin typeface="Meiryo UI"/>
              </a:rPr>
              <a:t>トップダウン型</a:t>
            </a:r>
            <a:r>
              <a:rPr lang="ja-JP" sz="1300" b="0" dirty="0">
                <a:solidFill>
                  <a:srgbClr val="78909C"/>
                </a:solidFill>
                <a:latin typeface="Meiryo UI"/>
              </a:rPr>
              <a:t>  </a:t>
            </a:r>
            <a:r>
              <a:rPr lang="ja-JP" altLang="en-US" sz="1300" dirty="0">
                <a:solidFill>
                  <a:srgbClr val="78909C"/>
                </a:solidFill>
                <a:latin typeface="Meiryo UI"/>
              </a:rPr>
              <a:t> </a:t>
            </a:r>
            <a:r>
              <a:rPr lang="en-US" altLang="ja-JP" sz="1300" b="0" dirty="0" err="1">
                <a:solidFill>
                  <a:schemeClr val="tx2"/>
                </a:solidFill>
                <a:latin typeface="Meiryo UI"/>
              </a:rPr>
              <a:t>BOB|</a:t>
            </a:r>
            <a:r>
              <a:rPr lang="en-US" altLang="ja-JP" sz="1300" dirty="0" err="1">
                <a:solidFill>
                  <a:schemeClr val="tx2"/>
                </a:solidFill>
              </a:rPr>
              <a:t>Alsea</a:t>
            </a:r>
            <a:r>
              <a:rPr lang="en-US" altLang="ja-JP" sz="1300" b="0" dirty="0">
                <a:solidFill>
                  <a:schemeClr val="tx2"/>
                </a:solidFill>
                <a:latin typeface="Meiryo UI"/>
              </a:rPr>
              <a:t> </a:t>
            </a:r>
            <a:r>
              <a:rPr lang="ja-JP" altLang="en-US" sz="1300" b="0" dirty="0">
                <a:solidFill>
                  <a:schemeClr val="tx2"/>
                </a:solidFill>
                <a:latin typeface="Meiryo UI"/>
              </a:rPr>
              <a:t>アセットをベースにカスタマイズ</a:t>
            </a:r>
            <a:endParaRPr lang="ja-JP" sz="1300" b="0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20" name="RightBotTitle">
            <a:extLst>
              <a:ext uri="{FF2B5EF4-FFF2-40B4-BE49-F238E27FC236}">
                <a16:creationId xmlns:a16="http://schemas.microsoft.com/office/drawing/2014/main" id="{B106FCAF-1243-45A5-2CA7-50BAEF751401}"/>
              </a:ext>
            </a:extLst>
          </p:cNvPr>
          <p:cNvSpPr txBox="1"/>
          <p:nvPr/>
        </p:nvSpPr>
        <p:spPr>
          <a:xfrm>
            <a:off x="599090" y="4469333"/>
            <a:ext cx="534451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altLang="ja-JP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4</a:t>
            </a:r>
            <a:r>
              <a:rPr lang="ja-JP" altLang="en-US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月時点で</a:t>
            </a:r>
            <a:r>
              <a:rPr lang="en-US" altLang="ja-JP" sz="1600" dirty="0">
                <a:solidFill>
                  <a:schemeClr val="accent2"/>
                </a:solidFill>
                <a:ea typeface="Meiryo UI"/>
              </a:rPr>
              <a:t>Step3</a:t>
            </a:r>
            <a:r>
              <a:rPr lang="ja-JP" altLang="en-US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を試行＋現場適用中</a:t>
            </a:r>
            <a:r>
              <a:rPr lang="en-US" altLang="ja-JP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(</a:t>
            </a:r>
            <a:r>
              <a:rPr lang="ja-JP" altLang="en-US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ここまで</a:t>
            </a:r>
            <a:r>
              <a:rPr lang="en-US" altLang="ja-JP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1</a:t>
            </a:r>
            <a:r>
              <a:rPr lang="ja-JP" altLang="en-US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年程度</a:t>
            </a:r>
            <a:r>
              <a:rPr lang="en-US" altLang="ja-JP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)</a:t>
            </a:r>
            <a:endParaRPr lang="ja-JP" sz="1200" b="0" dirty="0">
              <a:solidFill>
                <a:schemeClr val="bg1">
                  <a:lumMod val="50000"/>
                </a:schemeClr>
              </a:solidFill>
              <a:latin typeface="Meiryo UI"/>
            </a:endParaRPr>
          </a:p>
        </p:txBody>
      </p:sp>
      <p:sp>
        <p:nvSpPr>
          <p:cNvPr id="22" name="SNSTop">
            <a:extLst>
              <a:ext uri="{FF2B5EF4-FFF2-40B4-BE49-F238E27FC236}">
                <a16:creationId xmlns:a16="http://schemas.microsoft.com/office/drawing/2014/main" id="{E6A3F87F-DEE3-7403-3FAE-C8D6CE1AE5F4}"/>
              </a:ext>
            </a:extLst>
          </p:cNvPr>
          <p:cNvSpPr>
            <a:spLocks noGrp="1"/>
          </p:cNvSpPr>
          <p:nvPr/>
        </p:nvSpPr>
        <p:spPr>
          <a:xfrm>
            <a:off x="6521705" y="2183008"/>
            <a:ext cx="5080000" cy="65675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41" name="SNSBd">
            <a:extLst>
              <a:ext uri="{FF2B5EF4-FFF2-40B4-BE49-F238E27FC236}">
                <a16:creationId xmlns:a16="http://schemas.microsoft.com/office/drawing/2014/main" id="{3A18B5EB-42FB-9E45-34B1-D9896BFE79C6}"/>
              </a:ext>
            </a:extLst>
          </p:cNvPr>
          <p:cNvSpPr txBox="1">
            <a:spLocks noGrp="1"/>
          </p:cNvSpPr>
          <p:nvPr/>
        </p:nvSpPr>
        <p:spPr>
          <a:xfrm>
            <a:off x="6521704" y="2233806"/>
            <a:ext cx="5080001" cy="1019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Meiryo UI"/>
              </a:rPr>
              <a:t>What’s </a:t>
            </a:r>
            <a:r>
              <a:rPr lang="en-US" altLang="ja-JP" sz="2000" dirty="0">
                <a:solidFill>
                  <a:schemeClr val="accent1"/>
                </a:solidFill>
                <a:latin typeface="Meiryo UI"/>
              </a:rPr>
              <a:t>Alsea</a:t>
            </a:r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Meiryo UI"/>
              </a:rPr>
              <a:t> ?</a:t>
            </a:r>
            <a:endParaRPr lang="ja-JP" sz="1200" dirty="0">
              <a:solidFill>
                <a:schemeClr val="bg1">
                  <a:lumMod val="50000"/>
                </a:schemeClr>
              </a:solidFill>
              <a:latin typeface="Meiryo UI"/>
            </a:endParaRPr>
          </a:p>
        </p:txBody>
      </p:sp>
      <p:sp>
        <p:nvSpPr>
          <p:cNvPr id="23" name="SNSTl">
            <a:extLst>
              <a:ext uri="{FF2B5EF4-FFF2-40B4-BE49-F238E27FC236}">
                <a16:creationId xmlns:a16="http://schemas.microsoft.com/office/drawing/2014/main" id="{75D42EBC-50A7-3A19-915E-B2D3434C79BA}"/>
              </a:ext>
            </a:extLst>
          </p:cNvPr>
          <p:cNvSpPr txBox="1">
            <a:spLocks noGrp="1"/>
          </p:cNvSpPr>
          <p:nvPr/>
        </p:nvSpPr>
        <p:spPr>
          <a:xfrm>
            <a:off x="7855205" y="2311222"/>
            <a:ext cx="3746500" cy="2603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300" b="1" dirty="0">
                <a:solidFill>
                  <a:schemeClr val="tx2"/>
                </a:solidFill>
                <a:latin typeface="Meiryo UI"/>
              </a:rPr>
              <a:t>要件定義～開発～結合テスト＋</a:t>
            </a:r>
            <a:r>
              <a:rPr lang="en-US" altLang="ja-JP" sz="1300" b="1" dirty="0">
                <a:solidFill>
                  <a:schemeClr val="tx2"/>
                </a:solidFill>
                <a:latin typeface="Meiryo UI"/>
              </a:rPr>
              <a:t>PMO</a:t>
            </a:r>
            <a:r>
              <a:rPr lang="ja-JP" altLang="en-US" sz="1300" b="1" dirty="0">
                <a:solidFill>
                  <a:schemeClr val="tx2"/>
                </a:solidFill>
                <a:latin typeface="Meiryo UI"/>
              </a:rPr>
              <a:t>をサポート</a:t>
            </a:r>
            <a:endParaRPr lang="ja-JP" sz="1300" b="1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54" name="Step0">
            <a:extLst>
              <a:ext uri="{FF2B5EF4-FFF2-40B4-BE49-F238E27FC236}">
                <a16:creationId xmlns:a16="http://schemas.microsoft.com/office/drawing/2014/main" id="{60F0F08D-701B-D280-04D2-23044E977794}"/>
              </a:ext>
            </a:extLst>
          </p:cNvPr>
          <p:cNvSpPr/>
          <p:nvPr/>
        </p:nvSpPr>
        <p:spPr>
          <a:xfrm>
            <a:off x="6399604" y="396125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700" b="1" dirty="0">
                <a:solidFill>
                  <a:schemeClr val="bg1"/>
                </a:solidFill>
                <a:latin typeface="Meiryo UI"/>
                <a:ea typeface="Meiryo UI"/>
              </a:rPr>
              <a:t>要件定義/</a:t>
            </a:r>
          </a:p>
          <a:p>
            <a:pPr algn="ctr">
              <a:buNone/>
            </a:pPr>
            <a:r>
              <a:rPr lang="ja-JP" sz="700" b="1" dirty="0">
                <a:solidFill>
                  <a:schemeClr val="bg1"/>
                </a:solidFill>
                <a:latin typeface="Meiryo UI"/>
                <a:ea typeface="Meiryo UI"/>
              </a:rPr>
              <a:t>概要設計</a:t>
            </a:r>
          </a:p>
        </p:txBody>
      </p:sp>
      <p:sp>
        <p:nvSpPr>
          <p:cNvPr id="61" name="Step2">
            <a:extLst>
              <a:ext uri="{FF2B5EF4-FFF2-40B4-BE49-F238E27FC236}">
                <a16:creationId xmlns:a16="http://schemas.microsoft.com/office/drawing/2014/main" id="{10211F3C-0699-FC9C-DDB6-2765B213863C}"/>
              </a:ext>
            </a:extLst>
          </p:cNvPr>
          <p:cNvSpPr/>
          <p:nvPr/>
        </p:nvSpPr>
        <p:spPr>
          <a:xfrm>
            <a:off x="7301304" y="396125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外部設計</a:t>
            </a:r>
          </a:p>
        </p:txBody>
      </p:sp>
      <p:sp>
        <p:nvSpPr>
          <p:cNvPr id="67" name="Step3">
            <a:extLst>
              <a:ext uri="{FF2B5EF4-FFF2-40B4-BE49-F238E27FC236}">
                <a16:creationId xmlns:a16="http://schemas.microsoft.com/office/drawing/2014/main" id="{4DA2ED8A-903D-11CC-4F68-648B85023370}"/>
              </a:ext>
            </a:extLst>
          </p:cNvPr>
          <p:cNvSpPr/>
          <p:nvPr/>
        </p:nvSpPr>
        <p:spPr>
          <a:xfrm>
            <a:off x="8203004" y="396125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詳細設計</a:t>
            </a:r>
          </a:p>
        </p:txBody>
      </p:sp>
      <p:sp>
        <p:nvSpPr>
          <p:cNvPr id="68" name="Step4">
            <a:extLst>
              <a:ext uri="{FF2B5EF4-FFF2-40B4-BE49-F238E27FC236}">
                <a16:creationId xmlns:a16="http://schemas.microsoft.com/office/drawing/2014/main" id="{0EA7D83B-00B1-3142-EFCE-0956D390A078}"/>
              </a:ext>
            </a:extLst>
          </p:cNvPr>
          <p:cNvSpPr/>
          <p:nvPr/>
        </p:nvSpPr>
        <p:spPr>
          <a:xfrm>
            <a:off x="9104704" y="396125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CD/UT</a:t>
            </a:r>
          </a:p>
        </p:txBody>
      </p:sp>
      <p:sp>
        <p:nvSpPr>
          <p:cNvPr id="69" name="Step5">
            <a:extLst>
              <a:ext uri="{FF2B5EF4-FFF2-40B4-BE49-F238E27FC236}">
                <a16:creationId xmlns:a16="http://schemas.microsoft.com/office/drawing/2014/main" id="{EF321E4D-783D-BCA8-79B9-0F757275C392}"/>
              </a:ext>
            </a:extLst>
          </p:cNvPr>
          <p:cNvSpPr/>
          <p:nvPr/>
        </p:nvSpPr>
        <p:spPr>
          <a:xfrm>
            <a:off x="10006404" y="3961259"/>
            <a:ext cx="952500" cy="330200"/>
          </a:xfrm>
          <a:prstGeom prst="homePlate">
            <a:avLst>
              <a:gd name="adj" fmla="val 35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ITA/ITB</a:t>
            </a:r>
          </a:p>
        </p:txBody>
      </p:sp>
      <p:sp>
        <p:nvSpPr>
          <p:cNvPr id="70" name="Step6">
            <a:extLst>
              <a:ext uri="{FF2B5EF4-FFF2-40B4-BE49-F238E27FC236}">
                <a16:creationId xmlns:a16="http://schemas.microsoft.com/office/drawing/2014/main" id="{713DBBF7-BC9C-4B59-FF45-14CAAC6B8090}"/>
              </a:ext>
            </a:extLst>
          </p:cNvPr>
          <p:cNvSpPr/>
          <p:nvPr/>
        </p:nvSpPr>
        <p:spPr>
          <a:xfrm>
            <a:off x="10908104" y="3961259"/>
            <a:ext cx="952500" cy="3302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sz="800" b="1" dirty="0">
                <a:solidFill>
                  <a:schemeClr val="bg1"/>
                </a:solidFill>
                <a:latin typeface="Meiryo UI"/>
                <a:ea typeface="Meiryo UI"/>
              </a:rPr>
              <a:t>ST</a:t>
            </a:r>
          </a:p>
        </p:txBody>
      </p:sp>
      <p:sp>
        <p:nvSpPr>
          <p:cNvPr id="71" name="Step5">
            <a:extLst>
              <a:ext uri="{FF2B5EF4-FFF2-40B4-BE49-F238E27FC236}">
                <a16:creationId xmlns:a16="http://schemas.microsoft.com/office/drawing/2014/main" id="{330B888B-ABAB-80B9-E6C6-3B9734D5E337}"/>
              </a:ext>
            </a:extLst>
          </p:cNvPr>
          <p:cNvSpPr/>
          <p:nvPr/>
        </p:nvSpPr>
        <p:spPr>
          <a:xfrm>
            <a:off x="6854354" y="2764117"/>
            <a:ext cx="731445" cy="3302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altLang="en-US" sz="1000" b="1" dirty="0">
                <a:solidFill>
                  <a:schemeClr val="accent1"/>
                </a:solidFill>
                <a:latin typeface="Meiryo UI"/>
                <a:ea typeface="Meiryo UI"/>
              </a:rPr>
              <a:t>スキル</a:t>
            </a:r>
            <a:endParaRPr lang="ja-JP" sz="1000" b="1" dirty="0">
              <a:solidFill>
                <a:schemeClr val="accent1"/>
              </a:solidFill>
              <a:latin typeface="Meiryo UI"/>
              <a:ea typeface="Meiryo UI"/>
            </a:endParaRPr>
          </a:p>
        </p:txBody>
      </p:sp>
      <p:sp>
        <p:nvSpPr>
          <p:cNvPr id="72" name="Step5">
            <a:extLst>
              <a:ext uri="{FF2B5EF4-FFF2-40B4-BE49-F238E27FC236}">
                <a16:creationId xmlns:a16="http://schemas.microsoft.com/office/drawing/2014/main" id="{F8A816FF-54C7-C65D-9560-97475E6B718A}"/>
              </a:ext>
            </a:extLst>
          </p:cNvPr>
          <p:cNvSpPr/>
          <p:nvPr/>
        </p:nvSpPr>
        <p:spPr>
          <a:xfrm>
            <a:off x="7786608" y="2764117"/>
            <a:ext cx="731445" cy="3302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altLang="en-US" sz="1000" b="1" dirty="0">
                <a:solidFill>
                  <a:schemeClr val="accent1"/>
                </a:solidFill>
                <a:latin typeface="Meiryo UI"/>
                <a:ea typeface="Meiryo UI"/>
              </a:rPr>
              <a:t>テンプレート</a:t>
            </a:r>
            <a:endParaRPr lang="ja-JP" sz="1000" b="1" dirty="0">
              <a:solidFill>
                <a:schemeClr val="accent1"/>
              </a:solidFill>
              <a:latin typeface="Meiryo UI"/>
              <a:ea typeface="Meiryo UI"/>
            </a:endParaRPr>
          </a:p>
        </p:txBody>
      </p:sp>
      <p:sp>
        <p:nvSpPr>
          <p:cNvPr id="73" name="Step5">
            <a:extLst>
              <a:ext uri="{FF2B5EF4-FFF2-40B4-BE49-F238E27FC236}">
                <a16:creationId xmlns:a16="http://schemas.microsoft.com/office/drawing/2014/main" id="{EE7B5D16-4896-367D-B517-067900065248}"/>
              </a:ext>
            </a:extLst>
          </p:cNvPr>
          <p:cNvSpPr/>
          <p:nvPr/>
        </p:nvSpPr>
        <p:spPr>
          <a:xfrm>
            <a:off x="8773435" y="2764117"/>
            <a:ext cx="731445" cy="3302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altLang="en-US" sz="1000" b="1" dirty="0">
                <a:solidFill>
                  <a:schemeClr val="accent1"/>
                </a:solidFill>
                <a:latin typeface="Meiryo UI"/>
                <a:ea typeface="Meiryo UI"/>
              </a:rPr>
              <a:t>スクリプト</a:t>
            </a:r>
            <a:endParaRPr lang="ja-JP" sz="1000" b="1" dirty="0">
              <a:solidFill>
                <a:schemeClr val="accent1"/>
              </a:solidFill>
              <a:latin typeface="Meiryo UI"/>
              <a:ea typeface="Meiryo UI"/>
            </a:endParaRPr>
          </a:p>
        </p:txBody>
      </p:sp>
      <p:sp>
        <p:nvSpPr>
          <p:cNvPr id="74" name="Step5">
            <a:extLst>
              <a:ext uri="{FF2B5EF4-FFF2-40B4-BE49-F238E27FC236}">
                <a16:creationId xmlns:a16="http://schemas.microsoft.com/office/drawing/2014/main" id="{A496A2F2-6779-6287-6A0A-FF4F98FA7219}"/>
              </a:ext>
            </a:extLst>
          </p:cNvPr>
          <p:cNvSpPr/>
          <p:nvPr/>
        </p:nvSpPr>
        <p:spPr>
          <a:xfrm>
            <a:off x="9700535" y="2764117"/>
            <a:ext cx="731445" cy="3302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ja-JP" altLang="en-US" sz="1000" b="1" dirty="0">
                <a:solidFill>
                  <a:schemeClr val="accent1"/>
                </a:solidFill>
                <a:latin typeface="Meiryo UI"/>
                <a:ea typeface="Meiryo UI"/>
              </a:rPr>
              <a:t>ルール</a:t>
            </a:r>
            <a:endParaRPr lang="ja-JP" sz="1000" b="1" dirty="0">
              <a:solidFill>
                <a:schemeClr val="accent1"/>
              </a:solidFill>
              <a:latin typeface="Meiryo UI"/>
              <a:ea typeface="Meiryo UI"/>
            </a:endParaRPr>
          </a:p>
        </p:txBody>
      </p:sp>
      <p:sp>
        <p:nvSpPr>
          <p:cNvPr id="75" name="Stat2030_BG">
            <a:extLst>
              <a:ext uri="{FF2B5EF4-FFF2-40B4-BE49-F238E27FC236}">
                <a16:creationId xmlns:a16="http://schemas.microsoft.com/office/drawing/2014/main" id="{38B3D766-1E81-0A5F-6ED1-306A2BF7B1F6}"/>
              </a:ext>
            </a:extLst>
          </p:cNvPr>
          <p:cNvSpPr/>
          <p:nvPr/>
        </p:nvSpPr>
        <p:spPr>
          <a:xfrm>
            <a:off x="7679186" y="3387602"/>
            <a:ext cx="2692400" cy="46432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en-US" altLang="ja-JP" sz="1200" b="1" dirty="0">
                <a:solidFill>
                  <a:srgbClr val="FF9966"/>
                </a:solidFill>
              </a:rPr>
              <a:t>KP</a:t>
            </a:r>
            <a:r>
              <a:rPr lang="ja-JP" altLang="en-US" sz="1200" b="1" dirty="0">
                <a:solidFill>
                  <a:srgbClr val="FF9966"/>
                </a:solidFill>
              </a:rPr>
              <a:t>ローカライズ</a:t>
            </a:r>
            <a:endParaRPr lang="en-US" altLang="ja-JP" sz="1200" b="1" dirty="0">
              <a:solidFill>
                <a:srgbClr val="FF9966"/>
              </a:solidFill>
            </a:endParaRPr>
          </a:p>
          <a:p>
            <a:pPr algn="ctr"/>
            <a:r>
              <a:rPr lang="ja-JP" altLang="en-US" sz="1200" b="1" dirty="0">
                <a:solidFill>
                  <a:srgbClr val="FF9966"/>
                </a:solidFill>
              </a:rPr>
              <a:t>カスタマイズ</a:t>
            </a:r>
            <a:endParaRPr sz="1200" b="1" dirty="0">
              <a:solidFill>
                <a:srgbClr val="FF9966"/>
              </a:solidFill>
            </a:endParaRPr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A8FC80B1-C005-53C1-4120-BF7CC5F2E288}"/>
              </a:ext>
            </a:extLst>
          </p:cNvPr>
          <p:cNvSpPr/>
          <p:nvPr/>
        </p:nvSpPr>
        <p:spPr>
          <a:xfrm rot="10800000">
            <a:off x="8016867" y="3455406"/>
            <a:ext cx="372274" cy="29857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RightBotTitle">
            <a:extLst>
              <a:ext uri="{FF2B5EF4-FFF2-40B4-BE49-F238E27FC236}">
                <a16:creationId xmlns:a16="http://schemas.microsoft.com/office/drawing/2014/main" id="{DA4CED17-11FF-2B45-44B6-8F3696754E86}"/>
              </a:ext>
            </a:extLst>
          </p:cNvPr>
          <p:cNvSpPr txBox="1"/>
          <p:nvPr/>
        </p:nvSpPr>
        <p:spPr>
          <a:xfrm>
            <a:off x="7113760" y="4434394"/>
            <a:ext cx="4289019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altLang="ja-JP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4</a:t>
            </a:r>
            <a:r>
              <a:rPr lang="ja-JP" altLang="en-US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月時点で</a:t>
            </a:r>
            <a:r>
              <a:rPr lang="en-US" altLang="ja-JP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POC+</a:t>
            </a:r>
            <a:r>
              <a:rPr lang="en-US" altLang="ja-JP" sz="1600" dirty="0">
                <a:solidFill>
                  <a:schemeClr val="accent1"/>
                </a:solidFill>
                <a:ea typeface="Meiryo UI"/>
              </a:rPr>
              <a:t>KP</a:t>
            </a:r>
            <a:r>
              <a:rPr lang="ja-JP" altLang="en-US" sz="1600" dirty="0">
                <a:solidFill>
                  <a:schemeClr val="accent1"/>
                </a:solidFill>
                <a:ea typeface="Meiryo UI"/>
              </a:rPr>
              <a:t>次世代標準作成</a:t>
            </a:r>
            <a:r>
              <a:rPr lang="en-US" altLang="ja-JP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PJ</a:t>
            </a:r>
            <a:r>
              <a:rPr lang="ja-JP" altLang="en-US" sz="1600" dirty="0">
                <a:solidFill>
                  <a:schemeClr val="bg1">
                    <a:lumMod val="50000"/>
                  </a:schemeClr>
                </a:solidFill>
                <a:ea typeface="Meiryo UI"/>
              </a:rPr>
              <a:t>進行中</a:t>
            </a:r>
            <a:endParaRPr lang="ja-JP" sz="1200" b="0" dirty="0">
              <a:solidFill>
                <a:schemeClr val="bg1">
                  <a:lumMod val="50000"/>
                </a:schemeClr>
              </a:solidFill>
              <a:latin typeface="Meiryo UI"/>
            </a:endParaRPr>
          </a:p>
        </p:txBody>
      </p:sp>
      <p:sp>
        <p:nvSpPr>
          <p:cNvPr id="78" name="Step5">
            <a:extLst>
              <a:ext uri="{FF2B5EF4-FFF2-40B4-BE49-F238E27FC236}">
                <a16:creationId xmlns:a16="http://schemas.microsoft.com/office/drawing/2014/main" id="{5C687232-5512-0669-93EC-DD0520356CF3}"/>
              </a:ext>
            </a:extLst>
          </p:cNvPr>
          <p:cNvSpPr/>
          <p:nvPr/>
        </p:nvSpPr>
        <p:spPr>
          <a:xfrm>
            <a:off x="10567692" y="2764117"/>
            <a:ext cx="731445" cy="3302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chemeClr val="accent1"/>
                </a:solidFill>
                <a:latin typeface="Meiryo UI"/>
                <a:ea typeface="Meiryo UI"/>
              </a:rPr>
              <a:t>Workflow</a:t>
            </a:r>
            <a:endParaRPr lang="ja-JP" sz="1000" b="1" dirty="0">
              <a:solidFill>
                <a:schemeClr val="accent1"/>
              </a:solidFill>
              <a:latin typeface="Meiryo UI"/>
              <a:ea typeface="Meiryo UI"/>
            </a:endParaRPr>
          </a:p>
        </p:txBody>
      </p:sp>
      <p:sp>
        <p:nvSpPr>
          <p:cNvPr id="81" name="SummaryBG">
            <a:extLst>
              <a:ext uri="{FF2B5EF4-FFF2-40B4-BE49-F238E27FC236}">
                <a16:creationId xmlns:a16="http://schemas.microsoft.com/office/drawing/2014/main" id="{88F8ABD6-85FB-19D8-6D9A-A6E763FBC0E0}"/>
              </a:ext>
            </a:extLst>
          </p:cNvPr>
          <p:cNvSpPr/>
          <p:nvPr/>
        </p:nvSpPr>
        <p:spPr>
          <a:xfrm>
            <a:off x="237909" y="5029200"/>
            <a:ext cx="11735400" cy="1752600"/>
          </a:xfrm>
          <a:prstGeom prst="roundRect">
            <a:avLst>
              <a:gd name="adj" fmla="val 3000"/>
            </a:avLst>
          </a:prstGeom>
          <a:solidFill>
            <a:srgbClr val="F0F4F4"/>
          </a:solidFill>
          <a:ln w="12700">
            <a:solidFill>
              <a:srgbClr val="0ABAB5"/>
            </a:solidFill>
          </a:ln>
        </p:spPr>
        <p:txBody>
          <a:bodyPr wrap="square" lIns="0" tIns="0" rIns="0" bIns="0"/>
          <a:lstStyle/>
          <a:p>
            <a:endParaRPr lang="ja-JP" dirty="0"/>
          </a:p>
        </p:txBody>
      </p:sp>
      <p:sp>
        <p:nvSpPr>
          <p:cNvPr id="82" name="AccentBar">
            <a:extLst>
              <a:ext uri="{FF2B5EF4-FFF2-40B4-BE49-F238E27FC236}">
                <a16:creationId xmlns:a16="http://schemas.microsoft.com/office/drawing/2014/main" id="{580D0E05-5892-605C-AA92-57450EE7ABAB}"/>
              </a:ext>
            </a:extLst>
          </p:cNvPr>
          <p:cNvSpPr/>
          <p:nvPr/>
        </p:nvSpPr>
        <p:spPr>
          <a:xfrm>
            <a:off x="228600" y="5029200"/>
            <a:ext cx="63500" cy="1752600"/>
          </a:xfrm>
          <a:prstGeom prst="roundRect">
            <a:avLst>
              <a:gd name="adj" fmla="val 50000"/>
            </a:avLst>
          </a:prstGeom>
          <a:solidFill>
            <a:srgbClr val="0ABAB5"/>
          </a:solidFill>
          <a:ln>
            <a:noFill/>
          </a:ln>
        </p:spPr>
        <p:txBody>
          <a:bodyPr wrap="square"/>
          <a:lstStyle/>
          <a:p>
            <a:endParaRPr lang="ja-JP" dirty="0"/>
          </a:p>
        </p:txBody>
      </p:sp>
      <p:sp>
        <p:nvSpPr>
          <p:cNvPr id="83" name="SummaryTitle">
            <a:extLst>
              <a:ext uri="{FF2B5EF4-FFF2-40B4-BE49-F238E27FC236}">
                <a16:creationId xmlns:a16="http://schemas.microsoft.com/office/drawing/2014/main" id="{89EBEA16-A656-AB25-EE2F-95BD8252CBB1}"/>
              </a:ext>
            </a:extLst>
          </p:cNvPr>
          <p:cNvSpPr/>
          <p:nvPr/>
        </p:nvSpPr>
        <p:spPr>
          <a:xfrm>
            <a:off x="381000" y="5105400"/>
            <a:ext cx="5214042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ja-JP" sz="2000" b="1" dirty="0">
                <a:solidFill>
                  <a:srgbClr val="008B85"/>
                </a:solidFill>
                <a:latin typeface="Meiryo UI"/>
                <a:ea typeface="Meiryo UI"/>
              </a:rPr>
              <a:t>共通する本質：Spec駆動型開発</a:t>
            </a:r>
          </a:p>
        </p:txBody>
      </p:sp>
      <p:sp>
        <p:nvSpPr>
          <p:cNvPr id="84" name="SummaryBody">
            <a:extLst>
              <a:ext uri="{FF2B5EF4-FFF2-40B4-BE49-F238E27FC236}">
                <a16:creationId xmlns:a16="http://schemas.microsoft.com/office/drawing/2014/main" id="{86A2ECC6-DC70-C3B9-5422-A0BB92B59E5E}"/>
              </a:ext>
            </a:extLst>
          </p:cNvPr>
          <p:cNvSpPr/>
          <p:nvPr/>
        </p:nvSpPr>
        <p:spPr>
          <a:xfrm>
            <a:off x="508000" y="5410199"/>
            <a:ext cx="11506800" cy="1316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ja-JP" dirty="0">
                <a:solidFill>
                  <a:schemeClr val="tx2"/>
                </a:solidFill>
                <a:latin typeface="Meiryo UI"/>
                <a:ea typeface="Meiryo UI"/>
              </a:rPr>
              <a:t>各工程の成果物を「後工程やAIに渡せる仕様」として定義する考え方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en-US" altLang="ja-JP" dirty="0">
                <a:solidFill>
                  <a:schemeClr val="tx2"/>
                </a:solidFill>
                <a:latin typeface="Meiryo UI"/>
                <a:ea typeface="Meiryo UI"/>
              </a:rPr>
              <a:t>WF</a:t>
            </a:r>
            <a:r>
              <a:rPr lang="ja-JP" altLang="en-US" dirty="0">
                <a:solidFill>
                  <a:schemeClr val="tx2"/>
                </a:solidFill>
                <a:latin typeface="Meiryo UI"/>
                <a:ea typeface="Meiryo UI"/>
              </a:rPr>
              <a:t>から乖離しない形で各工程成果物のユーザーレビューを行う</a:t>
            </a:r>
            <a:endParaRPr lang="ja-JP" dirty="0">
              <a:solidFill>
                <a:schemeClr val="tx2"/>
              </a:solidFill>
              <a:latin typeface="Meiryo UI"/>
              <a:ea typeface="Meiryo UI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ja-JP" dirty="0">
                <a:solidFill>
                  <a:schemeClr val="tx2"/>
                </a:solidFill>
                <a:latin typeface="Meiryo UI"/>
                <a:ea typeface="Meiryo UI"/>
              </a:rPr>
              <a:t>「人がすべて手を動かす開発」→「人が仕様と判断を担い、AIが実行を担う開発」へ</a:t>
            </a:r>
          </a:p>
        </p:txBody>
      </p:sp>
      <p:graphicFrame>
        <p:nvGraphicFramePr>
          <p:cNvPr id="19" name="図表 18">
            <a:extLst>
              <a:ext uri="{FF2B5EF4-FFF2-40B4-BE49-F238E27FC236}">
                <a16:creationId xmlns:a16="http://schemas.microsoft.com/office/drawing/2014/main" id="{6ABECDFA-CA81-26C5-0C6F-416DEBE5A224}"/>
              </a:ext>
            </a:extLst>
          </p:cNvPr>
          <p:cNvGraphicFramePr/>
          <p:nvPr/>
        </p:nvGraphicFramePr>
        <p:xfrm>
          <a:off x="8518053" y="5058853"/>
          <a:ext cx="3467683" cy="1706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C04C7FE-1153-AB37-5E55-AF199CEB415E}"/>
              </a:ext>
            </a:extLst>
          </p:cNvPr>
          <p:cNvCxnSpPr/>
          <p:nvPr/>
        </p:nvCxnSpPr>
        <p:spPr>
          <a:xfrm>
            <a:off x="9700535" y="5896303"/>
            <a:ext cx="867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geNum">
            <a:extLst>
              <a:ext uri="{FF2B5EF4-FFF2-40B4-BE49-F238E27FC236}">
                <a16:creationId xmlns:a16="http://schemas.microsoft.com/office/drawing/2014/main" id="{15903216-D376-4CF3-A219-28E0AD817254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2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413255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BBE919-70E5-49BE-C6FF-168379C07A51}"/>
              </a:ext>
            </a:extLst>
          </p:cNvPr>
          <p:cNvSpPr txBox="1"/>
          <p:nvPr/>
        </p:nvSpPr>
        <p:spPr>
          <a:xfrm>
            <a:off x="0" y="0"/>
            <a:ext cx="452755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kumimoji="1" lang="en-US" altLang="ja-JP" dirty="0">
              <a:solidFill>
                <a:schemeClr val="bg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898AD97-300E-C3EA-2536-1D8C9461A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64" y="331246"/>
            <a:ext cx="10421871" cy="6526753"/>
          </a:xfrm>
          <a:prstGeom prst="rect">
            <a:avLst/>
          </a:prstGeom>
        </p:spPr>
      </p:pic>
      <p:sp>
        <p:nvSpPr>
          <p:cNvPr id="14" name="PageNum">
            <a:extLst>
              <a:ext uri="{FF2B5EF4-FFF2-40B4-BE49-F238E27FC236}">
                <a16:creationId xmlns:a16="http://schemas.microsoft.com/office/drawing/2014/main" id="{B03952B3-DF4A-4B2E-872E-BE15C54DF180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3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  <p:sp>
        <p:nvSpPr>
          <p:cNvPr id="3" name="Header">
            <a:extLst>
              <a:ext uri="{FF2B5EF4-FFF2-40B4-BE49-F238E27FC236}">
                <a16:creationId xmlns:a16="http://schemas.microsoft.com/office/drawing/2014/main" id="{E5907F3B-B788-4963-C377-B7B923CC42CD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ja-JP" sz="1400" b="1" dirty="0">
                <a:solidFill>
                  <a:schemeClr val="bg1"/>
                </a:solidFill>
                <a:latin typeface="Meiryo UI"/>
              </a:rPr>
              <a:t>0</a:t>
            </a:r>
            <a:r>
              <a:rPr lang="en-US" altLang="ja-JP" sz="1400" b="1" dirty="0">
                <a:solidFill>
                  <a:schemeClr val="bg1"/>
                </a:solidFill>
                <a:latin typeface="Meiryo UI"/>
              </a:rPr>
              <a:t>1. </a:t>
            </a:r>
            <a:r>
              <a:rPr lang="ja-JP" altLang="en-US" sz="1400" b="1" dirty="0">
                <a:solidFill>
                  <a:schemeClr val="bg1"/>
                </a:solidFill>
              </a:rPr>
              <a:t>現状各案件で進めてる開発プロセス変革</a:t>
            </a:r>
            <a:endParaRPr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72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DA2CB-E1DC-7559-9EDD-7C6F2340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WarnCard">
            <a:extLst>
              <a:ext uri="{FF2B5EF4-FFF2-40B4-BE49-F238E27FC236}">
                <a16:creationId xmlns:a16="http://schemas.microsoft.com/office/drawing/2014/main" id="{5D8FEDD4-0246-452E-AF0E-D92ACB15641F}"/>
              </a:ext>
            </a:extLst>
          </p:cNvPr>
          <p:cNvSpPr/>
          <p:nvPr/>
        </p:nvSpPr>
        <p:spPr>
          <a:xfrm>
            <a:off x="889000" y="5158872"/>
            <a:ext cx="10871200" cy="1274011"/>
          </a:xfrm>
          <a:prstGeom prst="rect">
            <a:avLst/>
          </a:prstGeom>
          <a:solidFill>
            <a:srgbClr val="FFF5F5"/>
          </a:solidFill>
          <a:ln w="12700" cap="flat" cmpd="sng" algn="ctr">
            <a:solidFill>
              <a:srgbClr val="F2C4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00478B2-3F76-69E6-9291-B43A0765E16F}"/>
              </a:ext>
            </a:extLst>
          </p:cNvPr>
          <p:cNvSpPr txBox="1"/>
          <p:nvPr/>
        </p:nvSpPr>
        <p:spPr>
          <a:xfrm>
            <a:off x="0" y="0"/>
            <a:ext cx="452755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6" name="LeadCard">
            <a:extLst>
              <a:ext uri="{FF2B5EF4-FFF2-40B4-BE49-F238E27FC236}">
                <a16:creationId xmlns:a16="http://schemas.microsoft.com/office/drawing/2014/main" id="{36B90234-155F-4BC6-8A78-50274A8BA4C0}"/>
              </a:ext>
            </a:extLst>
          </p:cNvPr>
          <p:cNvSpPr/>
          <p:nvPr/>
        </p:nvSpPr>
        <p:spPr>
          <a:xfrm>
            <a:off x="889000" y="508000"/>
            <a:ext cx="10871200" cy="965200"/>
          </a:xfrm>
          <a:prstGeom prst="rect">
            <a:avLst/>
          </a:prstGeom>
          <a:solidFill>
            <a:srgbClr val="F0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Card1">
            <a:extLst>
              <a:ext uri="{FF2B5EF4-FFF2-40B4-BE49-F238E27FC236}">
                <a16:creationId xmlns:a16="http://schemas.microsoft.com/office/drawing/2014/main" id="{016803F2-43C3-48E6-A5AC-5F13A380F6ED}"/>
              </a:ext>
            </a:extLst>
          </p:cNvPr>
          <p:cNvSpPr/>
          <p:nvPr/>
        </p:nvSpPr>
        <p:spPr>
          <a:xfrm>
            <a:off x="953168" y="2180389"/>
            <a:ext cx="10472478" cy="431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2DF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558800" tIns="36000" rIns="152400" bIns="36000" rtlCol="0" anchor="ctr" anchorCtr="0">
            <a:noAutofit/>
          </a:bodyPr>
          <a:lstStyle/>
          <a:p>
            <a:pPr algn="l"/>
            <a:r>
              <a:rPr lang="en-US" altLang="ja-JP" sz="1500" dirty="0">
                <a:solidFill>
                  <a:srgbClr val="1A2332"/>
                </a:solidFill>
                <a:latin typeface="Meiryo UI"/>
                <a:ea typeface="Meiryo UI"/>
              </a:rPr>
              <a:t>Google</a:t>
            </a:r>
            <a:r>
              <a:rPr lang="ja-JP" altLang="en-US" sz="1500" dirty="0">
                <a:solidFill>
                  <a:srgbClr val="1A2332"/>
                </a:solidFill>
                <a:latin typeface="Meiryo UI"/>
                <a:ea typeface="Meiryo UI"/>
              </a:rPr>
              <a:t>上位版のように知りたい事を回答してもらう</a:t>
            </a:r>
          </a:p>
        </p:txBody>
      </p:sp>
      <p:sp>
        <p:nvSpPr>
          <p:cNvPr id="12" name="Card2">
            <a:extLst>
              <a:ext uri="{FF2B5EF4-FFF2-40B4-BE49-F238E27FC236}">
                <a16:creationId xmlns:a16="http://schemas.microsoft.com/office/drawing/2014/main" id="{44468EF3-EF66-4D73-850C-D52C618F583B}"/>
              </a:ext>
            </a:extLst>
          </p:cNvPr>
          <p:cNvSpPr/>
          <p:nvPr/>
        </p:nvSpPr>
        <p:spPr>
          <a:xfrm>
            <a:off x="953168" y="2726489"/>
            <a:ext cx="10472478" cy="431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2DF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558800" tIns="36000" rIns="152400" bIns="36000" rtlCol="0" anchor="ctr" anchorCtr="0">
            <a:noAutofit/>
          </a:bodyPr>
          <a:lstStyle/>
          <a:p>
            <a:pPr algn="l"/>
            <a:r>
              <a:rPr lang="ja-JP" altLang="en-US" sz="1500">
                <a:solidFill>
                  <a:srgbClr val="1A2332"/>
                </a:solidFill>
                <a:latin typeface="Meiryo UI"/>
                <a:ea typeface="Meiryo UI"/>
              </a:rPr>
              <a:t>コーディングチェックシートチェックを</a:t>
            </a:r>
            <a:r>
              <a:rPr lang="en-US" altLang="ja-JP" sz="1500">
                <a:solidFill>
                  <a:srgbClr val="1A2332"/>
                </a:solidFill>
                <a:latin typeface="Meiryo UI"/>
                <a:ea typeface="Meiryo UI"/>
              </a:rPr>
              <a:t>AI</a:t>
            </a:r>
            <a:r>
              <a:rPr lang="ja-JP" altLang="en-US" sz="1500">
                <a:solidFill>
                  <a:srgbClr val="1A2332"/>
                </a:solidFill>
                <a:latin typeface="Meiryo UI"/>
                <a:ea typeface="Meiryo UI"/>
              </a:rPr>
              <a:t>に実行</a:t>
            </a:r>
          </a:p>
        </p:txBody>
      </p:sp>
      <p:sp>
        <p:nvSpPr>
          <p:cNvPr id="13" name="Card3">
            <a:extLst>
              <a:ext uri="{FF2B5EF4-FFF2-40B4-BE49-F238E27FC236}">
                <a16:creationId xmlns:a16="http://schemas.microsoft.com/office/drawing/2014/main" id="{921028A3-6064-4AFC-9B7E-8D75BEAA1EA4}"/>
              </a:ext>
            </a:extLst>
          </p:cNvPr>
          <p:cNvSpPr/>
          <p:nvPr/>
        </p:nvSpPr>
        <p:spPr>
          <a:xfrm>
            <a:off x="953168" y="3272589"/>
            <a:ext cx="10472478" cy="431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2DF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558800" tIns="36000" rIns="152400" bIns="36000" rtlCol="0" anchor="ctr" anchorCtr="0">
            <a:noAutofit/>
          </a:bodyPr>
          <a:lstStyle/>
          <a:p>
            <a:pPr algn="l"/>
            <a:r>
              <a:rPr lang="ja-JP" altLang="en-US" sz="1500" dirty="0">
                <a:solidFill>
                  <a:srgbClr val="1A2332"/>
                </a:solidFill>
                <a:latin typeface="Meiryo UI"/>
                <a:ea typeface="Meiryo UI"/>
              </a:rPr>
              <a:t>アプリ共通等の部品のサンプルコードを生成させる</a:t>
            </a:r>
          </a:p>
        </p:txBody>
      </p:sp>
      <p:sp>
        <p:nvSpPr>
          <p:cNvPr id="14" name="Card4">
            <a:extLst>
              <a:ext uri="{FF2B5EF4-FFF2-40B4-BE49-F238E27FC236}">
                <a16:creationId xmlns:a16="http://schemas.microsoft.com/office/drawing/2014/main" id="{09CEB840-49B9-46B1-8398-1DBE29C413AE}"/>
              </a:ext>
            </a:extLst>
          </p:cNvPr>
          <p:cNvSpPr/>
          <p:nvPr/>
        </p:nvSpPr>
        <p:spPr>
          <a:xfrm>
            <a:off x="953168" y="3818689"/>
            <a:ext cx="10472478" cy="431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2DF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558800" tIns="36000" rIns="152400" bIns="36000" rtlCol="0" anchor="ctr" anchorCtr="0">
            <a:noAutofit/>
          </a:bodyPr>
          <a:lstStyle/>
          <a:p>
            <a:pPr algn="l"/>
            <a:r>
              <a:rPr lang="ja-JP" altLang="en-US" sz="1500">
                <a:solidFill>
                  <a:srgbClr val="1A2332"/>
                </a:solidFill>
                <a:latin typeface="Meiryo UI"/>
                <a:ea typeface="Meiryo UI"/>
              </a:rPr>
              <a:t>影響調査・修正方針の策定</a:t>
            </a:r>
          </a:p>
        </p:txBody>
      </p:sp>
      <p:sp>
        <p:nvSpPr>
          <p:cNvPr id="15" name="Card5">
            <a:extLst>
              <a:ext uri="{FF2B5EF4-FFF2-40B4-BE49-F238E27FC236}">
                <a16:creationId xmlns:a16="http://schemas.microsoft.com/office/drawing/2014/main" id="{A1993724-4D56-4B53-8507-8FD1E959379B}"/>
              </a:ext>
            </a:extLst>
          </p:cNvPr>
          <p:cNvSpPr/>
          <p:nvPr/>
        </p:nvSpPr>
        <p:spPr>
          <a:xfrm>
            <a:off x="953168" y="4364789"/>
            <a:ext cx="10472478" cy="431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2DF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558800" tIns="36000" rIns="152400" bIns="36000" rtlCol="0" anchor="ctr" anchorCtr="0">
            <a:noAutofit/>
          </a:bodyPr>
          <a:lstStyle/>
          <a:p>
            <a:pPr algn="l"/>
            <a:r>
              <a:rPr lang="en-US" altLang="ja-JP" sz="1500">
                <a:solidFill>
                  <a:srgbClr val="1A2332"/>
                </a:solidFill>
                <a:latin typeface="Meiryo UI"/>
                <a:ea typeface="Meiryo UI"/>
              </a:rPr>
              <a:t>PJ</a:t>
            </a:r>
            <a:r>
              <a:rPr lang="ja-JP" altLang="en-US" sz="1500">
                <a:solidFill>
                  <a:srgbClr val="1A2332"/>
                </a:solidFill>
                <a:latin typeface="Meiryo UI"/>
                <a:ea typeface="Meiryo UI"/>
              </a:rPr>
              <a:t>便利</a:t>
            </a:r>
            <a:r>
              <a:rPr lang="en-US" altLang="ja-JP" sz="1500">
                <a:solidFill>
                  <a:srgbClr val="1A2332"/>
                </a:solidFill>
                <a:latin typeface="Meiryo UI"/>
                <a:ea typeface="Meiryo UI"/>
              </a:rPr>
              <a:t>Python</a:t>
            </a:r>
            <a:r>
              <a:rPr lang="ja-JP" altLang="en-US" sz="1500">
                <a:solidFill>
                  <a:srgbClr val="1A2332"/>
                </a:solidFill>
                <a:latin typeface="Meiryo UI"/>
                <a:ea typeface="Meiryo UI"/>
              </a:rPr>
              <a:t>ツール作成</a:t>
            </a:r>
          </a:p>
        </p:txBody>
      </p:sp>
      <p:sp>
        <p:nvSpPr>
          <p:cNvPr id="8" name="LeadBar">
            <a:extLst>
              <a:ext uri="{FF2B5EF4-FFF2-40B4-BE49-F238E27FC236}">
                <a16:creationId xmlns:a16="http://schemas.microsoft.com/office/drawing/2014/main" id="{0D306C65-D6F2-4A87-834A-22CF29A945D8}"/>
              </a:ext>
            </a:extLst>
          </p:cNvPr>
          <p:cNvSpPr/>
          <p:nvPr/>
        </p:nvSpPr>
        <p:spPr>
          <a:xfrm>
            <a:off x="889000" y="508000"/>
            <a:ext cx="76200" cy="965200"/>
          </a:xfrm>
          <a:prstGeom prst="rect">
            <a:avLst/>
          </a:prstGeom>
          <a:solidFill>
            <a:srgbClr val="0ABA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HeadBar">
            <a:extLst>
              <a:ext uri="{FF2B5EF4-FFF2-40B4-BE49-F238E27FC236}">
                <a16:creationId xmlns:a16="http://schemas.microsoft.com/office/drawing/2014/main" id="{B109D7DC-2ACC-4096-A470-75920C54DF2B}"/>
              </a:ext>
            </a:extLst>
          </p:cNvPr>
          <p:cNvSpPr/>
          <p:nvPr/>
        </p:nvSpPr>
        <p:spPr>
          <a:xfrm>
            <a:off x="889000" y="1651000"/>
            <a:ext cx="76200" cy="304800"/>
          </a:xfrm>
          <a:prstGeom prst="rect">
            <a:avLst/>
          </a:prstGeom>
          <a:solidFill>
            <a:srgbClr val="008B8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7" name="WarnBar">
            <a:extLst>
              <a:ext uri="{FF2B5EF4-FFF2-40B4-BE49-F238E27FC236}">
                <a16:creationId xmlns:a16="http://schemas.microsoft.com/office/drawing/2014/main" id="{266B1491-B835-48C7-BEAB-376B68CC5C10}"/>
              </a:ext>
            </a:extLst>
          </p:cNvPr>
          <p:cNvSpPr/>
          <p:nvPr/>
        </p:nvSpPr>
        <p:spPr>
          <a:xfrm>
            <a:off x="889000" y="5158872"/>
            <a:ext cx="76200" cy="1274011"/>
          </a:xfrm>
          <a:prstGeom prst="rect">
            <a:avLst/>
          </a:prstGeom>
          <a:solidFill>
            <a:srgbClr val="D930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67FF8B-DC7E-F537-AC35-AC225EAF3D76}"/>
              </a:ext>
            </a:extLst>
          </p:cNvPr>
          <p:cNvSpPr txBox="1"/>
          <p:nvPr/>
        </p:nvSpPr>
        <p:spPr>
          <a:xfrm>
            <a:off x="1092200" y="647437"/>
            <a:ext cx="10414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chemeClr val="accent2"/>
                </a:solidFill>
              </a:rPr>
              <a:t>前述の主要な案件以外にも・・</a:t>
            </a:r>
            <a:endParaRPr lang="en-US" altLang="ja-JP" b="1" dirty="0">
              <a:solidFill>
                <a:schemeClr val="accent2"/>
              </a:solidFill>
            </a:endParaRPr>
          </a:p>
          <a:p>
            <a:r>
              <a:rPr kumimoji="1" lang="en-US" altLang="ja-JP" sz="1700" dirty="0"/>
              <a:t>AI</a:t>
            </a:r>
            <a:r>
              <a:rPr kumimoji="1" lang="ja-JP" altLang="en-US" sz="1700" dirty="0"/>
              <a:t>を開発支援ツールとして使用できる現場も増えている。</a:t>
            </a:r>
            <a:endParaRPr lang="en-US" altLang="ja-JP" sz="17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E9B6B3-3708-8EF0-6609-AF0CFC525667}"/>
              </a:ext>
            </a:extLst>
          </p:cNvPr>
          <p:cNvSpPr txBox="1"/>
          <p:nvPr/>
        </p:nvSpPr>
        <p:spPr>
          <a:xfrm>
            <a:off x="1168400" y="1625600"/>
            <a:ext cx="5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kumimoji="1" lang="ja-JP" altLang="en-US" sz="1800" b="1" dirty="0">
                <a:solidFill>
                  <a:srgbClr val="008B85"/>
                </a:solidFill>
              </a:rPr>
              <a:t>具体的な活用例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1246AA-E7F1-49C7-5650-A41B4BE79D72}"/>
              </a:ext>
            </a:extLst>
          </p:cNvPr>
          <p:cNvSpPr txBox="1"/>
          <p:nvPr/>
        </p:nvSpPr>
        <p:spPr>
          <a:xfrm>
            <a:off x="1473200" y="5294000"/>
            <a:ext cx="10033000" cy="1066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ja-JP" sz="1500" dirty="0">
                <a:solidFill>
                  <a:srgbClr val="D93025"/>
                </a:solidFill>
              </a:rPr>
              <a:t>※</a:t>
            </a:r>
            <a:r>
              <a:rPr lang="ja-JP" altLang="en-US" sz="1500" dirty="0">
                <a:solidFill>
                  <a:srgbClr val="D93025"/>
                </a:solidFill>
              </a:rPr>
              <a:t>今は過渡期のため</a:t>
            </a:r>
            <a:r>
              <a:rPr kumimoji="1" lang="en-US" altLang="ja-JP" sz="1500" b="1" dirty="0">
                <a:solidFill>
                  <a:srgbClr val="D93025"/>
                </a:solidFill>
              </a:rPr>
              <a:t>PJ</a:t>
            </a:r>
            <a:r>
              <a:rPr lang="ja-JP" altLang="en-US" sz="1500" b="1" dirty="0">
                <a:solidFill>
                  <a:srgbClr val="D93025"/>
                </a:solidFill>
              </a:rPr>
              <a:t>毎にルール</a:t>
            </a:r>
            <a:r>
              <a:rPr lang="ja-JP" altLang="en-US" sz="1500" dirty="0">
                <a:solidFill>
                  <a:srgbClr val="D93025"/>
                </a:solidFill>
              </a:rPr>
              <a:t>が異なります。</a:t>
            </a:r>
            <a:endParaRPr lang="en-US" altLang="ja-JP" sz="1500" dirty="0">
              <a:solidFill>
                <a:srgbClr val="D93025"/>
              </a:solidFill>
            </a:endParaRPr>
          </a:p>
          <a:p>
            <a:r>
              <a:rPr kumimoji="1" lang="ja-JP" altLang="en-US" sz="1500" dirty="0"/>
              <a:t>　どういう使い方は良いのか？</a:t>
            </a:r>
            <a:r>
              <a:rPr kumimoji="1" lang="en-US" altLang="ja-JP" sz="1500" dirty="0"/>
              <a:t>NG</a:t>
            </a:r>
            <a:r>
              <a:rPr kumimoji="1" lang="ja-JP" altLang="en-US" sz="1500" dirty="0"/>
              <a:t>なのか？</a:t>
            </a:r>
            <a:r>
              <a:rPr kumimoji="1" lang="en-US" altLang="ja-JP" sz="1500" dirty="0"/>
              <a:t>PJ</a:t>
            </a:r>
            <a:r>
              <a:rPr kumimoji="1" lang="ja-JP" altLang="en-US" sz="1500" dirty="0"/>
              <a:t>ルールを確認し正確に把握してください。</a:t>
            </a:r>
            <a:endParaRPr kumimoji="1" lang="en-US" altLang="ja-JP" sz="1500" dirty="0"/>
          </a:p>
          <a:p>
            <a:r>
              <a:rPr lang="ja-JP" altLang="en-US" sz="1500" dirty="0"/>
              <a:t>　パートナーについての周知・徹底についても同様となりますので導入時・新規参画時・</a:t>
            </a:r>
            <a:endParaRPr lang="en-US" altLang="ja-JP" sz="1500" dirty="0"/>
          </a:p>
          <a:p>
            <a:r>
              <a:rPr lang="ja-JP" altLang="en-US" sz="1500" dirty="0"/>
              <a:t>　ルール変更時は十分に気を付けてください</a:t>
            </a:r>
            <a:endParaRPr kumimoji="1" lang="en-US" altLang="ja-JP" sz="1500" dirty="0"/>
          </a:p>
        </p:txBody>
      </p:sp>
      <p:pic>
        <p:nvPicPr>
          <p:cNvPr id="19" name="Graphic 19" descr="チェック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968" y="2789989"/>
            <a:ext cx="304800" cy="304800"/>
          </a:xfrm>
          <a:prstGeom prst="rect">
            <a:avLst/>
          </a:prstGeom>
        </p:spPr>
      </p:pic>
      <p:pic>
        <p:nvPicPr>
          <p:cNvPr id="20" name="Graphic 20" descr="コード生成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968" y="3336089"/>
            <a:ext cx="304800" cy="304800"/>
          </a:xfrm>
          <a:prstGeom prst="rect">
            <a:avLst/>
          </a:prstGeom>
        </p:spPr>
      </p:pic>
      <p:pic>
        <p:nvPicPr>
          <p:cNvPr id="21" name="Graphic 21" descr="影響調査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968" y="3882189"/>
            <a:ext cx="304800" cy="304800"/>
          </a:xfrm>
          <a:prstGeom prst="rect">
            <a:avLst/>
          </a:prstGeom>
        </p:spPr>
      </p:pic>
      <p:pic>
        <p:nvPicPr>
          <p:cNvPr id="22" name="Graphic 22" descr="ツール作成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968" y="4428289"/>
            <a:ext cx="304800" cy="304800"/>
          </a:xfrm>
          <a:prstGeom prst="rect">
            <a:avLst/>
          </a:prstGeom>
        </p:spPr>
      </p:pic>
      <p:pic>
        <p:nvPicPr>
          <p:cNvPr id="23" name="Graphic 23" descr="注意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5387472"/>
            <a:ext cx="381000" cy="381000"/>
          </a:xfrm>
          <a:prstGeom prst="rect">
            <a:avLst/>
          </a:prstGeom>
        </p:spPr>
      </p:pic>
      <p:pic>
        <p:nvPicPr>
          <p:cNvPr id="24" name="Graphic 24" descr="質問回答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0968" y="2243889"/>
            <a:ext cx="304800" cy="304800"/>
          </a:xfrm>
          <a:prstGeom prst="rect">
            <a:avLst/>
          </a:prstGeom>
        </p:spPr>
      </p:pic>
      <p:sp>
        <p:nvSpPr>
          <p:cNvPr id="11" name="PageNum">
            <a:extLst>
              <a:ext uri="{FF2B5EF4-FFF2-40B4-BE49-F238E27FC236}">
                <a16:creationId xmlns:a16="http://schemas.microsoft.com/office/drawing/2014/main" id="{530A1554-C46D-45ED-AF25-6463165BE41C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4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  <p:sp>
        <p:nvSpPr>
          <p:cNvPr id="25" name="Header">
            <a:extLst>
              <a:ext uri="{FF2B5EF4-FFF2-40B4-BE49-F238E27FC236}">
                <a16:creationId xmlns:a16="http://schemas.microsoft.com/office/drawing/2014/main" id="{CCC231A3-9678-5BF0-3BC6-D26417B7350D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ja-JP" sz="1400" b="1" dirty="0">
                <a:solidFill>
                  <a:schemeClr val="bg1"/>
                </a:solidFill>
                <a:latin typeface="Meiryo UI"/>
              </a:rPr>
              <a:t>0</a:t>
            </a:r>
            <a:r>
              <a:rPr lang="en-US" altLang="ja-JP" sz="1400" b="1" dirty="0">
                <a:solidFill>
                  <a:schemeClr val="bg1"/>
                </a:solidFill>
                <a:latin typeface="Meiryo UI"/>
              </a:rPr>
              <a:t>1. </a:t>
            </a:r>
            <a:r>
              <a:rPr lang="ja-JP" altLang="en-US" sz="1400" b="1" dirty="0">
                <a:solidFill>
                  <a:schemeClr val="bg1"/>
                </a:solidFill>
              </a:rPr>
              <a:t>現状各案件で進めてる開発プロセス変革</a:t>
            </a:r>
            <a:endParaRPr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51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D56CD-7623-F700-5BFA-DBD59DE0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画像">
            <a:extLst>
              <a:ext uri="{FF2B5EF4-FFF2-40B4-BE49-F238E27FC236}">
                <a16:creationId xmlns:a16="http://schemas.microsoft.com/office/drawing/2014/main" id="{0BC95A92-60CF-9568-7215-14ADA858F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78" r="20826"/>
          <a:stretch>
            <a:fillRect/>
          </a:stretch>
        </p:blipFill>
        <p:spPr>
          <a:xfrm>
            <a:off x="0" y="0"/>
            <a:ext cx="5600700" cy="6915057"/>
          </a:xfrm>
          <a:prstGeom prst="rect">
            <a:avLst/>
          </a:prstGeom>
        </p:spPr>
      </p:pic>
      <p:sp>
        <p:nvSpPr>
          <p:cNvPr id="8" name="C0Bullets">
            <a:extLst>
              <a:ext uri="{FF2B5EF4-FFF2-40B4-BE49-F238E27FC236}">
                <a16:creationId xmlns:a16="http://schemas.microsoft.com/office/drawing/2014/main" id="{CFF53B09-7C5A-34CD-AC42-E7A01BBD0F92}"/>
              </a:ext>
            </a:extLst>
          </p:cNvPr>
          <p:cNvSpPr txBox="1">
            <a:spLocks noGrp="1"/>
          </p:cNvSpPr>
          <p:nvPr/>
        </p:nvSpPr>
        <p:spPr>
          <a:xfrm>
            <a:off x="5762625" y="1391939"/>
            <a:ext cx="5781675" cy="4364427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lnSpc>
                <a:spcPct val="150000"/>
              </a:lnSpc>
            </a:pPr>
            <a:r>
              <a:rPr lang="ja-JP" altLang="en-US" sz="2200" dirty="0"/>
              <a:t>少しシビアに、少し詳しく</a:t>
            </a:r>
            <a:r>
              <a:rPr lang="ja-JP" altLang="en-US" sz="2200" dirty="0">
                <a:solidFill>
                  <a:schemeClr val="accent2"/>
                </a:solidFill>
              </a:rPr>
              <a:t>将来予測</a:t>
            </a:r>
            <a:r>
              <a:rPr lang="ja-JP" altLang="en-US" sz="2200" dirty="0"/>
              <a:t>します</a:t>
            </a:r>
            <a:endParaRPr lang="en-US" altLang="ja-JP" sz="2200" dirty="0"/>
          </a:p>
          <a:p>
            <a:pPr>
              <a:lnSpc>
                <a:spcPct val="150000"/>
              </a:lnSpc>
            </a:pPr>
            <a:br>
              <a:rPr lang="en-US" altLang="ja-JP" sz="2200" dirty="0"/>
            </a:br>
            <a:r>
              <a:rPr lang="ja-JP" altLang="en-US" sz="2200" dirty="0"/>
              <a:t>ターゲットは３－５年程度先の案件の</a:t>
            </a:r>
            <a:endParaRPr lang="en-US" altLang="ja-JP" sz="2200" dirty="0"/>
          </a:p>
          <a:p>
            <a:pPr>
              <a:lnSpc>
                <a:spcPct val="150000"/>
              </a:lnSpc>
            </a:pPr>
            <a:r>
              <a:rPr lang="ja-JP" altLang="en-US" sz="2200" dirty="0"/>
              <a:t>メインストリームを想定</a:t>
            </a:r>
            <a:endParaRPr lang="en-US" altLang="ja-JP" sz="2200" dirty="0"/>
          </a:p>
          <a:p>
            <a:pPr>
              <a:lnSpc>
                <a:spcPct val="150000"/>
              </a:lnSpc>
            </a:pPr>
            <a:endParaRPr lang="en-US" altLang="ja-JP" sz="2200" dirty="0"/>
          </a:p>
          <a:p>
            <a:pPr>
              <a:lnSpc>
                <a:spcPct val="150000"/>
              </a:lnSpc>
            </a:pPr>
            <a:r>
              <a:rPr lang="ja-JP" altLang="en-US" sz="2200" dirty="0"/>
              <a:t>早い案件では今年度～来年度から段階的に・またはチャレンジングに変化していくと</a:t>
            </a:r>
            <a:endParaRPr lang="en-US" altLang="ja-JP" sz="2200" dirty="0"/>
          </a:p>
          <a:p>
            <a:pPr>
              <a:lnSpc>
                <a:spcPct val="150000"/>
              </a:lnSpc>
            </a:pPr>
            <a:r>
              <a:rPr lang="ja-JP" altLang="en-US" sz="2200" dirty="0"/>
              <a:t>考えられています</a:t>
            </a:r>
            <a:r>
              <a:rPr lang="en-US" altLang="ja-JP" sz="2200" dirty="0"/>
              <a:t>(</a:t>
            </a:r>
            <a:r>
              <a:rPr lang="ja-JP" altLang="en-US" sz="2200" dirty="0"/>
              <a:t>過渡期は勿論ありつつ</a:t>
            </a:r>
            <a:r>
              <a:rPr lang="en-US" altLang="ja-JP" sz="2200" dirty="0"/>
              <a:t>)</a:t>
            </a:r>
          </a:p>
          <a:p>
            <a:pPr>
              <a:lnSpc>
                <a:spcPct val="150000"/>
              </a:lnSpc>
            </a:pPr>
            <a:endParaRPr lang="en-US" altLang="ja-JP" sz="2200" dirty="0"/>
          </a:p>
          <a:p>
            <a:pPr>
              <a:lnSpc>
                <a:spcPct val="150000"/>
              </a:lnSpc>
            </a:pPr>
            <a:endParaRPr lang="ja-JP" altLang="en-US" sz="2200" dirty="0"/>
          </a:p>
        </p:txBody>
      </p:sp>
      <p:sp>
        <p:nvSpPr>
          <p:cNvPr id="2" name="PageNum">
            <a:extLst>
              <a:ext uri="{FF2B5EF4-FFF2-40B4-BE49-F238E27FC236}">
                <a16:creationId xmlns:a16="http://schemas.microsoft.com/office/drawing/2014/main" id="{D52D55CE-09D9-4D1C-B1AA-017779CF9088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5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3175578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9378F-8242-3B07-36DF-DAB59B05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FB3823-7F42-FFA2-D2ED-C42CEC5D5FCC}"/>
              </a:ext>
            </a:extLst>
          </p:cNvPr>
          <p:cNvSpPr txBox="1"/>
          <p:nvPr/>
        </p:nvSpPr>
        <p:spPr>
          <a:xfrm>
            <a:off x="602428" y="355168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要件・概要設計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58759B7-FD14-2384-755F-450C0C1D2FE5}"/>
              </a:ext>
            </a:extLst>
          </p:cNvPr>
          <p:cNvSpPr txBox="1"/>
          <p:nvPr/>
        </p:nvSpPr>
        <p:spPr>
          <a:xfrm>
            <a:off x="2865119" y="355168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基本設計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D3CAE61-6683-2318-7646-22FB330A3768}"/>
              </a:ext>
            </a:extLst>
          </p:cNvPr>
          <p:cNvSpPr txBox="1"/>
          <p:nvPr/>
        </p:nvSpPr>
        <p:spPr>
          <a:xfrm>
            <a:off x="5115261" y="355168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詳細設計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AC9977C-66D7-1F27-4A49-4984624253F7}"/>
              </a:ext>
            </a:extLst>
          </p:cNvPr>
          <p:cNvSpPr txBox="1"/>
          <p:nvPr/>
        </p:nvSpPr>
        <p:spPr>
          <a:xfrm>
            <a:off x="7353448" y="355168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CD/UT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E372545-BEFE-7CFC-C551-D9B2595AB5F4}"/>
              </a:ext>
            </a:extLst>
          </p:cNvPr>
          <p:cNvSpPr txBox="1"/>
          <p:nvPr/>
        </p:nvSpPr>
        <p:spPr>
          <a:xfrm>
            <a:off x="9590440" y="355168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結合試験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04CC44-1CEF-89E8-0565-CADD6722D6B2}"/>
              </a:ext>
            </a:extLst>
          </p:cNvPr>
          <p:cNvSpPr txBox="1"/>
          <p:nvPr/>
        </p:nvSpPr>
        <p:spPr>
          <a:xfrm>
            <a:off x="86400" y="1710094"/>
            <a:ext cx="366095" cy="138046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要員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計画</a:t>
            </a:r>
          </a:p>
        </p:txBody>
      </p:sp>
      <p:sp>
        <p:nvSpPr>
          <p:cNvPr id="18" name="C0Bullets">
            <a:extLst>
              <a:ext uri="{FF2B5EF4-FFF2-40B4-BE49-F238E27FC236}">
                <a16:creationId xmlns:a16="http://schemas.microsoft.com/office/drawing/2014/main" id="{D04D3F9B-88D2-521A-23D1-CFD570E14BEC}"/>
              </a:ext>
            </a:extLst>
          </p:cNvPr>
          <p:cNvSpPr txBox="1">
            <a:spLocks noGrp="1"/>
          </p:cNvSpPr>
          <p:nvPr/>
        </p:nvSpPr>
        <p:spPr>
          <a:xfrm>
            <a:off x="656215" y="828170"/>
            <a:ext cx="11155680" cy="719390"/>
          </a:xfrm>
          <a:prstGeom prst="rect">
            <a:avLst/>
          </a:prstGeom>
          <a:gradFill>
            <a:gsLst>
              <a:gs pos="0">
                <a:schemeClr val="accent1">
                  <a:lumMod val="2000"/>
                  <a:lumOff val="98000"/>
                </a:schemeClr>
              </a:gs>
              <a:gs pos="11930">
                <a:schemeClr val="accent1">
                  <a:lumMod val="2000"/>
                  <a:lumOff val="98000"/>
                </a:schemeClr>
              </a:gs>
              <a:gs pos="19930">
                <a:schemeClr val="accent1">
                  <a:lumMod val="20000"/>
                  <a:lumOff val="80000"/>
                </a:schemeClr>
              </a:gs>
              <a:gs pos="31970">
                <a:schemeClr val="accent1">
                  <a:lumMod val="20000"/>
                  <a:lumOff val="80000"/>
                </a:schemeClr>
              </a:gs>
              <a:gs pos="39970">
                <a:schemeClr val="accent1"/>
              </a:gs>
              <a:gs pos="72070">
                <a:schemeClr val="accent1"/>
              </a:gs>
              <a:gs pos="8007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solidFill>
              <a:schemeClr val="bg1">
                <a:lumMod val="95000"/>
              </a:schemeClr>
            </a:solidFill>
          </a:ln>
        </p:spPr>
        <p:txBody>
          <a:bodyPr wrap="square" lIns="45720" tIns="45720" rIns="45720" bIns="45720"/>
          <a:lstStyle/>
          <a:p>
            <a:pPr>
              <a:lnSpc>
                <a:spcPct val="150000"/>
              </a:lnSpc>
            </a:pPr>
            <a:endParaRPr lang="ja-JP" altLang="en-US" sz="15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AAB798-0B50-6E0F-5E46-789FBCB0E319}"/>
              </a:ext>
            </a:extLst>
          </p:cNvPr>
          <p:cNvSpPr txBox="1"/>
          <p:nvPr/>
        </p:nvSpPr>
        <p:spPr>
          <a:xfrm>
            <a:off x="3502211" y="121356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副🤖</a:t>
            </a:r>
            <a:endParaRPr kumimoji="1"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7B0562-FCBF-8F26-B210-185B49C8B2DC}"/>
              </a:ext>
            </a:extLst>
          </p:cNvPr>
          <p:cNvSpPr txBox="1"/>
          <p:nvPr/>
        </p:nvSpPr>
        <p:spPr>
          <a:xfrm>
            <a:off x="3502211" y="844236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主👦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A1AAD46-FDEA-0FEC-8391-5A9EED0CD22E}"/>
              </a:ext>
            </a:extLst>
          </p:cNvPr>
          <p:cNvSpPr txBox="1"/>
          <p:nvPr/>
        </p:nvSpPr>
        <p:spPr>
          <a:xfrm>
            <a:off x="5707529" y="82816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主</a:t>
            </a:r>
            <a:r>
              <a:rPr kumimoji="1" lang="ja-JP" altLang="en-US" dirty="0"/>
              <a:t>🤖</a:t>
            </a:r>
            <a:endParaRPr kumimoji="1" lang="en-US" altLang="ja-JP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902ED1A-FEDF-90BA-A07A-7AF8409D2F29}"/>
              </a:ext>
            </a:extLst>
          </p:cNvPr>
          <p:cNvSpPr txBox="1"/>
          <p:nvPr/>
        </p:nvSpPr>
        <p:spPr>
          <a:xfrm>
            <a:off x="5707529" y="117822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副👦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BF52D9E-C154-B5C9-BCD2-6081241B6093}"/>
              </a:ext>
            </a:extLst>
          </p:cNvPr>
          <p:cNvSpPr txBox="1"/>
          <p:nvPr/>
        </p:nvSpPr>
        <p:spPr>
          <a:xfrm>
            <a:off x="8092141" y="82816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主</a:t>
            </a:r>
            <a:r>
              <a:rPr kumimoji="1" lang="ja-JP" altLang="en-US" dirty="0"/>
              <a:t>🤖</a:t>
            </a:r>
            <a:endParaRPr kumimoji="1" lang="en-US" altLang="ja-JP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17DFBFD-8D46-DAAD-7708-891CFE8A69C6}"/>
              </a:ext>
            </a:extLst>
          </p:cNvPr>
          <p:cNvSpPr txBox="1"/>
          <p:nvPr/>
        </p:nvSpPr>
        <p:spPr>
          <a:xfrm>
            <a:off x="8092141" y="117822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副👦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B57CFFC-DBD6-4BE8-482A-05DDCEBCA9E7}"/>
              </a:ext>
            </a:extLst>
          </p:cNvPr>
          <p:cNvSpPr txBox="1"/>
          <p:nvPr/>
        </p:nvSpPr>
        <p:spPr>
          <a:xfrm>
            <a:off x="10309412" y="82816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主🤖</a:t>
            </a:r>
            <a:endParaRPr kumimoji="1" lang="en-US" altLang="ja-JP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C2483FD-F295-706B-A3AA-B18F58CF4AAB}"/>
              </a:ext>
            </a:extLst>
          </p:cNvPr>
          <p:cNvSpPr txBox="1"/>
          <p:nvPr/>
        </p:nvSpPr>
        <p:spPr>
          <a:xfrm>
            <a:off x="10309412" y="117822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副👦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28ECB8-9ADC-D3D1-B700-D075F652FD73}"/>
              </a:ext>
            </a:extLst>
          </p:cNvPr>
          <p:cNvSpPr txBox="1"/>
          <p:nvPr/>
        </p:nvSpPr>
        <p:spPr>
          <a:xfrm>
            <a:off x="1381275" y="121356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副🤖</a:t>
            </a:r>
            <a:endParaRPr kumimoji="1" lang="en-US" altLang="ja-JP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6118389-A8B4-6FD2-9195-9714B4A2B792}"/>
              </a:ext>
            </a:extLst>
          </p:cNvPr>
          <p:cNvSpPr txBox="1"/>
          <p:nvPr/>
        </p:nvSpPr>
        <p:spPr>
          <a:xfrm>
            <a:off x="1381275" y="844236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主👦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3A49F26-6C90-3EA2-0DC8-887D2143B6AC}"/>
              </a:ext>
            </a:extLst>
          </p:cNvPr>
          <p:cNvSpPr txBox="1"/>
          <p:nvPr/>
        </p:nvSpPr>
        <p:spPr>
          <a:xfrm>
            <a:off x="103057" y="3307315"/>
            <a:ext cx="366095" cy="181028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作業内容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graphicFrame>
        <p:nvGraphicFramePr>
          <p:cNvPr id="201" name="要員計画チャート"/>
          <p:cNvGraphicFramePr/>
          <p:nvPr>
            <p:extLst>
              <p:ext uri="{D42A27DB-BD31-4B8C-83A1-F6EECF244321}">
                <p14:modId xmlns:p14="http://schemas.microsoft.com/office/powerpoint/2010/main" val="2334918119"/>
              </p:ext>
            </p:extLst>
          </p:nvPr>
        </p:nvGraphicFramePr>
        <p:xfrm>
          <a:off x="728605" y="1688146"/>
          <a:ext cx="11010900" cy="1488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0Bullets">
            <a:extLst>
              <a:ext uri="{FF2B5EF4-FFF2-40B4-BE49-F238E27FC236}">
                <a16:creationId xmlns:a16="http://schemas.microsoft.com/office/drawing/2014/main" id="{80874F65-2D40-1643-BC6C-4CDBDA66D61B}"/>
              </a:ext>
            </a:extLst>
          </p:cNvPr>
          <p:cNvSpPr txBox="1">
            <a:spLocks noGrp="1"/>
          </p:cNvSpPr>
          <p:nvPr/>
        </p:nvSpPr>
        <p:spPr>
          <a:xfrm>
            <a:off x="656215" y="3305627"/>
            <a:ext cx="11083290" cy="1811974"/>
          </a:xfrm>
          <a:prstGeom prst="roundRect">
            <a:avLst>
              <a:gd name="adj" fmla="val 5767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45720" tIns="45720" rIns="45720" bIns="45720" anchor="ctr"/>
          <a:lstStyle/>
          <a:p>
            <a:pPr algn="l">
              <a:lnSpc>
                <a:spcPts val="2800"/>
              </a:lnSpc>
              <a:spcBef>
                <a:spcPts val="500"/>
              </a:spcBef>
              <a:buNone/>
            </a:pPr>
            <a:r>
              <a:rPr lang="ja-JP" altLang="en-US" sz="2200" b="1" dirty="0">
                <a:solidFill>
                  <a:srgbClr val="008B85"/>
                </a:solidFill>
              </a:rPr>
              <a:t>　　　　</a:t>
            </a:r>
            <a:endParaRPr lang="ja-JP" altLang="en-US" sz="1500" b="1" dirty="0">
              <a:solidFill>
                <a:srgbClr val="008B85"/>
              </a:solidFill>
            </a:endParaRPr>
          </a:p>
        </p:txBody>
      </p:sp>
      <p:sp>
        <p:nvSpPr>
          <p:cNvPr id="9" name="C0Bullets">
            <a:extLst>
              <a:ext uri="{FF2B5EF4-FFF2-40B4-BE49-F238E27FC236}">
                <a16:creationId xmlns:a16="http://schemas.microsoft.com/office/drawing/2014/main" id="{D2815649-8443-969D-5484-1EA59B985830}"/>
              </a:ext>
            </a:extLst>
          </p:cNvPr>
          <p:cNvSpPr txBox="1">
            <a:spLocks noGrp="1"/>
          </p:cNvSpPr>
          <p:nvPr/>
        </p:nvSpPr>
        <p:spPr>
          <a:xfrm>
            <a:off x="4478085" y="2583572"/>
            <a:ext cx="6462953" cy="639541"/>
          </a:xfrm>
          <a:prstGeom prst="roundRect">
            <a:avLst>
              <a:gd name="adj" fmla="val 5767"/>
            </a:avLst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>
              <a:lnSpc>
                <a:spcPct val="150000"/>
              </a:lnSpc>
            </a:pPr>
            <a:r>
              <a:rPr lang="en-US" altLang="ja-JP" sz="1500" dirty="0"/>
              <a:t>AI</a:t>
            </a:r>
            <a:r>
              <a:rPr lang="ja-JP" altLang="en-US" sz="1500" dirty="0"/>
              <a:t>を駆使して対応する事で下流の増員を抑える</a:t>
            </a:r>
            <a:r>
              <a:rPr lang="en-US" altLang="ja-JP" sz="1500" dirty="0"/>
              <a:t>(</a:t>
            </a:r>
            <a:r>
              <a:rPr lang="ja-JP" altLang="en-US" sz="1500" dirty="0"/>
              <a:t>下流は期間も短くなる</a:t>
            </a:r>
            <a:r>
              <a:rPr lang="en-US" altLang="ja-JP" sz="1500" dirty="0"/>
              <a:t>)</a:t>
            </a:r>
          </a:p>
        </p:txBody>
      </p:sp>
      <p:sp>
        <p:nvSpPr>
          <p:cNvPr id="27" name="C0Bullets">
            <a:extLst>
              <a:ext uri="{FF2B5EF4-FFF2-40B4-BE49-F238E27FC236}">
                <a16:creationId xmlns:a16="http://schemas.microsoft.com/office/drawing/2014/main" id="{A6BA2273-FCFA-E23A-BA7B-6B067565CF77}"/>
              </a:ext>
            </a:extLst>
          </p:cNvPr>
          <p:cNvSpPr txBox="1">
            <a:spLocks noGrp="1"/>
          </p:cNvSpPr>
          <p:nvPr/>
        </p:nvSpPr>
        <p:spPr>
          <a:xfrm>
            <a:off x="728605" y="5425428"/>
            <a:ext cx="3505200" cy="1057328"/>
          </a:xfrm>
          <a:prstGeom prst="roundRect">
            <a:avLst>
              <a:gd name="adj" fmla="val 5767"/>
            </a:avLst>
          </a:prstGeom>
          <a:solidFill>
            <a:srgbClr val="FFFFFF"/>
          </a:solidFill>
          <a:ln w="15875">
            <a:solidFill>
              <a:srgbClr val="B2DFDB"/>
            </a:solidFill>
          </a:ln>
        </p:spPr>
        <p:txBody>
          <a:bodyPr wrap="square" lIns="45720" tIns="118800" rIns="45720" bIns="45720" anchor="t" anchorCtr="0">
            <a:noAutofit/>
          </a:bodyPr>
          <a:lstStyle/>
          <a:p>
            <a:pPr algn="l">
              <a:lnSpc>
                <a:spcPts val="2000"/>
              </a:lnSpc>
              <a:spcAft>
                <a:spcPts val="500"/>
              </a:spcAft>
              <a:buNone/>
            </a:pPr>
            <a:r>
              <a:rPr lang="ja-JP" altLang="en-US" sz="1600" b="1" dirty="0">
                <a:solidFill>
                  <a:srgbClr val="008B85"/>
                </a:solidFill>
              </a:rPr>
              <a:t>維持するもの</a:t>
            </a:r>
          </a:p>
          <a:p>
            <a:pPr algn="l">
              <a:lnSpc>
                <a:spcPts val="1900"/>
              </a:lnSpc>
              <a:buNone/>
            </a:pPr>
            <a:r>
              <a:rPr lang="ja-JP" altLang="en-US" sz="1400" dirty="0">
                <a:solidFill>
                  <a:srgbClr val="1A2332"/>
                </a:solidFill>
              </a:rPr>
              <a:t>ウォーターフォールの枠は</a:t>
            </a:r>
            <a:r>
              <a:rPr lang="ja-JP" altLang="en-US" sz="1400" b="1" dirty="0">
                <a:solidFill>
                  <a:srgbClr val="008B85"/>
                </a:solidFill>
              </a:rPr>
              <a:t>維持</a:t>
            </a:r>
            <a:r>
              <a:rPr lang="ja-JP" altLang="en-US" sz="1400" dirty="0">
                <a:solidFill>
                  <a:srgbClr val="1A2332"/>
                </a:solidFill>
              </a:rPr>
              <a:t>したまま、上流〜結合を一気通貫化。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5BD76D2-E499-CD4C-2CED-D822CF4512E5}"/>
              </a:ext>
            </a:extLst>
          </p:cNvPr>
          <p:cNvSpPr txBox="1"/>
          <p:nvPr/>
        </p:nvSpPr>
        <p:spPr>
          <a:xfrm>
            <a:off x="103057" y="5360819"/>
            <a:ext cx="366095" cy="118289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方向性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1566FE-F0A1-2A43-554E-921733843250}"/>
              </a:ext>
            </a:extLst>
          </p:cNvPr>
          <p:cNvSpPr txBox="1"/>
          <p:nvPr/>
        </p:nvSpPr>
        <p:spPr>
          <a:xfrm>
            <a:off x="86400" y="828169"/>
            <a:ext cx="366095" cy="71939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AI</a:t>
            </a:r>
            <a:r>
              <a:rPr kumimoji="1" lang="ja-JP" altLang="en-US" dirty="0">
                <a:solidFill>
                  <a:schemeClr val="bg1"/>
                </a:solidFill>
              </a:rPr>
              <a:t>化</a:t>
            </a:r>
          </a:p>
        </p:txBody>
      </p:sp>
      <p:sp>
        <p:nvSpPr>
          <p:cNvPr id="8" name="Header">
            <a:extLst>
              <a:ext uri="{FF2B5EF4-FFF2-40B4-BE49-F238E27FC236}">
                <a16:creationId xmlns:a16="http://schemas.microsoft.com/office/drawing/2014/main" id="{A26A6A21-4CBC-F6FD-3CB2-6A441815DBAB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en-US" altLang="ja-JP" sz="1400" b="1" dirty="0">
                <a:solidFill>
                  <a:schemeClr val="bg1"/>
                </a:solidFill>
              </a:rPr>
              <a:t>02.PJ</a:t>
            </a:r>
            <a:r>
              <a:rPr lang="ja-JP" altLang="en-US" sz="1400" b="1" dirty="0">
                <a:solidFill>
                  <a:schemeClr val="bg1"/>
                </a:solidFill>
              </a:rPr>
              <a:t>の変化</a:t>
            </a:r>
          </a:p>
        </p:txBody>
      </p:sp>
      <p:sp>
        <p:nvSpPr>
          <p:cNvPr id="16" name="BadgeNow">
            <a:extLst>
              <a:ext uri="{FF2B5EF4-FFF2-40B4-BE49-F238E27FC236}">
                <a16:creationId xmlns:a16="http://schemas.microsoft.com/office/drawing/2014/main" id="{614A71AC-BF72-4AAB-9E98-0649FF4E88DE}"/>
              </a:ext>
            </a:extLst>
          </p:cNvPr>
          <p:cNvSpPr/>
          <p:nvPr/>
        </p:nvSpPr>
        <p:spPr>
          <a:xfrm>
            <a:off x="773356" y="3531278"/>
            <a:ext cx="939800" cy="304800"/>
          </a:xfrm>
          <a:prstGeom prst="roundRect">
            <a:avLst/>
          </a:prstGeom>
          <a:solidFill>
            <a:srgbClr val="7890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Meiryo UI"/>
                <a:ea typeface="Meiryo UI"/>
              </a:rPr>
              <a:t>今まで</a:t>
            </a:r>
          </a:p>
        </p:txBody>
      </p:sp>
      <p:sp>
        <p:nvSpPr>
          <p:cNvPr id="17" name="BadgeAI">
            <a:extLst>
              <a:ext uri="{FF2B5EF4-FFF2-40B4-BE49-F238E27FC236}">
                <a16:creationId xmlns:a16="http://schemas.microsoft.com/office/drawing/2014/main" id="{57EF1EFD-9258-4A68-93EF-AE3C4371317F}"/>
              </a:ext>
            </a:extLst>
          </p:cNvPr>
          <p:cNvSpPr/>
          <p:nvPr/>
        </p:nvSpPr>
        <p:spPr>
          <a:xfrm>
            <a:off x="757378" y="4199704"/>
            <a:ext cx="939800" cy="330200"/>
          </a:xfrm>
          <a:prstGeom prst="roundRect">
            <a:avLst/>
          </a:prstGeom>
          <a:solidFill>
            <a:srgbClr val="008B8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 dirty="0">
                <a:solidFill>
                  <a:srgbClr val="FFFFFF"/>
                </a:solidFill>
                <a:latin typeface="Meiryo UI"/>
                <a:ea typeface="Meiryo UI"/>
              </a:rPr>
              <a:t>AI</a:t>
            </a:r>
            <a:r>
              <a:rPr lang="ja-JP" altLang="en-US" sz="1400" b="1" dirty="0">
                <a:solidFill>
                  <a:srgbClr val="FFFFFF"/>
                </a:solidFill>
                <a:latin typeface="Meiryo UI"/>
                <a:ea typeface="Meiryo UI"/>
              </a:rPr>
              <a:t>時代</a:t>
            </a:r>
          </a:p>
        </p:txBody>
      </p:sp>
      <p:sp>
        <p:nvSpPr>
          <p:cNvPr id="30" name="DirCard2">
            <a:extLst>
              <a:ext uri="{FF2B5EF4-FFF2-40B4-BE49-F238E27FC236}">
                <a16:creationId xmlns:a16="http://schemas.microsoft.com/office/drawing/2014/main" id="{77132F98-D561-4FD9-ADDC-F666D482E159}"/>
              </a:ext>
            </a:extLst>
          </p:cNvPr>
          <p:cNvSpPr/>
          <p:nvPr/>
        </p:nvSpPr>
        <p:spPr>
          <a:xfrm>
            <a:off x="4360805" y="5425428"/>
            <a:ext cx="3505200" cy="1057328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5875" cap="flat" cmpd="sng" algn="ctr">
            <a:solidFill>
              <a:srgbClr val="B2DF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118800" rtlCol="0" anchor="t" anchorCtr="0">
            <a:noAutofit/>
          </a:bodyPr>
          <a:lstStyle/>
          <a:p>
            <a:pPr algn="l">
              <a:lnSpc>
                <a:spcPts val="2000"/>
              </a:lnSpc>
              <a:spcAft>
                <a:spcPts val="500"/>
              </a:spcAft>
              <a:buNone/>
            </a:pPr>
            <a:r>
              <a:rPr lang="ja-JP" altLang="en-US" sz="1600" b="1" dirty="0">
                <a:solidFill>
                  <a:srgbClr val="008B85"/>
                </a:solidFill>
              </a:rPr>
              <a:t>変わる観点</a:t>
            </a:r>
          </a:p>
          <a:p>
            <a:pPr algn="l">
              <a:lnSpc>
                <a:spcPts val="1900"/>
              </a:lnSpc>
              <a:buNone/>
            </a:pPr>
            <a:r>
              <a:rPr lang="ja-JP" altLang="en-US" sz="1400" dirty="0">
                <a:solidFill>
                  <a:srgbClr val="1A2332"/>
                </a:solidFill>
              </a:rPr>
              <a:t>レビュー観点が「正しく作ったか」から</a:t>
            </a:r>
            <a:r>
              <a:rPr lang="ja-JP" altLang="en-US" sz="1400" b="1" dirty="0">
                <a:solidFill>
                  <a:srgbClr val="008B85"/>
                </a:solidFill>
              </a:rPr>
              <a:t>意図との整合＋技術的妥当性</a:t>
            </a:r>
            <a:r>
              <a:rPr lang="ja-JP" altLang="en-US" sz="1400" dirty="0">
                <a:solidFill>
                  <a:srgbClr val="1A2332"/>
                </a:solidFill>
              </a:rPr>
              <a:t>へ。</a:t>
            </a:r>
          </a:p>
        </p:txBody>
      </p:sp>
      <p:sp>
        <p:nvSpPr>
          <p:cNvPr id="31" name="DirCard3">
            <a:extLst>
              <a:ext uri="{FF2B5EF4-FFF2-40B4-BE49-F238E27FC236}">
                <a16:creationId xmlns:a16="http://schemas.microsoft.com/office/drawing/2014/main" id="{0F7B41A9-3105-44E1-81C5-8D141F9AB987}"/>
              </a:ext>
            </a:extLst>
          </p:cNvPr>
          <p:cNvSpPr/>
          <p:nvPr/>
        </p:nvSpPr>
        <p:spPr>
          <a:xfrm>
            <a:off x="7993005" y="5425428"/>
            <a:ext cx="3505200" cy="105732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15875" cap="flat" cmpd="sng" algn="ctr">
            <a:solidFill>
              <a:srgbClr val="B2DF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118800" rtlCol="0" anchor="t" anchorCtr="0">
            <a:noAutofit/>
          </a:bodyPr>
          <a:lstStyle/>
          <a:p>
            <a:pPr algn="l">
              <a:lnSpc>
                <a:spcPts val="2000"/>
              </a:lnSpc>
              <a:spcAft>
                <a:spcPts val="500"/>
              </a:spcAft>
              <a:buNone/>
            </a:pPr>
            <a:r>
              <a:rPr lang="ja-JP" altLang="en-US" sz="1600" b="1" dirty="0">
                <a:solidFill>
                  <a:srgbClr val="008B85"/>
                </a:solidFill>
              </a:rPr>
              <a:t>求められる人材</a:t>
            </a:r>
          </a:p>
          <a:p>
            <a:pPr algn="l">
              <a:lnSpc>
                <a:spcPts val="1900"/>
              </a:lnSpc>
              <a:buNone/>
            </a:pPr>
            <a:r>
              <a:rPr lang="ja-JP" altLang="en-US" sz="1400" dirty="0">
                <a:solidFill>
                  <a:srgbClr val="1A2332"/>
                </a:solidFill>
              </a:rPr>
              <a:t>要件〜技術的実現性・周辺機能まで</a:t>
            </a:r>
            <a:r>
              <a:rPr lang="ja-JP" altLang="en-US" sz="1400" b="1" dirty="0">
                <a:solidFill>
                  <a:srgbClr val="008B85"/>
                </a:solidFill>
              </a:rPr>
              <a:t>横断的に理解</a:t>
            </a:r>
            <a:r>
              <a:rPr lang="ja-JP" altLang="en-US" sz="1400" dirty="0">
                <a:solidFill>
                  <a:srgbClr val="1A2332"/>
                </a:solidFill>
              </a:rPr>
              <a:t>。今までより高い基準の1MM。</a:t>
            </a:r>
          </a:p>
        </p:txBody>
      </p:sp>
      <p:sp>
        <p:nvSpPr>
          <p:cNvPr id="32" name="DirTop">
            <a:extLst>
              <a:ext uri="{FF2B5EF4-FFF2-40B4-BE49-F238E27FC236}">
                <a16:creationId xmlns:a16="http://schemas.microsoft.com/office/drawing/2014/main" id="{1DB1FE94-A687-4C47-A54A-198EDAA929BA}"/>
              </a:ext>
            </a:extLst>
          </p:cNvPr>
          <p:cNvSpPr/>
          <p:nvPr/>
        </p:nvSpPr>
        <p:spPr>
          <a:xfrm>
            <a:off x="728605" y="5406378"/>
            <a:ext cx="762000" cy="63500"/>
          </a:xfrm>
          <a:prstGeom prst="rect">
            <a:avLst/>
          </a:prstGeom>
          <a:solidFill>
            <a:srgbClr val="0ABA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3" name="DirTop">
            <a:extLst>
              <a:ext uri="{FF2B5EF4-FFF2-40B4-BE49-F238E27FC236}">
                <a16:creationId xmlns:a16="http://schemas.microsoft.com/office/drawing/2014/main" id="{3C389208-D68C-4519-B02F-CE3F7A659001}"/>
              </a:ext>
            </a:extLst>
          </p:cNvPr>
          <p:cNvSpPr/>
          <p:nvPr/>
        </p:nvSpPr>
        <p:spPr>
          <a:xfrm>
            <a:off x="4360805" y="5425428"/>
            <a:ext cx="762000" cy="63500"/>
          </a:xfrm>
          <a:prstGeom prst="rect">
            <a:avLst/>
          </a:prstGeom>
          <a:solidFill>
            <a:srgbClr val="0ABA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4" name="DirTop">
            <a:extLst>
              <a:ext uri="{FF2B5EF4-FFF2-40B4-BE49-F238E27FC236}">
                <a16:creationId xmlns:a16="http://schemas.microsoft.com/office/drawing/2014/main" id="{3ABAC9C2-71DE-42DF-A924-FA80B1B4243A}"/>
              </a:ext>
            </a:extLst>
          </p:cNvPr>
          <p:cNvSpPr/>
          <p:nvPr/>
        </p:nvSpPr>
        <p:spPr>
          <a:xfrm>
            <a:off x="7991735" y="5425428"/>
            <a:ext cx="762000" cy="63500"/>
          </a:xfrm>
          <a:prstGeom prst="rect">
            <a:avLst/>
          </a:prstGeom>
          <a:solidFill>
            <a:srgbClr val="0ABA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PageNum">
            <a:extLst>
              <a:ext uri="{FF2B5EF4-FFF2-40B4-BE49-F238E27FC236}">
                <a16:creationId xmlns:a16="http://schemas.microsoft.com/office/drawing/2014/main" id="{1F2BA182-C53D-4BE1-9A43-C59CAF36EFD9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6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  <p:sp>
        <p:nvSpPr>
          <p:cNvPr id="7" name="C0Bullets">
            <a:extLst>
              <a:ext uri="{FF2B5EF4-FFF2-40B4-BE49-F238E27FC236}">
                <a16:creationId xmlns:a16="http://schemas.microsoft.com/office/drawing/2014/main" id="{B80CC7A7-42B0-8C90-E07B-5B84C60827B6}"/>
              </a:ext>
            </a:extLst>
          </p:cNvPr>
          <p:cNvSpPr txBox="1">
            <a:spLocks noGrp="1"/>
          </p:cNvSpPr>
          <p:nvPr/>
        </p:nvSpPr>
        <p:spPr>
          <a:xfrm>
            <a:off x="1900219" y="4235861"/>
            <a:ext cx="8228759" cy="639541"/>
          </a:xfrm>
          <a:prstGeom prst="roundRect">
            <a:avLst>
              <a:gd name="adj" fmla="val 5767"/>
            </a:avLst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>
              <a:lnSpc>
                <a:spcPts val="2800"/>
              </a:lnSpc>
              <a:spcBef>
                <a:spcPts val="500"/>
              </a:spcBef>
            </a:pPr>
            <a:r>
              <a:rPr lang="ja-JP" altLang="en-US" sz="2200" b="1" dirty="0">
                <a:solidFill>
                  <a:srgbClr val="008B85"/>
                </a:solidFill>
              </a:rPr>
              <a:t>上流〜結合まで一気通貫で担当</a:t>
            </a:r>
            <a:endParaRPr lang="en-US" altLang="ja-JP" sz="2200" b="1" dirty="0">
              <a:solidFill>
                <a:srgbClr val="008B85"/>
              </a:solidFill>
            </a:endParaRPr>
          </a:p>
          <a:p>
            <a:pPr>
              <a:lnSpc>
                <a:spcPts val="2800"/>
              </a:lnSpc>
              <a:spcBef>
                <a:spcPts val="500"/>
              </a:spcBef>
            </a:pPr>
            <a:r>
              <a:rPr lang="ja-JP" altLang="en-US" sz="1500" dirty="0">
                <a:solidFill>
                  <a:srgbClr val="1A2332"/>
                </a:solidFill>
              </a:rPr>
              <a:t>AIで成果物を生成し、</a:t>
            </a:r>
            <a:r>
              <a:rPr lang="ja-JP" altLang="en-US" sz="1500" b="1" dirty="0">
                <a:solidFill>
                  <a:srgbClr val="008B85"/>
                </a:solidFill>
              </a:rPr>
              <a:t>要件・機能・プログラムの妥当性を判断</a:t>
            </a:r>
          </a:p>
        </p:txBody>
      </p:sp>
      <p:sp>
        <p:nvSpPr>
          <p:cNvPr id="36" name="C0Bullets">
            <a:extLst>
              <a:ext uri="{FF2B5EF4-FFF2-40B4-BE49-F238E27FC236}">
                <a16:creationId xmlns:a16="http://schemas.microsoft.com/office/drawing/2014/main" id="{E39C882E-1713-4042-59A9-5CDDD79C3D67}"/>
              </a:ext>
            </a:extLst>
          </p:cNvPr>
          <p:cNvSpPr txBox="1">
            <a:spLocks noGrp="1"/>
          </p:cNvSpPr>
          <p:nvPr/>
        </p:nvSpPr>
        <p:spPr>
          <a:xfrm>
            <a:off x="1883784" y="3353984"/>
            <a:ext cx="6462953" cy="639541"/>
          </a:xfrm>
          <a:prstGeom prst="roundRect">
            <a:avLst>
              <a:gd name="adj" fmla="val 5767"/>
            </a:avLst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>
              <a:lnSpc>
                <a:spcPts val="2000"/>
              </a:lnSpc>
            </a:pPr>
            <a:r>
              <a:rPr lang="ja-JP" altLang="en-US" sz="1500" dirty="0">
                <a:solidFill>
                  <a:srgbClr val="37474F"/>
                </a:solidFill>
              </a:rPr>
              <a:t>局面単位の分担。上流成果物を下流担当へ引き継ぐ</a:t>
            </a:r>
          </a:p>
        </p:txBody>
      </p:sp>
    </p:spTree>
    <p:extLst>
      <p:ext uri="{BB962C8B-B14F-4D97-AF65-F5344CB8AC3E}">
        <p14:creationId xmlns:p14="http://schemas.microsoft.com/office/powerpoint/2010/main" val="3963687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C64C1-545C-11A4-34E2-49D07142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ointsCard">
            <a:extLst>
              <a:ext uri="{FF2B5EF4-FFF2-40B4-BE49-F238E27FC236}">
                <a16:creationId xmlns:a16="http://schemas.microsoft.com/office/drawing/2014/main" id="{215B432E-1D89-4F0D-A680-630E539BAD5B}"/>
              </a:ext>
            </a:extLst>
          </p:cNvPr>
          <p:cNvSpPr/>
          <p:nvPr/>
        </p:nvSpPr>
        <p:spPr>
          <a:xfrm>
            <a:off x="266700" y="4057468"/>
            <a:ext cx="11582400" cy="1327332"/>
          </a:xfrm>
          <a:prstGeom prst="rect">
            <a:avLst/>
          </a:prstGeom>
          <a:solidFill>
            <a:srgbClr val="F0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" name="WarnCard">
            <a:extLst>
              <a:ext uri="{FF2B5EF4-FFF2-40B4-BE49-F238E27FC236}">
                <a16:creationId xmlns:a16="http://schemas.microsoft.com/office/drawing/2014/main" id="{EABED1A5-13D5-4EF9-ACA9-BEB176A47906}"/>
              </a:ext>
            </a:extLst>
          </p:cNvPr>
          <p:cNvSpPr/>
          <p:nvPr/>
        </p:nvSpPr>
        <p:spPr>
          <a:xfrm>
            <a:off x="266700" y="5781040"/>
            <a:ext cx="11582400" cy="736600"/>
          </a:xfrm>
          <a:prstGeom prst="rect">
            <a:avLst/>
          </a:prstGeom>
          <a:solidFill>
            <a:srgbClr val="FFF5F5"/>
          </a:solidFill>
          <a:ln w="12700" cap="flat" cmpd="sng" algn="ctr">
            <a:solidFill>
              <a:srgbClr val="F2C4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110A98-C997-10C8-B18C-2F190A3D15E1}"/>
              </a:ext>
            </a:extLst>
          </p:cNvPr>
          <p:cNvSpPr txBox="1"/>
          <p:nvPr/>
        </p:nvSpPr>
        <p:spPr>
          <a:xfrm>
            <a:off x="602428" y="36469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要件・概要設計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F11A5B-AB85-3947-8B66-E93C7F8873D8}"/>
              </a:ext>
            </a:extLst>
          </p:cNvPr>
          <p:cNvSpPr txBox="1"/>
          <p:nvPr/>
        </p:nvSpPr>
        <p:spPr>
          <a:xfrm>
            <a:off x="2865119" y="36469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基本設計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3A3ABCA-D7EE-527A-AE32-D9240FEFDD59}"/>
              </a:ext>
            </a:extLst>
          </p:cNvPr>
          <p:cNvSpPr txBox="1"/>
          <p:nvPr/>
        </p:nvSpPr>
        <p:spPr>
          <a:xfrm>
            <a:off x="5115261" y="36469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詳細設計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98F6BBA-1192-2991-8ECD-5C3966F32D5C}"/>
              </a:ext>
            </a:extLst>
          </p:cNvPr>
          <p:cNvSpPr txBox="1"/>
          <p:nvPr/>
        </p:nvSpPr>
        <p:spPr>
          <a:xfrm>
            <a:off x="7353448" y="36469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CD/UT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11A03B7-46F4-7DB8-4686-614F448196CB}"/>
              </a:ext>
            </a:extLst>
          </p:cNvPr>
          <p:cNvSpPr txBox="1"/>
          <p:nvPr/>
        </p:nvSpPr>
        <p:spPr>
          <a:xfrm>
            <a:off x="9590440" y="36469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結合試験</a:t>
            </a:r>
            <a:endParaRPr kumimoji="1" lang="ja-JP" altLang="en-US" dirty="0"/>
          </a:p>
        </p:txBody>
      </p:sp>
      <p:sp>
        <p:nvSpPr>
          <p:cNvPr id="18" name="C0Bullets">
            <a:extLst>
              <a:ext uri="{FF2B5EF4-FFF2-40B4-BE49-F238E27FC236}">
                <a16:creationId xmlns:a16="http://schemas.microsoft.com/office/drawing/2014/main" id="{DE82F892-AF8D-01A5-8B10-D96132E72E13}"/>
              </a:ext>
            </a:extLst>
          </p:cNvPr>
          <p:cNvSpPr txBox="1">
            <a:spLocks noGrp="1"/>
          </p:cNvSpPr>
          <p:nvPr/>
        </p:nvSpPr>
        <p:spPr>
          <a:xfrm>
            <a:off x="656215" y="828170"/>
            <a:ext cx="11155680" cy="719390"/>
          </a:xfrm>
          <a:prstGeom prst="rect">
            <a:avLst/>
          </a:prstGeom>
          <a:gradFill>
            <a:gsLst>
              <a:gs pos="0">
                <a:schemeClr val="accent1">
                  <a:lumMod val="2000"/>
                  <a:lumOff val="98000"/>
                </a:schemeClr>
              </a:gs>
              <a:gs pos="11930">
                <a:schemeClr val="accent1">
                  <a:lumMod val="2000"/>
                  <a:lumOff val="98000"/>
                </a:schemeClr>
              </a:gs>
              <a:gs pos="19930">
                <a:schemeClr val="accent1">
                  <a:lumMod val="20000"/>
                  <a:lumOff val="80000"/>
                </a:schemeClr>
              </a:gs>
              <a:gs pos="31970">
                <a:schemeClr val="accent1">
                  <a:lumMod val="20000"/>
                  <a:lumOff val="80000"/>
                </a:schemeClr>
              </a:gs>
              <a:gs pos="39970">
                <a:schemeClr val="accent1"/>
              </a:gs>
              <a:gs pos="72070">
                <a:schemeClr val="accent1"/>
              </a:gs>
              <a:gs pos="8007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solidFill>
              <a:schemeClr val="bg1">
                <a:lumMod val="95000"/>
              </a:schemeClr>
            </a:solidFill>
          </a:ln>
        </p:spPr>
        <p:txBody>
          <a:bodyPr wrap="square" lIns="45720" tIns="45720" rIns="45720" bIns="45720"/>
          <a:lstStyle/>
          <a:p>
            <a:pPr>
              <a:lnSpc>
                <a:spcPct val="150000"/>
              </a:lnSpc>
            </a:pPr>
            <a:endParaRPr lang="ja-JP" altLang="en-US" sz="15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E3B30EE-C9A6-C788-73CB-33C39C5A81CB}"/>
              </a:ext>
            </a:extLst>
          </p:cNvPr>
          <p:cNvSpPr txBox="1"/>
          <p:nvPr/>
        </p:nvSpPr>
        <p:spPr>
          <a:xfrm>
            <a:off x="3502211" y="121356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副🤖</a:t>
            </a:r>
            <a:endParaRPr kumimoji="1"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1BBB636-E46F-7456-7A55-EA2115313583}"/>
              </a:ext>
            </a:extLst>
          </p:cNvPr>
          <p:cNvSpPr txBox="1"/>
          <p:nvPr/>
        </p:nvSpPr>
        <p:spPr>
          <a:xfrm>
            <a:off x="3502211" y="844236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主👦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49B4BB-146E-5696-93AF-E0AAC3A2668C}"/>
              </a:ext>
            </a:extLst>
          </p:cNvPr>
          <p:cNvSpPr txBox="1"/>
          <p:nvPr/>
        </p:nvSpPr>
        <p:spPr>
          <a:xfrm>
            <a:off x="5707529" y="82816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主</a:t>
            </a:r>
            <a:r>
              <a:rPr kumimoji="1" lang="ja-JP" altLang="en-US" dirty="0"/>
              <a:t>🤖</a:t>
            </a:r>
            <a:endParaRPr kumimoji="1" lang="en-US" altLang="ja-JP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CD75372-F160-F185-4FD4-6A29B97D23F9}"/>
              </a:ext>
            </a:extLst>
          </p:cNvPr>
          <p:cNvSpPr txBox="1"/>
          <p:nvPr/>
        </p:nvSpPr>
        <p:spPr>
          <a:xfrm>
            <a:off x="5707529" y="117822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副👦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30DFD8D-4675-4C87-2268-E40AED3B1730}"/>
              </a:ext>
            </a:extLst>
          </p:cNvPr>
          <p:cNvSpPr txBox="1"/>
          <p:nvPr/>
        </p:nvSpPr>
        <p:spPr>
          <a:xfrm>
            <a:off x="8092141" y="82816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主</a:t>
            </a:r>
            <a:r>
              <a:rPr kumimoji="1" lang="ja-JP" altLang="en-US" dirty="0"/>
              <a:t>🤖</a:t>
            </a:r>
            <a:endParaRPr kumimoji="1" lang="en-US" altLang="ja-JP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E759A6D-565F-B75C-B097-53A03CD9CFB0}"/>
              </a:ext>
            </a:extLst>
          </p:cNvPr>
          <p:cNvSpPr txBox="1"/>
          <p:nvPr/>
        </p:nvSpPr>
        <p:spPr>
          <a:xfrm>
            <a:off x="8092141" y="117822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副👦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D34DBC6-41BF-AAAD-0FAC-4A01EE3565C6}"/>
              </a:ext>
            </a:extLst>
          </p:cNvPr>
          <p:cNvSpPr txBox="1"/>
          <p:nvPr/>
        </p:nvSpPr>
        <p:spPr>
          <a:xfrm>
            <a:off x="10309412" y="82816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主🤖</a:t>
            </a:r>
            <a:endParaRPr kumimoji="1" lang="en-US" altLang="ja-JP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D97EED4-FEE3-F32B-09D8-7CAACF486639}"/>
              </a:ext>
            </a:extLst>
          </p:cNvPr>
          <p:cNvSpPr txBox="1"/>
          <p:nvPr/>
        </p:nvSpPr>
        <p:spPr>
          <a:xfrm>
            <a:off x="10309412" y="117822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副👦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E68DCC-4482-A3F7-E3B5-D2B98D3D6505}"/>
              </a:ext>
            </a:extLst>
          </p:cNvPr>
          <p:cNvSpPr txBox="1"/>
          <p:nvPr/>
        </p:nvSpPr>
        <p:spPr>
          <a:xfrm>
            <a:off x="1381275" y="121356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副🤖</a:t>
            </a:r>
            <a:endParaRPr kumimoji="1" lang="en-US" altLang="ja-JP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44F6E33-96DA-06AA-35E7-F14355F3F064}"/>
              </a:ext>
            </a:extLst>
          </p:cNvPr>
          <p:cNvSpPr txBox="1"/>
          <p:nvPr/>
        </p:nvSpPr>
        <p:spPr>
          <a:xfrm>
            <a:off x="1381275" y="844236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主👦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92EF1B-2C37-7D51-0394-C41BF49A2994}"/>
              </a:ext>
            </a:extLst>
          </p:cNvPr>
          <p:cNvSpPr txBox="1"/>
          <p:nvPr/>
        </p:nvSpPr>
        <p:spPr>
          <a:xfrm>
            <a:off x="103057" y="1699687"/>
            <a:ext cx="452755" cy="215307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計画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2308676-8455-B68E-25FB-ADA9D31C2DB1}"/>
              </a:ext>
            </a:extLst>
          </p:cNvPr>
          <p:cNvSpPr txBox="1"/>
          <p:nvPr/>
        </p:nvSpPr>
        <p:spPr>
          <a:xfrm>
            <a:off x="656215" y="1782757"/>
            <a:ext cx="2221456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要件・概要設計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AAF3107-796C-3025-7BF9-CA200477F741}"/>
              </a:ext>
            </a:extLst>
          </p:cNvPr>
          <p:cNvSpPr txBox="1"/>
          <p:nvPr/>
        </p:nvSpPr>
        <p:spPr>
          <a:xfrm>
            <a:off x="2918906" y="1782757"/>
            <a:ext cx="2221456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基本設計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B9750F4-869E-DF35-FAB4-3067EC1C84BB}"/>
              </a:ext>
            </a:extLst>
          </p:cNvPr>
          <p:cNvSpPr txBox="1"/>
          <p:nvPr/>
        </p:nvSpPr>
        <p:spPr>
          <a:xfrm>
            <a:off x="5169048" y="1782757"/>
            <a:ext cx="2221456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詳細設計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9636EAD-A3FA-97A9-0A9C-02F596417917}"/>
              </a:ext>
            </a:extLst>
          </p:cNvPr>
          <p:cNvSpPr txBox="1"/>
          <p:nvPr/>
        </p:nvSpPr>
        <p:spPr>
          <a:xfrm>
            <a:off x="7407235" y="1782757"/>
            <a:ext cx="2221456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CD/UT</a:t>
            </a:r>
            <a:endParaRPr kumimoji="1" lang="ja-JP" altLang="en-US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17FA6C5-F295-8AA4-2989-7D53604B5ECC}"/>
              </a:ext>
            </a:extLst>
          </p:cNvPr>
          <p:cNvSpPr txBox="1"/>
          <p:nvPr/>
        </p:nvSpPr>
        <p:spPr>
          <a:xfrm>
            <a:off x="9644227" y="1782757"/>
            <a:ext cx="2221456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結合試験</a:t>
            </a:r>
            <a:endParaRPr kumimoji="1" lang="ja-JP" altLang="en-US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4009A35-4EED-0BE6-EF1B-5B29B67606D5}"/>
              </a:ext>
            </a:extLst>
          </p:cNvPr>
          <p:cNvSpPr txBox="1"/>
          <p:nvPr/>
        </p:nvSpPr>
        <p:spPr>
          <a:xfrm>
            <a:off x="1823424" y="2246595"/>
            <a:ext cx="1000460" cy="20005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ja-JP" altLang="en-US" sz="1300" dirty="0"/>
              <a:t>次局面準備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36468390-B71A-46AF-DCC7-B2231F8B65A2}"/>
              </a:ext>
            </a:extLst>
          </p:cNvPr>
          <p:cNvSpPr txBox="1"/>
          <p:nvPr/>
        </p:nvSpPr>
        <p:spPr>
          <a:xfrm>
            <a:off x="4139902" y="2246595"/>
            <a:ext cx="1000460" cy="20005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ja-JP" altLang="en-US" sz="1300" dirty="0"/>
              <a:t>次局面準備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EC16E2F-874F-4F71-5DAD-B9AD70F1F9B0}"/>
              </a:ext>
            </a:extLst>
          </p:cNvPr>
          <p:cNvSpPr txBox="1"/>
          <p:nvPr/>
        </p:nvSpPr>
        <p:spPr>
          <a:xfrm>
            <a:off x="6390044" y="2246595"/>
            <a:ext cx="1000460" cy="20005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ja-JP" altLang="en-US" sz="1300" dirty="0"/>
              <a:t>次局面準備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E69FEF5-4F5E-117B-8431-F3A72DDF778F}"/>
              </a:ext>
            </a:extLst>
          </p:cNvPr>
          <p:cNvSpPr txBox="1"/>
          <p:nvPr/>
        </p:nvSpPr>
        <p:spPr>
          <a:xfrm>
            <a:off x="8628231" y="2246595"/>
            <a:ext cx="1000460" cy="20005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ja-JP" altLang="en-US" sz="1300" dirty="0"/>
              <a:t>次局面準備</a:t>
            </a:r>
          </a:p>
        </p:txBody>
      </p:sp>
      <p:sp>
        <p:nvSpPr>
          <p:cNvPr id="49" name="二等辺三角形 48">
            <a:extLst>
              <a:ext uri="{FF2B5EF4-FFF2-40B4-BE49-F238E27FC236}">
                <a16:creationId xmlns:a16="http://schemas.microsoft.com/office/drawing/2014/main" id="{B89AFB4A-AED5-6D27-507C-E65F9C011400}"/>
              </a:ext>
            </a:extLst>
          </p:cNvPr>
          <p:cNvSpPr/>
          <p:nvPr/>
        </p:nvSpPr>
        <p:spPr>
          <a:xfrm rot="10800000">
            <a:off x="5328280" y="2548329"/>
            <a:ext cx="231021" cy="2022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48A06932-5120-137F-6675-7DD3E383AB5C}"/>
              </a:ext>
            </a:extLst>
          </p:cNvPr>
          <p:cNvSpPr txBox="1"/>
          <p:nvPr/>
        </p:nvSpPr>
        <p:spPr>
          <a:xfrm>
            <a:off x="656216" y="2792764"/>
            <a:ext cx="1960881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要件・概要設計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A3D8C48-E69B-44AD-72BF-89B5B69A42C7}"/>
              </a:ext>
            </a:extLst>
          </p:cNvPr>
          <p:cNvSpPr txBox="1"/>
          <p:nvPr/>
        </p:nvSpPr>
        <p:spPr>
          <a:xfrm>
            <a:off x="2918907" y="2792764"/>
            <a:ext cx="2221456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基本設計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648DC4A-5458-E477-CDF9-5314A133C614}"/>
              </a:ext>
            </a:extLst>
          </p:cNvPr>
          <p:cNvSpPr txBox="1"/>
          <p:nvPr/>
        </p:nvSpPr>
        <p:spPr>
          <a:xfrm>
            <a:off x="5679437" y="2792764"/>
            <a:ext cx="1727799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詳細設計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817F82F-15E1-2963-2163-BA4154631203}"/>
              </a:ext>
            </a:extLst>
          </p:cNvPr>
          <p:cNvSpPr txBox="1"/>
          <p:nvPr/>
        </p:nvSpPr>
        <p:spPr>
          <a:xfrm>
            <a:off x="7969622" y="2792764"/>
            <a:ext cx="1605283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CD/UT</a:t>
            </a:r>
            <a:endParaRPr kumimoji="1" lang="ja-JP" altLang="en-US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1D8AB63-53C6-AC8F-402D-E0F29673CD46}"/>
              </a:ext>
            </a:extLst>
          </p:cNvPr>
          <p:cNvSpPr txBox="1"/>
          <p:nvPr/>
        </p:nvSpPr>
        <p:spPr>
          <a:xfrm>
            <a:off x="10028518" y="2792764"/>
            <a:ext cx="1837165" cy="369332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結合試験</a:t>
            </a:r>
            <a:endParaRPr kumimoji="1" lang="ja-JP" altLang="en-US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24E31BE-4AAD-825B-4D99-903270835FE9}"/>
              </a:ext>
            </a:extLst>
          </p:cNvPr>
          <p:cNvSpPr txBox="1"/>
          <p:nvPr/>
        </p:nvSpPr>
        <p:spPr>
          <a:xfrm>
            <a:off x="656215" y="3293029"/>
            <a:ext cx="2422655" cy="4607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300" dirty="0">
                <a:solidFill>
                  <a:schemeClr val="bg1"/>
                </a:solidFill>
              </a:rPr>
              <a:t>AI</a:t>
            </a:r>
            <a:r>
              <a:rPr kumimoji="1" lang="ja-JP" altLang="en-US" sz="1300" dirty="0">
                <a:solidFill>
                  <a:schemeClr val="bg1"/>
                </a:solidFill>
              </a:rPr>
              <a:t>活用方針</a:t>
            </a:r>
            <a:endParaRPr kumimoji="1" lang="en-US" altLang="ja-JP" sz="1300" dirty="0">
              <a:solidFill>
                <a:schemeClr val="bg1"/>
              </a:solidFill>
            </a:endParaRPr>
          </a:p>
          <a:p>
            <a:pPr algn="ctr"/>
            <a:r>
              <a:rPr lang="ja-JP" altLang="en-US" sz="1300" dirty="0">
                <a:solidFill>
                  <a:schemeClr val="bg1"/>
                </a:solidFill>
              </a:rPr>
              <a:t>全体計画</a:t>
            </a:r>
            <a:endParaRPr kumimoji="1" lang="ja-JP" altLang="en-US" sz="1300" dirty="0">
              <a:solidFill>
                <a:schemeClr val="bg1"/>
              </a:solidFill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D6C198F9-0B56-09F0-FF90-80FEC7DF4920}"/>
              </a:ext>
            </a:extLst>
          </p:cNvPr>
          <p:cNvSpPr txBox="1"/>
          <p:nvPr/>
        </p:nvSpPr>
        <p:spPr>
          <a:xfrm>
            <a:off x="4416612" y="3293029"/>
            <a:ext cx="1290917" cy="4607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300" dirty="0">
                <a:solidFill>
                  <a:schemeClr val="bg1"/>
                </a:solidFill>
              </a:rPr>
              <a:t>POC</a:t>
            </a:r>
            <a:r>
              <a:rPr kumimoji="1" lang="ja-JP" altLang="en-US" sz="1300" dirty="0">
                <a:solidFill>
                  <a:schemeClr val="bg1"/>
                </a:solidFill>
              </a:rPr>
              <a:t>・評価</a:t>
            </a:r>
            <a:endParaRPr kumimoji="1" lang="en-US" altLang="ja-JP" sz="1300" dirty="0">
              <a:solidFill>
                <a:schemeClr val="bg1"/>
              </a:solidFill>
            </a:endParaRPr>
          </a:p>
          <a:p>
            <a:pPr algn="ctr"/>
            <a:r>
              <a:rPr lang="en-US" altLang="ja-JP" sz="1300" dirty="0">
                <a:solidFill>
                  <a:schemeClr val="bg1"/>
                </a:solidFill>
              </a:rPr>
              <a:t>Update</a:t>
            </a:r>
            <a:endParaRPr kumimoji="1" lang="ja-JP" altLang="en-US" sz="13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A3951E5A-AA61-6276-998B-E4B97843ECE2}"/>
              </a:ext>
            </a:extLst>
          </p:cNvPr>
          <p:cNvSpPr txBox="1"/>
          <p:nvPr/>
        </p:nvSpPr>
        <p:spPr>
          <a:xfrm>
            <a:off x="6761777" y="3293029"/>
            <a:ext cx="1290917" cy="4607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300" dirty="0">
                <a:solidFill>
                  <a:schemeClr val="bg1"/>
                </a:solidFill>
              </a:rPr>
              <a:t>POC</a:t>
            </a:r>
            <a:r>
              <a:rPr kumimoji="1" lang="ja-JP" altLang="en-US" sz="1300" dirty="0">
                <a:solidFill>
                  <a:schemeClr val="bg1"/>
                </a:solidFill>
              </a:rPr>
              <a:t>・評価</a:t>
            </a:r>
            <a:endParaRPr kumimoji="1" lang="en-US" altLang="ja-JP" sz="1300" dirty="0">
              <a:solidFill>
                <a:schemeClr val="bg1"/>
              </a:solidFill>
            </a:endParaRPr>
          </a:p>
          <a:p>
            <a:pPr algn="ctr"/>
            <a:r>
              <a:rPr lang="en-US" altLang="ja-JP" sz="1300" dirty="0">
                <a:solidFill>
                  <a:schemeClr val="bg1"/>
                </a:solidFill>
              </a:rPr>
              <a:t>Update</a:t>
            </a:r>
            <a:endParaRPr kumimoji="1" lang="ja-JP" altLang="en-US" sz="1300" dirty="0">
              <a:solidFill>
                <a:schemeClr val="bg1"/>
              </a:solidFill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FD41671-0D8D-1B60-71C3-2E7E1BCA3291}"/>
              </a:ext>
            </a:extLst>
          </p:cNvPr>
          <p:cNvSpPr txBox="1"/>
          <p:nvPr/>
        </p:nvSpPr>
        <p:spPr>
          <a:xfrm>
            <a:off x="8772263" y="3293029"/>
            <a:ext cx="1290917" cy="4607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sz="1300" dirty="0">
                <a:solidFill>
                  <a:schemeClr val="bg1"/>
                </a:solidFill>
              </a:rPr>
              <a:t>POC</a:t>
            </a:r>
            <a:r>
              <a:rPr kumimoji="1" lang="ja-JP" altLang="en-US" sz="1300" dirty="0">
                <a:solidFill>
                  <a:schemeClr val="bg1"/>
                </a:solidFill>
              </a:rPr>
              <a:t>・評価</a:t>
            </a:r>
            <a:endParaRPr kumimoji="1" lang="en-US" altLang="ja-JP" sz="1300" dirty="0">
              <a:solidFill>
                <a:schemeClr val="bg1"/>
              </a:solidFill>
            </a:endParaRPr>
          </a:p>
          <a:p>
            <a:pPr algn="ctr"/>
            <a:r>
              <a:rPr lang="en-US" altLang="ja-JP" sz="1300" dirty="0">
                <a:solidFill>
                  <a:schemeClr val="bg1"/>
                </a:solidFill>
              </a:rPr>
              <a:t>Update</a:t>
            </a:r>
            <a:endParaRPr kumimoji="1" lang="ja-JP" altLang="en-US" sz="1300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F6AD5E-F89D-0EDC-9DAE-D72E8B72DF18}"/>
              </a:ext>
            </a:extLst>
          </p:cNvPr>
          <p:cNvSpPr txBox="1"/>
          <p:nvPr/>
        </p:nvSpPr>
        <p:spPr>
          <a:xfrm>
            <a:off x="124500" y="828169"/>
            <a:ext cx="366095" cy="71939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AI</a:t>
            </a:r>
            <a:r>
              <a:rPr kumimoji="1" lang="ja-JP" altLang="en-US" dirty="0">
                <a:solidFill>
                  <a:schemeClr val="bg1"/>
                </a:solidFill>
              </a:rPr>
              <a:t>化</a:t>
            </a:r>
          </a:p>
        </p:txBody>
      </p:sp>
      <p:sp>
        <p:nvSpPr>
          <p:cNvPr id="10" name="Header">
            <a:extLst>
              <a:ext uri="{FF2B5EF4-FFF2-40B4-BE49-F238E27FC236}">
                <a16:creationId xmlns:a16="http://schemas.microsoft.com/office/drawing/2014/main" id="{F24C5E14-D0C3-6BF3-344F-54CDE2F64F02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en-US" altLang="ja-JP" sz="1400" b="1" dirty="0">
                <a:solidFill>
                  <a:schemeClr val="bg1"/>
                </a:solidFill>
              </a:rPr>
              <a:t>02.PJ</a:t>
            </a:r>
            <a:r>
              <a:rPr lang="ja-JP" altLang="en-US" sz="1400" b="1" dirty="0">
                <a:solidFill>
                  <a:schemeClr val="bg1"/>
                </a:solidFill>
              </a:rPr>
              <a:t>の変化</a:t>
            </a:r>
          </a:p>
        </p:txBody>
      </p:sp>
      <p:sp>
        <p:nvSpPr>
          <p:cNvPr id="9" name="WarnBar">
            <a:extLst>
              <a:ext uri="{FF2B5EF4-FFF2-40B4-BE49-F238E27FC236}">
                <a16:creationId xmlns:a16="http://schemas.microsoft.com/office/drawing/2014/main" id="{EA028600-FFFF-46CB-9E90-E62D31ED36C9}"/>
              </a:ext>
            </a:extLst>
          </p:cNvPr>
          <p:cNvSpPr/>
          <p:nvPr/>
        </p:nvSpPr>
        <p:spPr>
          <a:xfrm>
            <a:off x="266700" y="5781040"/>
            <a:ext cx="76200" cy="736600"/>
          </a:xfrm>
          <a:prstGeom prst="rect">
            <a:avLst/>
          </a:prstGeom>
          <a:solidFill>
            <a:srgbClr val="D930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0BB347D9-D9C2-B53E-904E-8E5955BE1697}"/>
              </a:ext>
            </a:extLst>
          </p:cNvPr>
          <p:cNvSpPr txBox="1"/>
          <p:nvPr/>
        </p:nvSpPr>
        <p:spPr>
          <a:xfrm>
            <a:off x="812800" y="5853426"/>
            <a:ext cx="10896600" cy="59182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ja-JP" altLang="en-US" sz="1600" b="1" dirty="0">
                <a:solidFill>
                  <a:srgbClr val="D93025"/>
                </a:solidFill>
              </a:rPr>
              <a:t>直近：ベンダー検証結果の鵜呑みは危険度MAX。</a:t>
            </a:r>
          </a:p>
          <a:p>
            <a:pPr>
              <a:lnSpc>
                <a:spcPts val="2000"/>
              </a:lnSpc>
              <a:buNone/>
            </a:pPr>
            <a:r>
              <a:rPr lang="ja-JP" altLang="en-US" sz="1500" dirty="0">
                <a:solidFill>
                  <a:srgbClr val="1A2332"/>
                </a:solidFill>
              </a:rPr>
              <a:t>自分達で手を動かし、同手順でトレース・既存成果物と比較して評価しなおす。</a:t>
            </a:r>
          </a:p>
        </p:txBody>
      </p:sp>
      <p:pic>
        <p:nvPicPr>
          <p:cNvPr id="74" name="Graphic 74" descr="注意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100" y="5984240"/>
            <a:ext cx="304800" cy="304800"/>
          </a:xfrm>
          <a:prstGeom prst="rect">
            <a:avLst/>
          </a:prstGeom>
        </p:spPr>
      </p:pic>
      <p:sp>
        <p:nvSpPr>
          <p:cNvPr id="16" name="PointsBar">
            <a:extLst>
              <a:ext uri="{FF2B5EF4-FFF2-40B4-BE49-F238E27FC236}">
                <a16:creationId xmlns:a16="http://schemas.microsoft.com/office/drawing/2014/main" id="{612959BC-0581-4D15-99BA-A5F8ACAB3979}"/>
              </a:ext>
            </a:extLst>
          </p:cNvPr>
          <p:cNvSpPr/>
          <p:nvPr/>
        </p:nvSpPr>
        <p:spPr>
          <a:xfrm>
            <a:off x="266700" y="4057468"/>
            <a:ext cx="76200" cy="1327332"/>
          </a:xfrm>
          <a:prstGeom prst="rect">
            <a:avLst/>
          </a:prstGeom>
          <a:solidFill>
            <a:srgbClr val="0ABA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ED486ED2-A342-7B52-9A04-C6F3729FA23B}"/>
              </a:ext>
            </a:extLst>
          </p:cNvPr>
          <p:cNvSpPr txBox="1"/>
          <p:nvPr/>
        </p:nvSpPr>
        <p:spPr>
          <a:xfrm>
            <a:off x="609600" y="4177213"/>
            <a:ext cx="11074400" cy="10668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marL="200025" indent="-200025">
              <a:lnSpc>
                <a:spcPts val="2300"/>
              </a:lnSpc>
              <a:spcBef>
                <a:spcPts val="3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600" dirty="0">
                <a:solidFill>
                  <a:srgbClr val="1A2332"/>
                </a:solidFill>
              </a:rPr>
              <a:t>AI活用方針／全体計画は</a:t>
            </a:r>
            <a:r>
              <a:rPr lang="ja-JP" altLang="en-US" sz="1600" b="1" dirty="0">
                <a:solidFill>
                  <a:srgbClr val="008B85"/>
                </a:solidFill>
              </a:rPr>
              <a:t>全PJで検討される</a:t>
            </a:r>
          </a:p>
          <a:p>
            <a:pPr marL="200025" indent="-200025">
              <a:lnSpc>
                <a:spcPts val="2300"/>
              </a:lnSpc>
              <a:spcBef>
                <a:spcPts val="3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600" dirty="0">
                <a:solidFill>
                  <a:srgbClr val="1A2332"/>
                </a:solidFill>
              </a:rPr>
              <a:t>案件の性質・顧客文化に応じた</a:t>
            </a:r>
            <a:r>
              <a:rPr lang="ja-JP" altLang="en-US" sz="1600" b="1" dirty="0">
                <a:solidFill>
                  <a:srgbClr val="008B85"/>
                </a:solidFill>
              </a:rPr>
              <a:t>カスタマイズが必要</a:t>
            </a:r>
            <a:r>
              <a:rPr lang="ja-JP" altLang="en-US" sz="1600" dirty="0">
                <a:solidFill>
                  <a:srgbClr val="1A2332"/>
                </a:solidFill>
              </a:rPr>
              <a:t>（局面・成果物定義、各種コマンド、テンプレ）</a:t>
            </a:r>
          </a:p>
          <a:p>
            <a:pPr marL="200025" indent="-200025">
              <a:lnSpc>
                <a:spcPts val="2300"/>
              </a:lnSpc>
              <a:spcBef>
                <a:spcPts val="3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600" dirty="0">
                <a:solidFill>
                  <a:srgbClr val="1A2332"/>
                </a:solidFill>
              </a:rPr>
              <a:t>期待する生産性・品質が出るかは</a:t>
            </a:r>
            <a:r>
              <a:rPr lang="ja-JP" altLang="en-US" sz="1600" b="1" dirty="0">
                <a:solidFill>
                  <a:srgbClr val="008B85"/>
                </a:solidFill>
              </a:rPr>
              <a:t>実物で検証</a:t>
            </a:r>
          </a:p>
        </p:txBody>
      </p:sp>
      <p:sp>
        <p:nvSpPr>
          <p:cNvPr id="2" name="吹き出し: 円形 1">
            <a:extLst>
              <a:ext uri="{FF2B5EF4-FFF2-40B4-BE49-F238E27FC236}">
                <a16:creationId xmlns:a16="http://schemas.microsoft.com/office/drawing/2014/main" id="{A4DFD3CE-432E-C182-9E37-DD59FECF7E58}"/>
              </a:ext>
            </a:extLst>
          </p:cNvPr>
          <p:cNvSpPr/>
          <p:nvPr/>
        </p:nvSpPr>
        <p:spPr>
          <a:xfrm>
            <a:off x="8517963" y="5120727"/>
            <a:ext cx="1539966" cy="815631"/>
          </a:xfrm>
          <a:prstGeom prst="wedgeEllipseCallout">
            <a:avLst>
              <a:gd name="adj1" fmla="val -78662"/>
              <a:gd name="adj2" fmla="val 486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</a:rPr>
              <a:t>待ってても</a:t>
            </a:r>
            <a:endParaRPr lang="en-US" altLang="ja-JP" sz="14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</a:rPr>
              <a:t>依頼されない</a:t>
            </a:r>
          </a:p>
        </p:txBody>
      </p:sp>
      <p:pic>
        <p:nvPicPr>
          <p:cNvPr id="28" name="グラフィックス 27" descr="矢印: 時計回りの曲線 単色塗りつぶし">
            <a:extLst>
              <a:ext uri="{FF2B5EF4-FFF2-40B4-BE49-F238E27FC236}">
                <a16:creationId xmlns:a16="http://schemas.microsoft.com/office/drawing/2014/main" id="{094472AE-AA33-99A5-CE15-1E03485C4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889433" flipH="1">
            <a:off x="5557790" y="3114101"/>
            <a:ext cx="553302" cy="553302"/>
          </a:xfrm>
          <a:prstGeom prst="rect">
            <a:avLst/>
          </a:prstGeom>
        </p:spPr>
      </p:pic>
      <p:pic>
        <p:nvPicPr>
          <p:cNvPr id="31" name="グラフィックス 30" descr="矢印: 時計回りの曲線 単色塗りつぶし">
            <a:extLst>
              <a:ext uri="{FF2B5EF4-FFF2-40B4-BE49-F238E27FC236}">
                <a16:creationId xmlns:a16="http://schemas.microsoft.com/office/drawing/2014/main" id="{D0863AC5-70E7-4056-FFB6-8C734B0570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889433" flipH="1">
            <a:off x="7850663" y="3071216"/>
            <a:ext cx="553302" cy="553302"/>
          </a:xfrm>
          <a:prstGeom prst="rect">
            <a:avLst/>
          </a:prstGeom>
        </p:spPr>
      </p:pic>
      <p:pic>
        <p:nvPicPr>
          <p:cNvPr id="32" name="グラフィックス 31" descr="矢印: 時計回りの曲線 単色塗りつぶし">
            <a:extLst>
              <a:ext uri="{FF2B5EF4-FFF2-40B4-BE49-F238E27FC236}">
                <a16:creationId xmlns:a16="http://schemas.microsoft.com/office/drawing/2014/main" id="{CA79E793-D6F2-9762-3FE0-EB18D1440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889433" flipH="1">
            <a:off x="9860641" y="3071216"/>
            <a:ext cx="553302" cy="553302"/>
          </a:xfrm>
          <a:prstGeom prst="rect">
            <a:avLst/>
          </a:prstGeom>
        </p:spPr>
      </p:pic>
      <p:sp>
        <p:nvSpPr>
          <p:cNvPr id="37" name="PageNum">
            <a:extLst>
              <a:ext uri="{FF2B5EF4-FFF2-40B4-BE49-F238E27FC236}">
                <a16:creationId xmlns:a16="http://schemas.microsoft.com/office/drawing/2014/main" id="{2675BA85-F3B0-424B-BDC6-7CEE7CAA46B3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7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336051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89EF3-9E4B-B701-171A-81CE2BD8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7EDB34-AFA1-FA07-D8B3-C28B803AEB58}"/>
              </a:ext>
            </a:extLst>
          </p:cNvPr>
          <p:cNvSpPr txBox="1"/>
          <p:nvPr/>
        </p:nvSpPr>
        <p:spPr>
          <a:xfrm>
            <a:off x="602428" y="38374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要件・概要設計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5ECD5E-D37D-D4C9-9BE6-2EB8B06C4F0C}"/>
              </a:ext>
            </a:extLst>
          </p:cNvPr>
          <p:cNvSpPr txBox="1"/>
          <p:nvPr/>
        </p:nvSpPr>
        <p:spPr>
          <a:xfrm>
            <a:off x="2865119" y="38374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基本設計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49DA73F-1DE9-59EA-89CC-D30018D3E5E7}"/>
              </a:ext>
            </a:extLst>
          </p:cNvPr>
          <p:cNvSpPr txBox="1"/>
          <p:nvPr/>
        </p:nvSpPr>
        <p:spPr>
          <a:xfrm>
            <a:off x="5115261" y="38374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詳細設計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34CD0C2-D0F5-BE9A-BCBF-299F12FDDEBE}"/>
              </a:ext>
            </a:extLst>
          </p:cNvPr>
          <p:cNvSpPr txBox="1"/>
          <p:nvPr/>
        </p:nvSpPr>
        <p:spPr>
          <a:xfrm>
            <a:off x="7353448" y="38374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CD/UT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C83C37C-231C-8DD0-40F9-8E26F0BFB29C}"/>
              </a:ext>
            </a:extLst>
          </p:cNvPr>
          <p:cNvSpPr txBox="1"/>
          <p:nvPr/>
        </p:nvSpPr>
        <p:spPr>
          <a:xfrm>
            <a:off x="9590440" y="383743"/>
            <a:ext cx="222145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結合試験</a:t>
            </a:r>
            <a:endParaRPr kumimoji="1" lang="ja-JP" altLang="en-US" dirty="0"/>
          </a:p>
        </p:txBody>
      </p:sp>
      <p:sp>
        <p:nvSpPr>
          <p:cNvPr id="18" name="C0Bullets">
            <a:extLst>
              <a:ext uri="{FF2B5EF4-FFF2-40B4-BE49-F238E27FC236}">
                <a16:creationId xmlns:a16="http://schemas.microsoft.com/office/drawing/2014/main" id="{CC8836B9-0A5A-4C32-9D29-0B80D4AB473E}"/>
              </a:ext>
            </a:extLst>
          </p:cNvPr>
          <p:cNvSpPr txBox="1">
            <a:spLocks noGrp="1"/>
          </p:cNvSpPr>
          <p:nvPr/>
        </p:nvSpPr>
        <p:spPr>
          <a:xfrm>
            <a:off x="656215" y="885320"/>
            <a:ext cx="11155680" cy="719390"/>
          </a:xfrm>
          <a:prstGeom prst="rect">
            <a:avLst/>
          </a:prstGeom>
          <a:gradFill>
            <a:gsLst>
              <a:gs pos="0">
                <a:schemeClr val="accent1">
                  <a:lumMod val="2000"/>
                  <a:lumOff val="98000"/>
                </a:schemeClr>
              </a:gs>
              <a:gs pos="11930">
                <a:schemeClr val="accent1">
                  <a:lumMod val="2000"/>
                  <a:lumOff val="98000"/>
                </a:schemeClr>
              </a:gs>
              <a:gs pos="19930">
                <a:schemeClr val="accent1">
                  <a:lumMod val="20000"/>
                  <a:lumOff val="80000"/>
                </a:schemeClr>
              </a:gs>
              <a:gs pos="31970">
                <a:schemeClr val="accent1">
                  <a:lumMod val="20000"/>
                  <a:lumOff val="80000"/>
                </a:schemeClr>
              </a:gs>
              <a:gs pos="39970">
                <a:schemeClr val="accent1"/>
              </a:gs>
              <a:gs pos="72070">
                <a:schemeClr val="accent1"/>
              </a:gs>
              <a:gs pos="8007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solidFill>
              <a:schemeClr val="bg1">
                <a:lumMod val="95000"/>
              </a:schemeClr>
            </a:solidFill>
          </a:ln>
        </p:spPr>
        <p:txBody>
          <a:bodyPr wrap="square" lIns="45720" tIns="45720" rIns="45720" bIns="45720"/>
          <a:lstStyle/>
          <a:p>
            <a:pPr>
              <a:lnSpc>
                <a:spcPct val="150000"/>
              </a:lnSpc>
            </a:pPr>
            <a:endParaRPr lang="ja-JP" altLang="en-US" sz="15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4D2CF49-E819-D27E-347F-5384F10A0B78}"/>
              </a:ext>
            </a:extLst>
          </p:cNvPr>
          <p:cNvSpPr txBox="1"/>
          <p:nvPr/>
        </p:nvSpPr>
        <p:spPr>
          <a:xfrm>
            <a:off x="3502211" y="127071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副🤖</a:t>
            </a:r>
            <a:endParaRPr kumimoji="1"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0A76929-AB60-5706-D789-494E0C7EB3A1}"/>
              </a:ext>
            </a:extLst>
          </p:cNvPr>
          <p:cNvSpPr txBox="1"/>
          <p:nvPr/>
        </p:nvSpPr>
        <p:spPr>
          <a:xfrm>
            <a:off x="3502211" y="901386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主👦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89F3C4-1F7E-45CA-33DA-7ED353133256}"/>
              </a:ext>
            </a:extLst>
          </p:cNvPr>
          <p:cNvSpPr txBox="1"/>
          <p:nvPr/>
        </p:nvSpPr>
        <p:spPr>
          <a:xfrm>
            <a:off x="5707529" y="88531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主</a:t>
            </a:r>
            <a:r>
              <a:rPr kumimoji="1" lang="ja-JP" altLang="en-US" dirty="0"/>
              <a:t>🤖</a:t>
            </a:r>
            <a:endParaRPr kumimoji="1" lang="en-US" altLang="ja-JP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E638031-8318-2AFB-CC9B-D9D8F16D76CA}"/>
              </a:ext>
            </a:extLst>
          </p:cNvPr>
          <p:cNvSpPr txBox="1"/>
          <p:nvPr/>
        </p:nvSpPr>
        <p:spPr>
          <a:xfrm>
            <a:off x="5707529" y="123537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副👦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4A24EF4-D44D-783E-EB21-46743A596453}"/>
              </a:ext>
            </a:extLst>
          </p:cNvPr>
          <p:cNvSpPr txBox="1"/>
          <p:nvPr/>
        </p:nvSpPr>
        <p:spPr>
          <a:xfrm>
            <a:off x="8092141" y="88531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主</a:t>
            </a:r>
            <a:r>
              <a:rPr kumimoji="1" lang="ja-JP" altLang="en-US" dirty="0"/>
              <a:t>🤖</a:t>
            </a:r>
            <a:endParaRPr kumimoji="1" lang="en-US" altLang="ja-JP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A398E5D-AE09-C3D8-23D2-3A4B095B43FC}"/>
              </a:ext>
            </a:extLst>
          </p:cNvPr>
          <p:cNvSpPr txBox="1"/>
          <p:nvPr/>
        </p:nvSpPr>
        <p:spPr>
          <a:xfrm>
            <a:off x="8092141" y="123537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副👦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96EF0D0-06F1-D186-45B8-4B091FCB6AA3}"/>
              </a:ext>
            </a:extLst>
          </p:cNvPr>
          <p:cNvSpPr txBox="1"/>
          <p:nvPr/>
        </p:nvSpPr>
        <p:spPr>
          <a:xfrm>
            <a:off x="10309412" y="885319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主🤖</a:t>
            </a:r>
            <a:endParaRPr kumimoji="1" lang="en-US" altLang="ja-JP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C6DD7F0-CE85-B10D-D816-256A0042755D}"/>
              </a:ext>
            </a:extLst>
          </p:cNvPr>
          <p:cNvSpPr txBox="1"/>
          <p:nvPr/>
        </p:nvSpPr>
        <p:spPr>
          <a:xfrm>
            <a:off x="10309412" y="123537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副👦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0FC71B-B4E7-98AC-129E-588AB070DB3C}"/>
              </a:ext>
            </a:extLst>
          </p:cNvPr>
          <p:cNvSpPr txBox="1"/>
          <p:nvPr/>
        </p:nvSpPr>
        <p:spPr>
          <a:xfrm>
            <a:off x="1381275" y="1270718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副🤖</a:t>
            </a:r>
            <a:endParaRPr kumimoji="1" lang="en-US" altLang="ja-JP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A7E68EE-5178-FEDF-2F93-E65CB48E0D10}"/>
              </a:ext>
            </a:extLst>
          </p:cNvPr>
          <p:cNvSpPr txBox="1"/>
          <p:nvPr/>
        </p:nvSpPr>
        <p:spPr>
          <a:xfrm>
            <a:off x="1381275" y="901386"/>
            <a:ext cx="77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主👦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6B5FA26-781D-60DC-6F86-4ACCEE1AFF7E}"/>
              </a:ext>
            </a:extLst>
          </p:cNvPr>
          <p:cNvSpPr txBox="1"/>
          <p:nvPr/>
        </p:nvSpPr>
        <p:spPr>
          <a:xfrm>
            <a:off x="103057" y="1778000"/>
            <a:ext cx="366095" cy="1803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現</a:t>
            </a:r>
            <a:r>
              <a:rPr kumimoji="1" lang="en-US" altLang="ja-JP" dirty="0">
                <a:solidFill>
                  <a:schemeClr val="bg1"/>
                </a:solidFill>
              </a:rPr>
              <a:t>L</a:t>
            </a:r>
          </a:p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TL</a:t>
            </a:r>
          </a:p>
        </p:txBody>
      </p:sp>
      <p:sp>
        <p:nvSpPr>
          <p:cNvPr id="5" name="C0Bullets">
            <a:extLst>
              <a:ext uri="{FF2B5EF4-FFF2-40B4-BE49-F238E27FC236}">
                <a16:creationId xmlns:a16="http://schemas.microsoft.com/office/drawing/2014/main" id="{AE00BDE1-9594-5A0C-E70F-B5191030B8E7}"/>
              </a:ext>
            </a:extLst>
          </p:cNvPr>
          <p:cNvSpPr txBox="1">
            <a:spLocks noGrp="1"/>
          </p:cNvSpPr>
          <p:nvPr/>
        </p:nvSpPr>
        <p:spPr>
          <a:xfrm>
            <a:off x="691476" y="1778000"/>
            <a:ext cx="11267442" cy="1803400"/>
          </a:xfrm>
          <a:prstGeom prst="roundRect">
            <a:avLst>
              <a:gd name="adj" fmla="val 5767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45720" tIns="45720" rIns="45720" bIns="45720" anchor="ctr"/>
          <a:lstStyle/>
          <a:p>
            <a:pPr>
              <a:lnSpc>
                <a:spcPts val="2600"/>
              </a:lnSpc>
              <a:spcBef>
                <a:spcPts val="300"/>
              </a:spcBef>
              <a:buClr>
                <a:srgbClr val="0ABAB5"/>
              </a:buClr>
            </a:pPr>
            <a:r>
              <a:rPr lang="en-US" altLang="ja-JP" sz="1600" b="1" dirty="0">
                <a:solidFill>
                  <a:srgbClr val="008B85"/>
                </a:solidFill>
              </a:rPr>
              <a:t>AI</a:t>
            </a:r>
            <a:r>
              <a:rPr lang="ja-JP" altLang="en-US" sz="1600" b="1" dirty="0">
                <a:solidFill>
                  <a:srgbClr val="008B85"/>
                </a:solidFill>
              </a:rPr>
              <a:t>活用前提のプレイングマネージメント型</a:t>
            </a:r>
            <a:endParaRPr lang="en-US" altLang="ja-JP" sz="1600" b="1" dirty="0">
              <a:solidFill>
                <a:srgbClr val="008B85"/>
              </a:solidFill>
            </a:endParaRPr>
          </a:p>
          <a:p>
            <a:pPr marL="200025" indent="-200025">
              <a:lnSpc>
                <a:spcPts val="2600"/>
              </a:lnSpc>
              <a:spcBef>
                <a:spcPts val="3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ja-JP" sz="1600" dirty="0"/>
              <a:t>業務要件・システム設計・開発を全般的に理解把握する実力必要</a:t>
            </a:r>
            <a:endParaRPr lang="en-US" altLang="ja-JP" sz="1600" dirty="0">
              <a:solidFill>
                <a:srgbClr val="1A2332"/>
              </a:solidFill>
            </a:endParaRPr>
          </a:p>
          <a:p>
            <a:pPr marL="200025" indent="-200025">
              <a:lnSpc>
                <a:spcPts val="2600"/>
              </a:lnSpc>
              <a:spcBef>
                <a:spcPts val="3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600" dirty="0">
                <a:solidFill>
                  <a:srgbClr val="1A2332"/>
                </a:solidFill>
              </a:rPr>
              <a:t>顧客と要件を詰める・システム化するスキルは</a:t>
            </a:r>
            <a:r>
              <a:rPr lang="ja-JP" altLang="en-US" sz="1600" b="1" dirty="0">
                <a:solidFill>
                  <a:srgbClr val="008B85"/>
                </a:solidFill>
              </a:rPr>
              <a:t>継続的に必要</a:t>
            </a:r>
            <a:r>
              <a:rPr lang="ja-JP" altLang="en-US" sz="1600" dirty="0">
                <a:solidFill>
                  <a:srgbClr val="1A2332"/>
                </a:solidFill>
              </a:rPr>
              <a:t>（顧客・他TM調整の矢面に立つ仕事）</a:t>
            </a:r>
          </a:p>
          <a:p>
            <a:pPr marL="200025" indent="-200025">
              <a:lnSpc>
                <a:spcPts val="2600"/>
              </a:lnSpc>
              <a:spcBef>
                <a:spcPts val="300"/>
              </a:spcBef>
              <a:buClr>
                <a:srgbClr val="0ABAB5"/>
              </a:buClr>
              <a:buFont typeface="Arial"/>
              <a:buChar char="●"/>
            </a:pPr>
            <a:r>
              <a:rPr lang="ja-JP" altLang="en-US" sz="1600" dirty="0">
                <a:solidFill>
                  <a:srgbClr val="1A2332"/>
                </a:solidFill>
              </a:rPr>
              <a:t>先回りの観点洗い出し・チェックルール構築、</a:t>
            </a:r>
            <a:r>
              <a:rPr lang="ja-JP" altLang="en-US" sz="1600" b="1" dirty="0">
                <a:solidFill>
                  <a:srgbClr val="008B85"/>
                </a:solidFill>
              </a:rPr>
              <a:t>進行中の問題検知／解消の速さに価値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657FB65-0CF4-D26E-3CCC-A17FD5E5F69C}"/>
              </a:ext>
            </a:extLst>
          </p:cNvPr>
          <p:cNvSpPr txBox="1"/>
          <p:nvPr/>
        </p:nvSpPr>
        <p:spPr>
          <a:xfrm>
            <a:off x="112564" y="3733800"/>
            <a:ext cx="366095" cy="1270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キーマン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7" name="C0Bullets">
            <a:extLst>
              <a:ext uri="{FF2B5EF4-FFF2-40B4-BE49-F238E27FC236}">
                <a16:creationId xmlns:a16="http://schemas.microsoft.com/office/drawing/2014/main" id="{883AECF9-6CF4-2F7D-1661-EAB9C5187B79}"/>
              </a:ext>
            </a:extLst>
          </p:cNvPr>
          <p:cNvSpPr txBox="1">
            <a:spLocks noGrp="1"/>
          </p:cNvSpPr>
          <p:nvPr/>
        </p:nvSpPr>
        <p:spPr>
          <a:xfrm>
            <a:off x="737196" y="3733800"/>
            <a:ext cx="11221722" cy="1270000"/>
          </a:xfrm>
          <a:prstGeom prst="roundRect">
            <a:avLst>
              <a:gd name="adj" fmla="val 5767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45720" tIns="45720" rIns="45720" bIns="45720" anchor="ctr"/>
          <a:lstStyle/>
          <a:p>
            <a:pPr>
              <a:lnSpc>
                <a:spcPts val="2700"/>
              </a:lnSpc>
              <a:spcBef>
                <a:spcPts val="300"/>
              </a:spcBef>
              <a:buClr>
                <a:srgbClr val="008B85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年次経験を軸とした</a:t>
            </a:r>
            <a:r>
              <a:rPr lang="ja-JP" altLang="en-US" sz="1600" b="1" dirty="0">
                <a:solidFill>
                  <a:srgbClr val="008B85"/>
                </a:solidFill>
              </a:rPr>
              <a:t>分業前提</a:t>
            </a:r>
            <a:r>
              <a:rPr lang="en-US" altLang="ja-JP" sz="1600" b="1" dirty="0">
                <a:solidFill>
                  <a:srgbClr val="008B85"/>
                </a:solidFill>
              </a:rPr>
              <a:t>(</a:t>
            </a:r>
            <a:r>
              <a:rPr lang="ja-JP" altLang="en-US" sz="1600" b="1" dirty="0">
                <a:solidFill>
                  <a:srgbClr val="008B85"/>
                </a:solidFill>
              </a:rPr>
              <a:t>例えば上流のみとか</a:t>
            </a:r>
            <a:r>
              <a:rPr lang="en-US" altLang="ja-JP" sz="1600" b="1" dirty="0">
                <a:solidFill>
                  <a:srgbClr val="008B85"/>
                </a:solidFill>
              </a:rPr>
              <a:t>)</a:t>
            </a:r>
            <a:r>
              <a:rPr lang="ja-JP" altLang="en-US" sz="1600" b="1" dirty="0">
                <a:solidFill>
                  <a:srgbClr val="008B85"/>
                </a:solidFill>
              </a:rPr>
              <a:t>のキーマンは厳しい</a:t>
            </a:r>
          </a:p>
          <a:p>
            <a:pPr>
              <a:lnSpc>
                <a:spcPts val="2700"/>
              </a:lnSpc>
              <a:spcBef>
                <a:spcPts val="300"/>
              </a:spcBef>
              <a:buClr>
                <a:srgbClr val="008B85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　</a:t>
            </a:r>
            <a:r>
              <a:rPr lang="en-US" altLang="ja-JP" sz="1600" dirty="0">
                <a:solidFill>
                  <a:srgbClr val="1A2332"/>
                </a:solidFill>
              </a:rPr>
              <a:t>(</a:t>
            </a:r>
            <a:r>
              <a:rPr lang="ja-JP" altLang="en-US" sz="1600" dirty="0">
                <a:solidFill>
                  <a:srgbClr val="1A2332"/>
                </a:solidFill>
              </a:rPr>
              <a:t>縦に伸ばす</a:t>
            </a:r>
            <a:r>
              <a:rPr lang="en-US" altLang="ja-JP" sz="1600" dirty="0">
                <a:solidFill>
                  <a:srgbClr val="1A2332"/>
                </a:solidFill>
              </a:rPr>
              <a:t>)</a:t>
            </a:r>
            <a:r>
              <a:rPr lang="ja-JP" altLang="en-US" sz="1600" dirty="0">
                <a:solidFill>
                  <a:srgbClr val="1A2332"/>
                </a:solidFill>
              </a:rPr>
              <a:t>上流・業務・AI活用でのPJ進行など</a:t>
            </a:r>
            <a:r>
              <a:rPr lang="ja-JP" altLang="en-US" sz="1600" b="1" dirty="0">
                <a:solidFill>
                  <a:srgbClr val="008B85"/>
                </a:solidFill>
              </a:rPr>
              <a:t>何かに特化</a:t>
            </a:r>
            <a:r>
              <a:rPr lang="ja-JP" altLang="en-US" sz="1600" dirty="0">
                <a:solidFill>
                  <a:srgbClr val="1A2332"/>
                </a:solidFill>
              </a:rPr>
              <a:t>。ジュニア層の戦力化教育でも価値を発揮</a:t>
            </a:r>
            <a:endParaRPr lang="en-US" altLang="ja-JP" sz="1600" dirty="0">
              <a:solidFill>
                <a:srgbClr val="1A2332"/>
              </a:solidFill>
            </a:endParaRPr>
          </a:p>
          <a:p>
            <a:pPr>
              <a:lnSpc>
                <a:spcPts val="2700"/>
              </a:lnSpc>
              <a:spcBef>
                <a:spcPts val="300"/>
              </a:spcBef>
              <a:buClr>
                <a:srgbClr val="008B85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　</a:t>
            </a:r>
            <a:r>
              <a:rPr lang="en-US" altLang="ja-JP" sz="1600" dirty="0">
                <a:solidFill>
                  <a:srgbClr val="1A2332"/>
                </a:solidFill>
              </a:rPr>
              <a:t>(</a:t>
            </a:r>
            <a:r>
              <a:rPr lang="ja-JP" altLang="en-US" sz="1600" dirty="0">
                <a:solidFill>
                  <a:srgbClr val="1A2332"/>
                </a:solidFill>
              </a:rPr>
              <a:t>横に伸ばす</a:t>
            </a:r>
            <a:r>
              <a:rPr lang="en-US" altLang="ja-JP" sz="1600" dirty="0">
                <a:solidFill>
                  <a:srgbClr val="1A2332"/>
                </a:solidFill>
              </a:rPr>
              <a:t>)</a:t>
            </a:r>
            <a:r>
              <a:rPr lang="ja-JP" altLang="en-US" sz="1600" dirty="0">
                <a:solidFill>
                  <a:srgbClr val="1A2332"/>
                </a:solidFill>
              </a:rPr>
              <a:t>上流～下流の開発スキルのリスキニング ⇒ </a:t>
            </a:r>
            <a:r>
              <a:rPr lang="en-US" altLang="ja-JP" sz="1600" dirty="0">
                <a:solidFill>
                  <a:srgbClr val="1A2332"/>
                </a:solidFill>
              </a:rPr>
              <a:t>AI</a:t>
            </a:r>
            <a:r>
              <a:rPr lang="ja-JP" altLang="en-US" sz="1600" dirty="0">
                <a:solidFill>
                  <a:srgbClr val="1A2332"/>
                </a:solidFill>
              </a:rPr>
              <a:t>前提の</a:t>
            </a:r>
            <a:r>
              <a:rPr lang="en-US" altLang="ja-JP" sz="1600" dirty="0">
                <a:solidFill>
                  <a:srgbClr val="1A2332"/>
                </a:solidFill>
              </a:rPr>
              <a:t>PJ</a:t>
            </a:r>
            <a:r>
              <a:rPr lang="ja-JP" altLang="en-US" sz="1600" dirty="0">
                <a:solidFill>
                  <a:srgbClr val="1A2332"/>
                </a:solidFill>
              </a:rPr>
              <a:t>の開発の流れを習得　など・・</a:t>
            </a:r>
            <a:endParaRPr lang="en-US" altLang="ja-JP" sz="1600" dirty="0">
              <a:solidFill>
                <a:srgbClr val="1A2332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A0039A5-6E15-1FA5-86D5-9EC765B877E8}"/>
              </a:ext>
            </a:extLst>
          </p:cNvPr>
          <p:cNvSpPr txBox="1"/>
          <p:nvPr/>
        </p:nvSpPr>
        <p:spPr>
          <a:xfrm>
            <a:off x="112564" y="5130800"/>
            <a:ext cx="366095" cy="1270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ジュニア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9" name="C0Bullets">
            <a:extLst>
              <a:ext uri="{FF2B5EF4-FFF2-40B4-BE49-F238E27FC236}">
                <a16:creationId xmlns:a16="http://schemas.microsoft.com/office/drawing/2014/main" id="{D1C45B48-54F5-1B7E-EF1C-6752BDDE5142}"/>
              </a:ext>
            </a:extLst>
          </p:cNvPr>
          <p:cNvSpPr txBox="1">
            <a:spLocks noGrp="1"/>
          </p:cNvSpPr>
          <p:nvPr/>
        </p:nvSpPr>
        <p:spPr>
          <a:xfrm>
            <a:off x="737196" y="5130800"/>
            <a:ext cx="11221722" cy="1270000"/>
          </a:xfrm>
          <a:prstGeom prst="roundRect">
            <a:avLst>
              <a:gd name="adj" fmla="val 5767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45720" tIns="45720" rIns="45720" bIns="45720" anchor="ctr"/>
          <a:lstStyle/>
          <a:p>
            <a:pPr marL="200025" indent="-200025">
              <a:lnSpc>
                <a:spcPts val="2700"/>
              </a:lnSpc>
              <a:spcBef>
                <a:spcPts val="300"/>
              </a:spcBef>
              <a:buClr>
                <a:srgbClr val="78909C"/>
              </a:buClr>
              <a:buFont typeface="Arial"/>
              <a:buChar char="●"/>
            </a:pPr>
            <a:r>
              <a:rPr lang="ja-JP" altLang="en-US" sz="1600" dirty="0">
                <a:solidFill>
                  <a:srgbClr val="1A2332"/>
                </a:solidFill>
              </a:rPr>
              <a:t>単純仕事</a:t>
            </a:r>
            <a:r>
              <a:rPr lang="en-US" altLang="ja-JP" sz="1600" dirty="0">
                <a:solidFill>
                  <a:srgbClr val="1A2332"/>
                </a:solidFill>
              </a:rPr>
              <a:t>(</a:t>
            </a:r>
            <a:r>
              <a:rPr lang="ja-JP" altLang="en-US" sz="1600" dirty="0">
                <a:solidFill>
                  <a:srgbClr val="1A2332"/>
                </a:solidFill>
              </a:rPr>
              <a:t>答えが自明な作業</a:t>
            </a:r>
            <a:r>
              <a:rPr lang="en-US" altLang="ja-JP" sz="1600" dirty="0">
                <a:solidFill>
                  <a:srgbClr val="1A2332"/>
                </a:solidFill>
              </a:rPr>
              <a:t>)</a:t>
            </a:r>
            <a:r>
              <a:rPr lang="ja-JP" altLang="en-US" sz="1600" dirty="0">
                <a:solidFill>
                  <a:srgbClr val="1A2332"/>
                </a:solidFill>
              </a:rPr>
              <a:t>については</a:t>
            </a:r>
            <a:r>
              <a:rPr lang="ja-JP" altLang="en-US" sz="1600" b="1" dirty="0">
                <a:solidFill>
                  <a:srgbClr val="008B85"/>
                </a:solidFill>
              </a:rPr>
              <a:t>AIが代替する仕事</a:t>
            </a:r>
            <a:r>
              <a:rPr lang="ja-JP" altLang="en-US" sz="1600" dirty="0">
                <a:solidFill>
                  <a:srgbClr val="1A2332"/>
                </a:solidFill>
              </a:rPr>
              <a:t>は増え、PJ参画自体のハードルも上昇</a:t>
            </a:r>
          </a:p>
          <a:p>
            <a:pPr marL="200025" indent="-200025">
              <a:lnSpc>
                <a:spcPts val="2700"/>
              </a:lnSpc>
              <a:spcBef>
                <a:spcPts val="300"/>
              </a:spcBef>
              <a:buClr>
                <a:srgbClr val="78909C"/>
              </a:buClr>
              <a:buFont typeface="Arial"/>
              <a:buChar char="●"/>
            </a:pPr>
            <a:r>
              <a:rPr lang="ja-JP" altLang="en-US" sz="1600" dirty="0">
                <a:solidFill>
                  <a:srgbClr val="1A2332"/>
                </a:solidFill>
              </a:rPr>
              <a:t>参画後も</a:t>
            </a:r>
            <a:r>
              <a:rPr lang="ja-JP" altLang="en-US" sz="1600" b="1" dirty="0">
                <a:solidFill>
                  <a:srgbClr val="008B85"/>
                </a:solidFill>
              </a:rPr>
              <a:t>戦略的にスキルを積まないと稼げる人材にならない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3CFB5E7-B317-3F31-F3D0-23E91B8F44B8}"/>
              </a:ext>
            </a:extLst>
          </p:cNvPr>
          <p:cNvSpPr txBox="1"/>
          <p:nvPr/>
        </p:nvSpPr>
        <p:spPr>
          <a:xfrm>
            <a:off x="86400" y="885319"/>
            <a:ext cx="366095" cy="71939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AI</a:t>
            </a:r>
            <a:r>
              <a:rPr kumimoji="1" lang="ja-JP" altLang="en-US" dirty="0">
                <a:solidFill>
                  <a:schemeClr val="bg1"/>
                </a:solidFill>
              </a:rPr>
              <a:t>化</a:t>
            </a:r>
          </a:p>
        </p:txBody>
      </p:sp>
      <p:sp>
        <p:nvSpPr>
          <p:cNvPr id="28" name="Header">
            <a:extLst>
              <a:ext uri="{FF2B5EF4-FFF2-40B4-BE49-F238E27FC236}">
                <a16:creationId xmlns:a16="http://schemas.microsoft.com/office/drawing/2014/main" id="{80721066-801B-797D-E114-720B732D91A4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en-US" altLang="ja-JP" sz="1400" b="1" dirty="0">
                <a:solidFill>
                  <a:schemeClr val="bg1"/>
                </a:solidFill>
              </a:rPr>
              <a:t>03.</a:t>
            </a:r>
            <a:r>
              <a:rPr lang="ja-JP" altLang="en-US" sz="1400" b="1" dirty="0">
                <a:solidFill>
                  <a:schemeClr val="bg1"/>
                </a:solidFill>
              </a:rPr>
              <a:t>求められる人材の変化</a:t>
            </a:r>
          </a:p>
        </p:txBody>
      </p:sp>
      <p:sp>
        <p:nvSpPr>
          <p:cNvPr id="27" name="PageNum">
            <a:extLst>
              <a:ext uri="{FF2B5EF4-FFF2-40B4-BE49-F238E27FC236}">
                <a16:creationId xmlns:a16="http://schemas.microsoft.com/office/drawing/2014/main" id="{251B3523-2408-49B0-9D75-FC4A61D320D2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8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  <p:sp>
        <p:nvSpPr>
          <p:cNvPr id="17" name="右中かっこ 16">
            <a:extLst>
              <a:ext uri="{FF2B5EF4-FFF2-40B4-BE49-F238E27FC236}">
                <a16:creationId xmlns:a16="http://schemas.microsoft.com/office/drawing/2014/main" id="{CA49958F-9167-E349-783C-FF8A0CEC1805}"/>
              </a:ext>
            </a:extLst>
          </p:cNvPr>
          <p:cNvSpPr/>
          <p:nvPr/>
        </p:nvSpPr>
        <p:spPr>
          <a:xfrm>
            <a:off x="10203599" y="4113385"/>
            <a:ext cx="595256" cy="16690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吹き出し: 円形 13">
            <a:extLst>
              <a:ext uri="{FF2B5EF4-FFF2-40B4-BE49-F238E27FC236}">
                <a16:creationId xmlns:a16="http://schemas.microsoft.com/office/drawing/2014/main" id="{5D6DBE4D-BD13-59C5-0C21-A4298ABB3707}"/>
              </a:ext>
            </a:extLst>
          </p:cNvPr>
          <p:cNvSpPr/>
          <p:nvPr/>
        </p:nvSpPr>
        <p:spPr>
          <a:xfrm>
            <a:off x="10203599" y="3221554"/>
            <a:ext cx="1775460" cy="815631"/>
          </a:xfrm>
          <a:prstGeom prst="wedgeEllipseCallout">
            <a:avLst>
              <a:gd name="adj1" fmla="val -35613"/>
              <a:gd name="adj2" fmla="val 654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</a:rPr>
              <a:t>変化の対応を</a:t>
            </a:r>
            <a:endParaRPr lang="en-US" altLang="ja-JP" sz="14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</a:rPr>
              <a:t>強く求められそう</a:t>
            </a:r>
          </a:p>
        </p:txBody>
      </p:sp>
    </p:spTree>
    <p:extLst>
      <p:ext uri="{BB962C8B-B14F-4D97-AF65-F5344CB8AC3E}">
        <p14:creationId xmlns:p14="http://schemas.microsoft.com/office/powerpoint/2010/main" val="3941640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AD54D-F473-9578-2E2B-8FE2EB3D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">
            <a:extLst>
              <a:ext uri="{FF2B5EF4-FFF2-40B4-BE49-F238E27FC236}">
                <a16:creationId xmlns:a16="http://schemas.microsoft.com/office/drawing/2014/main" id="{B73C838F-3273-1CC3-62B5-2A10F8765ECC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ja-JP" sz="1400" b="1" dirty="0">
                <a:solidFill>
                  <a:schemeClr val="bg1"/>
                </a:solidFill>
                <a:latin typeface="Meiryo UI"/>
              </a:rPr>
              <a:t>0</a:t>
            </a:r>
            <a:r>
              <a:rPr lang="en-US" altLang="ja-JP" sz="1400" b="1" dirty="0">
                <a:solidFill>
                  <a:schemeClr val="bg1"/>
                </a:solidFill>
                <a:latin typeface="Meiryo UI"/>
              </a:rPr>
              <a:t>4.</a:t>
            </a:r>
            <a:r>
              <a:rPr lang="ja-JP" altLang="en-US" sz="1400" b="1" dirty="0">
                <a:solidFill>
                  <a:schemeClr val="bg1"/>
                </a:solidFill>
              </a:rPr>
              <a:t> </a:t>
            </a:r>
            <a:r>
              <a:rPr lang="en-US" altLang="ja-JP" sz="1400" b="1" dirty="0">
                <a:solidFill>
                  <a:schemeClr val="bg1"/>
                </a:solidFill>
              </a:rPr>
              <a:t>AI</a:t>
            </a:r>
            <a:r>
              <a:rPr lang="ja-JP" altLang="en-US" sz="1400" b="1" dirty="0">
                <a:solidFill>
                  <a:schemeClr val="bg1"/>
                </a:solidFill>
              </a:rPr>
              <a:t>時代に必要なスキル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20CC84E1-47AC-2150-9CE6-38FDBE5BD035}"/>
              </a:ext>
            </a:extLst>
          </p:cNvPr>
          <p:cNvSpPr/>
          <p:nvPr/>
        </p:nvSpPr>
        <p:spPr>
          <a:xfrm>
            <a:off x="228600" y="369685"/>
            <a:ext cx="117348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altLang="ja-JP" sz="2400" dirty="0"/>
              <a:t>我が社にはAI時代に</a:t>
            </a:r>
            <a:r>
              <a:rPr lang="ja-JP" altLang="en-US" sz="2400" dirty="0"/>
              <a:t>も</a:t>
            </a:r>
            <a:r>
              <a:rPr lang="ja-JP" altLang="ja-JP" sz="2400" dirty="0"/>
              <a:t>強みを発揮しやすい文化がある </a:t>
            </a:r>
          </a:p>
        </p:txBody>
      </p:sp>
      <p:sp>
        <p:nvSpPr>
          <p:cNvPr id="6" name="Sep">
            <a:extLst>
              <a:ext uri="{FF2B5EF4-FFF2-40B4-BE49-F238E27FC236}">
                <a16:creationId xmlns:a16="http://schemas.microsoft.com/office/drawing/2014/main" id="{0765C799-5081-B559-4EA9-FA6B24780ED1}"/>
              </a:ext>
            </a:extLst>
          </p:cNvPr>
          <p:cNvSpPr/>
          <p:nvPr/>
        </p:nvSpPr>
        <p:spPr>
          <a:xfrm>
            <a:off x="228600" y="876300"/>
            <a:ext cx="11734800" cy="2540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7" name="LcBG">
            <a:extLst>
              <a:ext uri="{FF2B5EF4-FFF2-40B4-BE49-F238E27FC236}">
                <a16:creationId xmlns:a16="http://schemas.microsoft.com/office/drawing/2014/main" id="{FC116217-905B-C4C4-DE68-F5687F5BC904}"/>
              </a:ext>
            </a:extLst>
          </p:cNvPr>
          <p:cNvSpPr>
            <a:spLocks noGrp="1"/>
          </p:cNvSpPr>
          <p:nvPr/>
        </p:nvSpPr>
        <p:spPr>
          <a:xfrm>
            <a:off x="390108" y="1209733"/>
            <a:ext cx="4870232" cy="5432136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8" name="LcTopBar">
            <a:extLst>
              <a:ext uri="{FF2B5EF4-FFF2-40B4-BE49-F238E27FC236}">
                <a16:creationId xmlns:a16="http://schemas.microsoft.com/office/drawing/2014/main" id="{9B988937-9EA7-6827-BA6C-ABCEA5FC1B57}"/>
              </a:ext>
            </a:extLst>
          </p:cNvPr>
          <p:cNvSpPr>
            <a:spLocks noGrp="1"/>
          </p:cNvSpPr>
          <p:nvPr/>
        </p:nvSpPr>
        <p:spPr>
          <a:xfrm>
            <a:off x="390108" y="1123279"/>
            <a:ext cx="4870232" cy="117636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9" name="LcTtl">
            <a:extLst>
              <a:ext uri="{FF2B5EF4-FFF2-40B4-BE49-F238E27FC236}">
                <a16:creationId xmlns:a16="http://schemas.microsoft.com/office/drawing/2014/main" id="{07297941-781F-60BB-3EC2-F635816DC1DC}"/>
              </a:ext>
            </a:extLst>
          </p:cNvPr>
          <p:cNvSpPr txBox="1">
            <a:spLocks noGrp="1"/>
          </p:cNvSpPr>
          <p:nvPr/>
        </p:nvSpPr>
        <p:spPr>
          <a:xfrm>
            <a:off x="491708" y="1279015"/>
            <a:ext cx="3517900" cy="2413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300" b="1" dirty="0"/>
              <a:t>ソフトスキル・</a:t>
            </a:r>
            <a:r>
              <a:rPr lang="en-US" altLang="ja-JP" sz="1300" b="1" dirty="0"/>
              <a:t>SKI</a:t>
            </a:r>
            <a:r>
              <a:rPr lang="ja-JP" altLang="en-US" sz="1300" b="1" dirty="0"/>
              <a:t>社員が持つ共通的な特徴</a:t>
            </a:r>
            <a:endParaRPr lang="ja-JP" sz="1300" b="1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10" name="C1bg">
            <a:extLst>
              <a:ext uri="{FF2B5EF4-FFF2-40B4-BE49-F238E27FC236}">
                <a16:creationId xmlns:a16="http://schemas.microsoft.com/office/drawing/2014/main" id="{E58E5778-2B13-BF44-42AB-8478486AE331}"/>
              </a:ext>
            </a:extLst>
          </p:cNvPr>
          <p:cNvSpPr>
            <a:spLocks noGrp="1"/>
          </p:cNvSpPr>
          <p:nvPr/>
        </p:nvSpPr>
        <p:spPr>
          <a:xfrm>
            <a:off x="491708" y="1675474"/>
            <a:ext cx="4507012" cy="10436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12" name="C1br">
            <a:extLst>
              <a:ext uri="{FF2B5EF4-FFF2-40B4-BE49-F238E27FC236}">
                <a16:creationId xmlns:a16="http://schemas.microsoft.com/office/drawing/2014/main" id="{884885F7-A69C-94DC-9596-71EF9E8A1FAE}"/>
              </a:ext>
            </a:extLst>
          </p:cNvPr>
          <p:cNvSpPr>
            <a:spLocks noGrp="1"/>
          </p:cNvSpPr>
          <p:nvPr/>
        </p:nvSpPr>
        <p:spPr>
          <a:xfrm>
            <a:off x="491707" y="1675474"/>
            <a:ext cx="65083" cy="10436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13" name="C1tl">
            <a:extLst>
              <a:ext uri="{FF2B5EF4-FFF2-40B4-BE49-F238E27FC236}">
                <a16:creationId xmlns:a16="http://schemas.microsoft.com/office/drawing/2014/main" id="{A34652C4-1644-7721-D3AC-D8C74DE0910A}"/>
              </a:ext>
            </a:extLst>
          </p:cNvPr>
          <p:cNvSpPr txBox="1">
            <a:spLocks noGrp="1"/>
          </p:cNvSpPr>
          <p:nvPr/>
        </p:nvSpPr>
        <p:spPr>
          <a:xfrm>
            <a:off x="593308" y="1738974"/>
            <a:ext cx="4311762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sz="2000" b="1" dirty="0">
                <a:solidFill>
                  <a:schemeClr val="accent1"/>
                </a:solidFill>
                <a:latin typeface="Meiryo UI"/>
              </a:rPr>
              <a:t>① </a:t>
            </a:r>
            <a:r>
              <a:rPr lang="ja-JP" altLang="en-US" sz="2000" b="1" dirty="0">
                <a:solidFill>
                  <a:schemeClr val="accent1"/>
                </a:solidFill>
                <a:latin typeface="Meiryo UI"/>
              </a:rPr>
              <a:t>責任感・完遂力</a:t>
            </a:r>
            <a:endParaRPr lang="ja-JP" sz="2000" b="1" dirty="0">
              <a:solidFill>
                <a:schemeClr val="accent1"/>
              </a:solidFill>
              <a:latin typeface="Meiryo UI"/>
            </a:endParaRPr>
          </a:p>
        </p:txBody>
      </p:sp>
      <p:sp>
        <p:nvSpPr>
          <p:cNvPr id="14" name="C1bd">
            <a:extLst>
              <a:ext uri="{FF2B5EF4-FFF2-40B4-BE49-F238E27FC236}">
                <a16:creationId xmlns:a16="http://schemas.microsoft.com/office/drawing/2014/main" id="{25B8860F-187A-CD01-CE86-F0ECB9CF0337}"/>
              </a:ext>
            </a:extLst>
          </p:cNvPr>
          <p:cNvSpPr txBox="1">
            <a:spLocks noGrp="1"/>
          </p:cNvSpPr>
          <p:nvPr/>
        </p:nvSpPr>
        <p:spPr>
          <a:xfrm>
            <a:off x="686958" y="2095950"/>
            <a:ext cx="4311762" cy="522961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最終的な成果責任に強い使命感あり。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どのメンバーが出した成果でも</a:t>
            </a: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SKI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品質！</a:t>
            </a:r>
            <a:endParaRPr lang="ja-JP" sz="1500" dirty="0">
              <a:solidFill>
                <a:srgbClr val="37474F"/>
              </a:solidFill>
              <a:latin typeface="Meiryo UI"/>
            </a:endParaRPr>
          </a:p>
        </p:txBody>
      </p:sp>
      <p:sp>
        <p:nvSpPr>
          <p:cNvPr id="15" name="C2bg">
            <a:extLst>
              <a:ext uri="{FF2B5EF4-FFF2-40B4-BE49-F238E27FC236}">
                <a16:creationId xmlns:a16="http://schemas.microsoft.com/office/drawing/2014/main" id="{D42148CD-BC11-F0EE-D421-B63147290EBE}"/>
              </a:ext>
            </a:extLst>
          </p:cNvPr>
          <p:cNvSpPr>
            <a:spLocks noGrp="1"/>
          </p:cNvSpPr>
          <p:nvPr/>
        </p:nvSpPr>
        <p:spPr>
          <a:xfrm>
            <a:off x="491708" y="4143433"/>
            <a:ext cx="4507012" cy="104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16" name="C2br">
            <a:extLst>
              <a:ext uri="{FF2B5EF4-FFF2-40B4-BE49-F238E27FC236}">
                <a16:creationId xmlns:a16="http://schemas.microsoft.com/office/drawing/2014/main" id="{EC35A366-E2C1-E47F-AC8F-DD4C4BA4E3D0}"/>
              </a:ext>
            </a:extLst>
          </p:cNvPr>
          <p:cNvSpPr>
            <a:spLocks noGrp="1"/>
          </p:cNvSpPr>
          <p:nvPr/>
        </p:nvSpPr>
        <p:spPr>
          <a:xfrm>
            <a:off x="491707" y="4143433"/>
            <a:ext cx="65083" cy="1041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17" name="C2tl">
            <a:extLst>
              <a:ext uri="{FF2B5EF4-FFF2-40B4-BE49-F238E27FC236}">
                <a16:creationId xmlns:a16="http://schemas.microsoft.com/office/drawing/2014/main" id="{F2027B6E-1271-568E-E5BF-09449EF659D1}"/>
              </a:ext>
            </a:extLst>
          </p:cNvPr>
          <p:cNvSpPr txBox="1">
            <a:spLocks noGrp="1"/>
          </p:cNvSpPr>
          <p:nvPr/>
        </p:nvSpPr>
        <p:spPr>
          <a:xfrm>
            <a:off x="593308" y="4206933"/>
            <a:ext cx="4311762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2000" b="1" dirty="0">
                <a:solidFill>
                  <a:schemeClr val="accent1"/>
                </a:solidFill>
                <a:latin typeface="Meiryo UI"/>
              </a:rPr>
              <a:t>③</a:t>
            </a:r>
            <a:r>
              <a:rPr lang="ja-JP" sz="2000" b="1" dirty="0">
                <a:solidFill>
                  <a:schemeClr val="accent1"/>
                </a:solidFill>
                <a:latin typeface="Meiryo UI"/>
              </a:rPr>
              <a:t> </a:t>
            </a:r>
            <a:r>
              <a:rPr lang="ja-JP" altLang="en-US" sz="2000" b="1" dirty="0">
                <a:solidFill>
                  <a:schemeClr val="accent1"/>
                </a:solidFill>
                <a:latin typeface="Meiryo UI"/>
              </a:rPr>
              <a:t>計画性</a:t>
            </a:r>
            <a:endParaRPr lang="ja-JP" sz="2000" b="1" dirty="0">
              <a:solidFill>
                <a:schemeClr val="accent1"/>
              </a:solidFill>
              <a:latin typeface="Meiryo UI"/>
            </a:endParaRPr>
          </a:p>
        </p:txBody>
      </p:sp>
      <p:sp>
        <p:nvSpPr>
          <p:cNvPr id="18" name="C2bd">
            <a:extLst>
              <a:ext uri="{FF2B5EF4-FFF2-40B4-BE49-F238E27FC236}">
                <a16:creationId xmlns:a16="http://schemas.microsoft.com/office/drawing/2014/main" id="{D536B55F-DCEA-5C83-BD7D-9BE98F6336D7}"/>
              </a:ext>
            </a:extLst>
          </p:cNvPr>
          <p:cNvSpPr txBox="1">
            <a:spLocks noGrp="1"/>
          </p:cNvSpPr>
          <p:nvPr/>
        </p:nvSpPr>
        <p:spPr>
          <a:xfrm>
            <a:off x="685800" y="4562533"/>
            <a:ext cx="4311762" cy="63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次局面の準備や・見通しを立てる事への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関心が高く、先手のオペレーションが行える</a:t>
            </a:r>
            <a:endParaRPr lang="ja-JP" sz="1500" dirty="0">
              <a:solidFill>
                <a:srgbClr val="37474F"/>
              </a:solidFill>
              <a:latin typeface="Meiryo UI"/>
            </a:endParaRPr>
          </a:p>
        </p:txBody>
      </p:sp>
      <p:sp>
        <p:nvSpPr>
          <p:cNvPr id="34" name="C1bg">
            <a:extLst>
              <a:ext uri="{FF2B5EF4-FFF2-40B4-BE49-F238E27FC236}">
                <a16:creationId xmlns:a16="http://schemas.microsoft.com/office/drawing/2014/main" id="{95C7777E-F2E9-E7F7-0545-F06284EAF881}"/>
              </a:ext>
            </a:extLst>
          </p:cNvPr>
          <p:cNvSpPr>
            <a:spLocks noGrp="1"/>
          </p:cNvSpPr>
          <p:nvPr/>
        </p:nvSpPr>
        <p:spPr>
          <a:xfrm>
            <a:off x="491708" y="2916891"/>
            <a:ext cx="4507012" cy="10436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35" name="C1br">
            <a:extLst>
              <a:ext uri="{FF2B5EF4-FFF2-40B4-BE49-F238E27FC236}">
                <a16:creationId xmlns:a16="http://schemas.microsoft.com/office/drawing/2014/main" id="{1354BD63-15B4-46A6-3090-CAD8E22EB804}"/>
              </a:ext>
            </a:extLst>
          </p:cNvPr>
          <p:cNvSpPr>
            <a:spLocks noGrp="1"/>
          </p:cNvSpPr>
          <p:nvPr/>
        </p:nvSpPr>
        <p:spPr>
          <a:xfrm>
            <a:off x="499658" y="2916891"/>
            <a:ext cx="63500" cy="10436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36" name="C1tl">
            <a:extLst>
              <a:ext uri="{FF2B5EF4-FFF2-40B4-BE49-F238E27FC236}">
                <a16:creationId xmlns:a16="http://schemas.microsoft.com/office/drawing/2014/main" id="{1B63628B-6D67-394B-C23C-3000566BD366}"/>
              </a:ext>
            </a:extLst>
          </p:cNvPr>
          <p:cNvSpPr txBox="1">
            <a:spLocks noGrp="1"/>
          </p:cNvSpPr>
          <p:nvPr/>
        </p:nvSpPr>
        <p:spPr>
          <a:xfrm>
            <a:off x="593308" y="2975033"/>
            <a:ext cx="4311762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2000" b="1" dirty="0">
                <a:solidFill>
                  <a:schemeClr val="accent1"/>
                </a:solidFill>
                <a:latin typeface="Meiryo UI"/>
              </a:rPr>
              <a:t>②</a:t>
            </a:r>
            <a:r>
              <a:rPr lang="ja-JP" sz="2000" b="1" dirty="0">
                <a:solidFill>
                  <a:schemeClr val="accent1"/>
                </a:solidFill>
                <a:latin typeface="Meiryo UI"/>
              </a:rPr>
              <a:t> </a:t>
            </a:r>
            <a:r>
              <a:rPr lang="ja-JP" altLang="en-US" sz="2000" b="1" dirty="0">
                <a:solidFill>
                  <a:schemeClr val="accent1"/>
                </a:solidFill>
                <a:latin typeface="Meiryo UI"/>
              </a:rPr>
              <a:t>主体性</a:t>
            </a:r>
            <a:endParaRPr lang="ja-JP" sz="2000" b="1" dirty="0">
              <a:solidFill>
                <a:schemeClr val="accent1"/>
              </a:solidFill>
              <a:latin typeface="Meiryo UI"/>
            </a:endParaRPr>
          </a:p>
        </p:txBody>
      </p:sp>
      <p:sp>
        <p:nvSpPr>
          <p:cNvPr id="37" name="C1bd">
            <a:extLst>
              <a:ext uri="{FF2B5EF4-FFF2-40B4-BE49-F238E27FC236}">
                <a16:creationId xmlns:a16="http://schemas.microsoft.com/office/drawing/2014/main" id="{FFAA4816-966F-0137-A414-AEB1ED01CD17}"/>
              </a:ext>
            </a:extLst>
          </p:cNvPr>
          <p:cNvSpPr txBox="1">
            <a:spLocks noGrp="1"/>
          </p:cNvSpPr>
          <p:nvPr/>
        </p:nvSpPr>
        <p:spPr>
          <a:xfrm>
            <a:off x="593308" y="3401753"/>
            <a:ext cx="4311762" cy="522961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endParaRPr lang="ja-JP" sz="1500" dirty="0">
              <a:solidFill>
                <a:srgbClr val="37474F"/>
              </a:solidFill>
              <a:latin typeface="Meiryo UI"/>
            </a:endParaRPr>
          </a:p>
        </p:txBody>
      </p:sp>
      <p:sp>
        <p:nvSpPr>
          <p:cNvPr id="38" name="C1bd">
            <a:extLst>
              <a:ext uri="{FF2B5EF4-FFF2-40B4-BE49-F238E27FC236}">
                <a16:creationId xmlns:a16="http://schemas.microsoft.com/office/drawing/2014/main" id="{871C09EE-E3A6-EDDF-8C69-A22EC7899CBC}"/>
              </a:ext>
            </a:extLst>
          </p:cNvPr>
          <p:cNvSpPr txBox="1">
            <a:spLocks noGrp="1"/>
          </p:cNvSpPr>
          <p:nvPr/>
        </p:nvSpPr>
        <p:spPr>
          <a:xfrm>
            <a:off x="685800" y="3330633"/>
            <a:ext cx="4311762" cy="522961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PJ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で起こる問題は自分事として捉えて、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問題提起・解決の提案を行う事が出来る</a:t>
            </a:r>
            <a:endParaRPr lang="ja-JP" sz="1500" dirty="0">
              <a:solidFill>
                <a:srgbClr val="37474F"/>
              </a:solidFill>
              <a:latin typeface="Meiryo UI"/>
            </a:endParaRPr>
          </a:p>
        </p:txBody>
      </p:sp>
      <p:sp>
        <p:nvSpPr>
          <p:cNvPr id="39" name="C2bg">
            <a:extLst>
              <a:ext uri="{FF2B5EF4-FFF2-40B4-BE49-F238E27FC236}">
                <a16:creationId xmlns:a16="http://schemas.microsoft.com/office/drawing/2014/main" id="{E040A0A8-E4A3-1016-7052-09979DFE5C66}"/>
              </a:ext>
            </a:extLst>
          </p:cNvPr>
          <p:cNvSpPr>
            <a:spLocks noGrp="1"/>
          </p:cNvSpPr>
          <p:nvPr/>
        </p:nvSpPr>
        <p:spPr>
          <a:xfrm>
            <a:off x="491708" y="5375333"/>
            <a:ext cx="4507012" cy="104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40" name="C2br">
            <a:extLst>
              <a:ext uri="{FF2B5EF4-FFF2-40B4-BE49-F238E27FC236}">
                <a16:creationId xmlns:a16="http://schemas.microsoft.com/office/drawing/2014/main" id="{23B6A0E4-FF44-797E-7B16-7497C0B5BFD3}"/>
              </a:ext>
            </a:extLst>
          </p:cNvPr>
          <p:cNvSpPr>
            <a:spLocks noGrp="1"/>
          </p:cNvSpPr>
          <p:nvPr/>
        </p:nvSpPr>
        <p:spPr>
          <a:xfrm>
            <a:off x="491707" y="5375333"/>
            <a:ext cx="65083" cy="1041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ja-JP" dirty="0"/>
          </a:p>
        </p:txBody>
      </p:sp>
      <p:sp>
        <p:nvSpPr>
          <p:cNvPr id="41" name="C2tl">
            <a:extLst>
              <a:ext uri="{FF2B5EF4-FFF2-40B4-BE49-F238E27FC236}">
                <a16:creationId xmlns:a16="http://schemas.microsoft.com/office/drawing/2014/main" id="{5765E875-85DE-9FB4-A09C-4B0EC740C61B}"/>
              </a:ext>
            </a:extLst>
          </p:cNvPr>
          <p:cNvSpPr txBox="1">
            <a:spLocks noGrp="1"/>
          </p:cNvSpPr>
          <p:nvPr/>
        </p:nvSpPr>
        <p:spPr>
          <a:xfrm>
            <a:off x="593308" y="5438833"/>
            <a:ext cx="4311762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2000" b="1" dirty="0">
                <a:solidFill>
                  <a:schemeClr val="accent1"/>
                </a:solidFill>
                <a:latin typeface="Meiryo UI"/>
              </a:rPr>
              <a:t>④</a:t>
            </a:r>
            <a:r>
              <a:rPr lang="ja-JP" sz="2000" b="1" dirty="0">
                <a:solidFill>
                  <a:schemeClr val="accent1"/>
                </a:solidFill>
                <a:latin typeface="Meiryo UI"/>
              </a:rPr>
              <a:t> </a:t>
            </a:r>
            <a:r>
              <a:rPr lang="ja-JP" altLang="en-US" sz="2000" b="1" dirty="0">
                <a:solidFill>
                  <a:schemeClr val="accent1"/>
                </a:solidFill>
                <a:latin typeface="Meiryo UI"/>
              </a:rPr>
              <a:t>チームマネージメント力</a:t>
            </a:r>
            <a:endParaRPr lang="ja-JP" sz="2000" b="1" dirty="0">
              <a:solidFill>
                <a:schemeClr val="accent1"/>
              </a:solidFill>
              <a:latin typeface="Meiryo UI"/>
            </a:endParaRPr>
          </a:p>
        </p:txBody>
      </p:sp>
      <p:sp>
        <p:nvSpPr>
          <p:cNvPr id="42" name="C2bd">
            <a:extLst>
              <a:ext uri="{FF2B5EF4-FFF2-40B4-BE49-F238E27FC236}">
                <a16:creationId xmlns:a16="http://schemas.microsoft.com/office/drawing/2014/main" id="{357BF5FF-EEBE-BF27-49D9-5F4E954772A0}"/>
              </a:ext>
            </a:extLst>
          </p:cNvPr>
          <p:cNvSpPr txBox="1">
            <a:spLocks noGrp="1"/>
          </p:cNvSpPr>
          <p:nvPr/>
        </p:nvSpPr>
        <p:spPr>
          <a:xfrm>
            <a:off x="685800" y="5794433"/>
            <a:ext cx="4311762" cy="63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メンバーの育成・迅速な</a:t>
            </a:r>
            <a:r>
              <a:rPr lang="ja-JP" altLang="en-US" sz="1500" dirty="0">
                <a:solidFill>
                  <a:schemeClr val="tx2"/>
                </a:solidFill>
              </a:rPr>
              <a:t>意思決定に基づいた統制取れたチーム運用。メンバーとの良い関係性。</a:t>
            </a:r>
            <a:endParaRPr lang="en-US" altLang="ja-JP" sz="1500" dirty="0">
              <a:solidFill>
                <a:schemeClr val="tx2"/>
              </a:solidFill>
            </a:endParaRPr>
          </a:p>
          <a:p>
            <a:pPr>
              <a:buNone/>
            </a:pPr>
            <a:endParaRPr lang="en-US" altLang="ja-JP" sz="1500" dirty="0">
              <a:solidFill>
                <a:srgbClr val="37474F"/>
              </a:solidFill>
              <a:latin typeface="Meiryo UI"/>
            </a:endParaRPr>
          </a:p>
        </p:txBody>
      </p:sp>
      <p:sp>
        <p:nvSpPr>
          <p:cNvPr id="44" name="吹き出し: 円形 43">
            <a:extLst>
              <a:ext uri="{FF2B5EF4-FFF2-40B4-BE49-F238E27FC236}">
                <a16:creationId xmlns:a16="http://schemas.microsoft.com/office/drawing/2014/main" id="{516159D8-F3E4-1B62-ACEA-933A75BCBE3C}"/>
              </a:ext>
            </a:extLst>
          </p:cNvPr>
          <p:cNvSpPr/>
          <p:nvPr/>
        </p:nvSpPr>
        <p:spPr>
          <a:xfrm>
            <a:off x="5296858" y="1445241"/>
            <a:ext cx="6520811" cy="3059584"/>
          </a:xfrm>
          <a:prstGeom prst="wedgeEllipseCallout">
            <a:avLst>
              <a:gd name="adj1" fmla="val -51887"/>
              <a:gd name="adj2" fmla="val 37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2800" dirty="0"/>
              <a:t>ski</a:t>
            </a:r>
            <a:r>
              <a:rPr lang="ja-JP" altLang="en-US" sz="2800" dirty="0"/>
              <a:t>の</a:t>
            </a:r>
            <a:r>
              <a:rPr lang="en-US" altLang="ja-JP" sz="2800" dirty="0"/>
              <a:t>K(</a:t>
            </a:r>
            <a:r>
              <a:rPr lang="ja-JP" altLang="en-US" sz="2800" dirty="0"/>
              <a:t>基本</a:t>
            </a:r>
            <a:r>
              <a:rPr lang="en-US" altLang="ja-JP" sz="2800" dirty="0"/>
              <a:t>)</a:t>
            </a:r>
            <a:r>
              <a:rPr lang="ja-JP" altLang="en-US" sz="2800" dirty="0"/>
              <a:t>から醸成される</a:t>
            </a:r>
            <a:endParaRPr kumimoji="1" lang="en-US" altLang="ja-JP" sz="2800" dirty="0"/>
          </a:p>
          <a:p>
            <a:pPr algn="ctr"/>
            <a:r>
              <a:rPr kumimoji="1" lang="ja-JP" altLang="en-US" sz="2800" dirty="0"/>
              <a:t>考え方やカルチャーは、</a:t>
            </a:r>
            <a:endParaRPr kumimoji="1" lang="en-US" altLang="ja-JP" sz="2800" dirty="0"/>
          </a:p>
          <a:p>
            <a:pPr algn="ctr"/>
            <a:r>
              <a:rPr lang="ja-JP" altLang="en-US" sz="2800" dirty="0"/>
              <a:t>次世代においても</a:t>
            </a:r>
            <a:endParaRPr lang="en-US" altLang="ja-JP" sz="2800" dirty="0"/>
          </a:p>
          <a:p>
            <a:pPr algn="ctr"/>
            <a:r>
              <a:rPr kumimoji="1" lang="ja-JP" altLang="en-US" sz="2800" dirty="0"/>
              <a:t>変わらず価値あるものです</a:t>
            </a:r>
            <a:endParaRPr kumimoji="1" lang="en-US" altLang="ja-JP" sz="2800" dirty="0"/>
          </a:p>
        </p:txBody>
      </p:sp>
      <p:sp>
        <p:nvSpPr>
          <p:cNvPr id="45" name="LcTtl">
            <a:extLst>
              <a:ext uri="{FF2B5EF4-FFF2-40B4-BE49-F238E27FC236}">
                <a16:creationId xmlns:a16="http://schemas.microsoft.com/office/drawing/2014/main" id="{C800237D-95DE-C48D-41DB-AD05CCB4AEFA}"/>
              </a:ext>
            </a:extLst>
          </p:cNvPr>
          <p:cNvSpPr txBox="1">
            <a:spLocks noGrp="1"/>
          </p:cNvSpPr>
          <p:nvPr/>
        </p:nvSpPr>
        <p:spPr>
          <a:xfrm>
            <a:off x="6218830" y="4695537"/>
            <a:ext cx="4870232" cy="971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300" b="1" dirty="0">
                <a:solidFill>
                  <a:schemeClr val="tx2"/>
                </a:solidFill>
                <a:latin typeface="Meiryo UI"/>
              </a:rPr>
              <a:t>顧客より評価頂いているポイント</a:t>
            </a:r>
            <a:endParaRPr lang="en-US" altLang="ja-JP" sz="1300" b="1" dirty="0">
              <a:solidFill>
                <a:schemeClr val="tx2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300" b="1" dirty="0">
                <a:solidFill>
                  <a:schemeClr val="tx2"/>
                </a:solidFill>
                <a:latin typeface="Meiryo UI"/>
              </a:rPr>
              <a:t>同業他社と比較しても競争力あるなと思う人も多いのでは！？</a:t>
            </a:r>
            <a:endParaRPr lang="en-US" altLang="ja-JP" sz="1300" b="1" dirty="0">
              <a:solidFill>
                <a:schemeClr val="tx2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300" b="1" dirty="0">
                <a:solidFill>
                  <a:schemeClr val="tx2"/>
                </a:solidFill>
                <a:latin typeface="Meiryo UI"/>
              </a:rPr>
              <a:t>これを</a:t>
            </a:r>
            <a:r>
              <a:rPr lang="en-US" altLang="ja-JP" sz="1300" b="1" dirty="0">
                <a:solidFill>
                  <a:schemeClr val="tx2"/>
                </a:solidFill>
                <a:latin typeface="Meiryo UI"/>
              </a:rPr>
              <a:t>0</a:t>
            </a:r>
            <a:r>
              <a:rPr lang="ja-JP" altLang="en-US" sz="1300" b="1" dirty="0">
                <a:solidFill>
                  <a:schemeClr val="tx2"/>
                </a:solidFill>
                <a:latin typeface="Meiryo UI"/>
              </a:rPr>
              <a:t>から文化として持つ事は本当に大変・・・。</a:t>
            </a:r>
            <a:endParaRPr lang="en-US" altLang="ja-JP" sz="1300" b="1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2" name="PageNum">
            <a:extLst>
              <a:ext uri="{FF2B5EF4-FFF2-40B4-BE49-F238E27FC236}">
                <a16:creationId xmlns:a16="http://schemas.microsoft.com/office/drawing/2014/main" id="{57C98DAC-338B-4295-A932-40DB4FE0CD2C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9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2452637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5F24-1A47-7A74-17C1-C006D814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">
            <a:extLst>
              <a:ext uri="{FF2B5EF4-FFF2-40B4-BE49-F238E27FC236}">
                <a16:creationId xmlns:a16="http://schemas.microsoft.com/office/drawing/2014/main" id="{37D4EE2F-7BEE-D65D-D8BF-5FE742D859F2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ja-JP" altLang="ja-JP" sz="1400" b="1" dirty="0">
                <a:solidFill>
                  <a:schemeClr val="bg1"/>
                </a:solidFill>
              </a:rPr>
              <a:t>0</a:t>
            </a:r>
            <a:r>
              <a:rPr lang="en-US" altLang="ja-JP" sz="1400" b="1" dirty="0">
                <a:solidFill>
                  <a:schemeClr val="bg1"/>
                </a:solidFill>
              </a:rPr>
              <a:t>4.</a:t>
            </a:r>
            <a:r>
              <a:rPr lang="ja-JP" altLang="en-US" sz="1400" b="1" dirty="0">
                <a:solidFill>
                  <a:schemeClr val="bg1"/>
                </a:solidFill>
              </a:rPr>
              <a:t> </a:t>
            </a:r>
            <a:r>
              <a:rPr lang="en-US" altLang="ja-JP" sz="1400" b="1" dirty="0">
                <a:solidFill>
                  <a:schemeClr val="bg1"/>
                </a:solidFill>
              </a:rPr>
              <a:t>AI</a:t>
            </a:r>
            <a:r>
              <a:rPr lang="ja-JP" altLang="en-US" sz="1400" b="1" dirty="0">
                <a:solidFill>
                  <a:schemeClr val="bg1"/>
                </a:solidFill>
              </a:rPr>
              <a:t>時代に必要なスキル</a:t>
            </a:r>
          </a:p>
        </p:txBody>
      </p:sp>
      <p:sp>
        <p:nvSpPr>
          <p:cNvPr id="6" name="Sep">
            <a:extLst>
              <a:ext uri="{FF2B5EF4-FFF2-40B4-BE49-F238E27FC236}">
                <a16:creationId xmlns:a16="http://schemas.microsoft.com/office/drawing/2014/main" id="{5F4010CE-2998-D597-F31A-635EE0BDD551}"/>
              </a:ext>
            </a:extLst>
          </p:cNvPr>
          <p:cNvSpPr/>
          <p:nvPr/>
        </p:nvSpPr>
        <p:spPr>
          <a:xfrm>
            <a:off x="228600" y="876300"/>
            <a:ext cx="11734800" cy="2540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AF5C5038-0506-45C9-768A-56AA6784DF4A}"/>
              </a:ext>
            </a:extLst>
          </p:cNvPr>
          <p:cNvSpPr/>
          <p:nvPr/>
        </p:nvSpPr>
        <p:spPr>
          <a:xfrm>
            <a:off x="178377" y="410370"/>
            <a:ext cx="11734800" cy="39933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altLang="en-US" sz="2400" dirty="0"/>
              <a:t>この考え方自体は変わりません！従来スキルセットの発展型です</a:t>
            </a:r>
          </a:p>
        </p:txBody>
      </p:sp>
      <p:sp>
        <p:nvSpPr>
          <p:cNvPr id="22" name="ToBeBox">
            <a:extLst>
              <a:ext uri="{FF2B5EF4-FFF2-40B4-BE49-F238E27FC236}">
                <a16:creationId xmlns:a16="http://schemas.microsoft.com/office/drawing/2014/main" id="{9AD62DFF-D7BE-EBFA-B942-E130AF3B6C75}"/>
              </a:ext>
            </a:extLst>
          </p:cNvPr>
          <p:cNvSpPr/>
          <p:nvPr/>
        </p:nvSpPr>
        <p:spPr>
          <a:xfrm>
            <a:off x="8110376" y="2817163"/>
            <a:ext cx="3548224" cy="1143000"/>
          </a:xfrm>
          <a:prstGeom prst="roundRect">
            <a:avLst>
              <a:gd name="adj" fmla="val 8000"/>
            </a:avLst>
          </a:prstGeom>
          <a:solidFill>
            <a:srgbClr val="006B66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altLang="ja-JP" sz="1600" b="1" dirty="0">
                <a:solidFill>
                  <a:srgbClr val="FFFFFF"/>
                </a:solidFill>
                <a:latin typeface="Segoe UI" panose="020B0502040204020203" pitchFamily="34" charset="0"/>
              </a:rPr>
              <a:t>To Be</a:t>
            </a:r>
          </a:p>
          <a:p>
            <a:pPr algn="ctr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Segoe UI" panose="020B0502040204020203" pitchFamily="34" charset="0"/>
              </a:rPr>
              <a:t>次世代のエンジニアに必要なスキル</a:t>
            </a:r>
            <a:endParaRPr lang="en-US" altLang="ja-JP" sz="16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AsIsBox">
            <a:extLst>
              <a:ext uri="{FF2B5EF4-FFF2-40B4-BE49-F238E27FC236}">
                <a16:creationId xmlns:a16="http://schemas.microsoft.com/office/drawing/2014/main" id="{71ABF2F5-0175-32EB-D2FD-89C17AFDA949}"/>
              </a:ext>
            </a:extLst>
          </p:cNvPr>
          <p:cNvSpPr/>
          <p:nvPr/>
        </p:nvSpPr>
        <p:spPr>
          <a:xfrm>
            <a:off x="533400" y="1271317"/>
            <a:ext cx="3429000" cy="114300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altLang="ja-JP" sz="1600" b="1" dirty="0">
                <a:latin typeface="Segoe UI" panose="020B0502040204020203" pitchFamily="34" charset="0"/>
              </a:rPr>
              <a:t>As Is</a:t>
            </a:r>
          </a:p>
          <a:p>
            <a:pPr algn="ctr">
              <a:lnSpc>
                <a:spcPts val="1800"/>
              </a:lnSpc>
              <a:buNone/>
            </a:pPr>
            <a:r>
              <a:rPr lang="ja-JP" altLang="en-US" sz="1400" dirty="0">
                <a:latin typeface="Segoe UI" panose="020B0502040204020203" pitchFamily="34" charset="0"/>
              </a:rPr>
              <a:t>従来のスキルセット</a:t>
            </a:r>
          </a:p>
        </p:txBody>
      </p:sp>
      <p:sp>
        <p:nvSpPr>
          <p:cNvPr id="9" name="ToBeBox">
            <a:extLst>
              <a:ext uri="{FF2B5EF4-FFF2-40B4-BE49-F238E27FC236}">
                <a16:creationId xmlns:a16="http://schemas.microsoft.com/office/drawing/2014/main" id="{A0DCCC78-E62D-102E-F367-FCF72B81D9F9}"/>
              </a:ext>
            </a:extLst>
          </p:cNvPr>
          <p:cNvSpPr/>
          <p:nvPr/>
        </p:nvSpPr>
        <p:spPr>
          <a:xfrm>
            <a:off x="4978400" y="1255907"/>
            <a:ext cx="6731000" cy="114300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altLang="ja-JP" sz="1600" b="1" dirty="0">
                <a:latin typeface="Segoe UI" panose="020B0502040204020203" pitchFamily="34" charset="0"/>
              </a:rPr>
              <a:t>To Be</a:t>
            </a:r>
          </a:p>
          <a:p>
            <a:pPr algn="ctr">
              <a:lnSpc>
                <a:spcPts val="1800"/>
              </a:lnSpc>
              <a:buNone/>
            </a:pPr>
            <a:r>
              <a:rPr lang="ja-JP" altLang="en-US" sz="1400" b="1" dirty="0">
                <a:solidFill>
                  <a:srgbClr val="0070C0"/>
                </a:solidFill>
                <a:latin typeface="Segoe UI" panose="020B0502040204020203" pitchFamily="34" charset="0"/>
              </a:rPr>
              <a:t>！   全く新しい別のスキルセット</a:t>
            </a: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825F4D41-35A8-193C-7700-CDC6DE8F6F75}"/>
              </a:ext>
            </a:extLst>
          </p:cNvPr>
          <p:cNvSpPr/>
          <p:nvPr/>
        </p:nvSpPr>
        <p:spPr>
          <a:xfrm rot="5400000">
            <a:off x="4292042" y="1678121"/>
            <a:ext cx="372274" cy="29857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乗算記号 11">
            <a:extLst>
              <a:ext uri="{FF2B5EF4-FFF2-40B4-BE49-F238E27FC236}">
                <a16:creationId xmlns:a16="http://schemas.microsoft.com/office/drawing/2014/main" id="{5E55C05F-6951-4C3A-04EC-DFE16412F703}"/>
              </a:ext>
            </a:extLst>
          </p:cNvPr>
          <p:cNvSpPr/>
          <p:nvPr/>
        </p:nvSpPr>
        <p:spPr>
          <a:xfrm>
            <a:off x="4117911" y="3084313"/>
            <a:ext cx="659363" cy="730061"/>
          </a:xfrm>
          <a:prstGeom prst="mathMultiply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吹き出し: 円形 12">
            <a:extLst>
              <a:ext uri="{FF2B5EF4-FFF2-40B4-BE49-F238E27FC236}">
                <a16:creationId xmlns:a16="http://schemas.microsoft.com/office/drawing/2014/main" id="{B04DD594-2283-4215-5517-F55DCCB1FB24}"/>
              </a:ext>
            </a:extLst>
          </p:cNvPr>
          <p:cNvSpPr/>
          <p:nvPr/>
        </p:nvSpPr>
        <p:spPr>
          <a:xfrm>
            <a:off x="9194537" y="482023"/>
            <a:ext cx="2865797" cy="900960"/>
          </a:xfrm>
          <a:prstGeom prst="wedgeEllipseCallout">
            <a:avLst>
              <a:gd name="adj1" fmla="val -33601"/>
              <a:gd name="adj2" fmla="val 73656"/>
            </a:avLst>
          </a:prstGeom>
          <a:solidFill>
            <a:srgbClr val="FFE8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9900"/>
                </a:solidFill>
              </a:rPr>
              <a:t>こういう要求変化</a:t>
            </a:r>
            <a:endParaRPr kumimoji="1" lang="en-US" altLang="ja-JP" b="1" dirty="0">
              <a:solidFill>
                <a:srgbClr val="FF9900"/>
              </a:solidFill>
            </a:endParaRPr>
          </a:p>
          <a:p>
            <a:pPr algn="ctr"/>
            <a:r>
              <a:rPr kumimoji="1" lang="ja-JP" altLang="en-US" b="1" dirty="0">
                <a:solidFill>
                  <a:srgbClr val="FF9900"/>
                </a:solidFill>
              </a:rPr>
              <a:t>ではない</a:t>
            </a:r>
          </a:p>
        </p:txBody>
      </p:sp>
      <p:sp>
        <p:nvSpPr>
          <p:cNvPr id="14" name="ToBeBox">
            <a:extLst>
              <a:ext uri="{FF2B5EF4-FFF2-40B4-BE49-F238E27FC236}">
                <a16:creationId xmlns:a16="http://schemas.microsoft.com/office/drawing/2014/main" id="{6EA2E876-8AAE-4AA5-BA23-DC1AAAAF00DE}"/>
              </a:ext>
            </a:extLst>
          </p:cNvPr>
          <p:cNvSpPr/>
          <p:nvPr/>
        </p:nvSpPr>
        <p:spPr>
          <a:xfrm>
            <a:off x="4978399" y="2817163"/>
            <a:ext cx="2019559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altLang="ja-JP" sz="1600" b="1" dirty="0">
                <a:solidFill>
                  <a:srgbClr val="FFFFFF"/>
                </a:solidFill>
                <a:latin typeface="Segoe UI" panose="020B0502040204020203" pitchFamily="34" charset="0"/>
              </a:rPr>
              <a:t>AI</a:t>
            </a:r>
          </a:p>
          <a:p>
            <a:pPr algn="ctr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Segoe UI" panose="020B0502040204020203" pitchFamily="34" charset="0"/>
              </a:rPr>
              <a:t>活用スキル</a:t>
            </a:r>
            <a:endParaRPr lang="en-US" altLang="ja-JP" sz="16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AsIsBox">
            <a:extLst>
              <a:ext uri="{FF2B5EF4-FFF2-40B4-BE49-F238E27FC236}">
                <a16:creationId xmlns:a16="http://schemas.microsoft.com/office/drawing/2014/main" id="{506BB360-101B-9112-106D-BFE8C5D938A8}"/>
              </a:ext>
            </a:extLst>
          </p:cNvPr>
          <p:cNvSpPr/>
          <p:nvPr/>
        </p:nvSpPr>
        <p:spPr>
          <a:xfrm>
            <a:off x="533400" y="2817163"/>
            <a:ext cx="3429000" cy="1143000"/>
          </a:xfrm>
          <a:prstGeom prst="roundRect">
            <a:avLst>
              <a:gd name="adj" fmla="val 8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altLang="ja-JP" sz="1600" b="1" dirty="0">
                <a:latin typeface="Segoe UI" panose="020B0502040204020203" pitchFamily="34" charset="0"/>
              </a:rPr>
              <a:t>As Is</a:t>
            </a:r>
          </a:p>
          <a:p>
            <a:pPr algn="ctr">
              <a:lnSpc>
                <a:spcPts val="1800"/>
              </a:lnSpc>
              <a:buNone/>
            </a:pPr>
            <a:r>
              <a:rPr lang="ja-JP" altLang="en-US" sz="1400" dirty="0">
                <a:latin typeface="Segoe UI" panose="020B0502040204020203" pitchFamily="34" charset="0"/>
              </a:rPr>
              <a:t>従来のスキルセット</a:t>
            </a:r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34595D82-7C4C-C50B-EDF8-433F714BAF73}"/>
              </a:ext>
            </a:extLst>
          </p:cNvPr>
          <p:cNvSpPr/>
          <p:nvPr/>
        </p:nvSpPr>
        <p:spPr>
          <a:xfrm rot="5400000">
            <a:off x="7380472" y="3300057"/>
            <a:ext cx="372274" cy="29857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Box3Body">
            <a:extLst>
              <a:ext uri="{FF2B5EF4-FFF2-40B4-BE49-F238E27FC236}">
                <a16:creationId xmlns:a16="http://schemas.microsoft.com/office/drawing/2014/main" id="{688039D7-9458-05EA-A9FF-9ABBE88782A6}"/>
              </a:ext>
            </a:extLst>
          </p:cNvPr>
          <p:cNvSpPr/>
          <p:nvPr/>
        </p:nvSpPr>
        <p:spPr>
          <a:xfrm>
            <a:off x="533400" y="4250530"/>
            <a:ext cx="3923000" cy="2197100"/>
          </a:xfrm>
          <a:prstGeom prst="wedgeRectCallout">
            <a:avLst>
              <a:gd name="adj1" fmla="val -24285"/>
              <a:gd name="adj2" fmla="val -64055"/>
            </a:avLst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 anchor="t"/>
          <a:lstStyle/>
          <a:p>
            <a:pPr>
              <a:lnSpc>
                <a:spcPct val="150000"/>
              </a:lnSpc>
              <a:buNone/>
            </a:pPr>
            <a:r>
              <a:rPr lang="ja-JP" sz="1500" dirty="0">
                <a:solidFill>
                  <a:srgbClr val="37474F"/>
                </a:solidFill>
                <a:latin typeface="Meiryo UI"/>
              </a:rPr>
              <a:t>①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設計力 </a:t>
            </a: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(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エンドユーザーとの会話・調整</a:t>
            </a: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②開発力</a:t>
            </a: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(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設計・開発</a:t>
            </a: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ja-JP" sz="1500" dirty="0">
                <a:solidFill>
                  <a:srgbClr val="37474F"/>
                </a:solidFill>
                <a:latin typeface="Meiryo UI"/>
              </a:rPr>
              <a:t>③</a:t>
            </a:r>
            <a:r>
              <a:rPr lang="ja-JP" altLang="en-US" sz="1500" dirty="0">
                <a:solidFill>
                  <a:srgbClr val="37474F"/>
                </a:solidFill>
              </a:rPr>
              <a:t>局面定義・テスト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計画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lnSpc>
                <a:spcPct val="150000"/>
              </a:lnSpc>
            </a:pPr>
            <a:r>
              <a:rPr lang="ja-JP" altLang="en-US" sz="1500" dirty="0">
                <a:solidFill>
                  <a:srgbClr val="37474F"/>
                </a:solidFill>
              </a:rPr>
              <a:t>④効果的なケース作成・実施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⑤顧客</a:t>
            </a:r>
            <a:r>
              <a:rPr lang="ja-JP" altLang="en-US" sz="1500" dirty="0">
                <a:solidFill>
                  <a:srgbClr val="37474F"/>
                </a:solidFill>
              </a:rPr>
              <a:t>説明能力・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折衝力・現場営業力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⑥チームビルディング</a:t>
            </a:r>
            <a:endParaRPr lang="ja-JP" sz="1500" dirty="0">
              <a:solidFill>
                <a:srgbClr val="37474F"/>
              </a:solidFill>
              <a:latin typeface="Meiryo UI"/>
            </a:endParaRPr>
          </a:p>
        </p:txBody>
      </p:sp>
      <p:sp>
        <p:nvSpPr>
          <p:cNvPr id="28" name="Box3Label">
            <a:extLst>
              <a:ext uri="{FF2B5EF4-FFF2-40B4-BE49-F238E27FC236}">
                <a16:creationId xmlns:a16="http://schemas.microsoft.com/office/drawing/2014/main" id="{1AA855C4-D47B-FC15-C311-E3B6A66EBDCF}"/>
              </a:ext>
            </a:extLst>
          </p:cNvPr>
          <p:cNvSpPr/>
          <p:nvPr/>
        </p:nvSpPr>
        <p:spPr>
          <a:xfrm>
            <a:off x="20218" y="970047"/>
            <a:ext cx="924764" cy="508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ja-JP" altLang="en-US" sz="2000" b="1" dirty="0">
                <a:solidFill>
                  <a:srgbClr val="78909C"/>
                </a:solidFill>
                <a:latin typeface="Meiryo UI"/>
              </a:rPr>
              <a:t>誤解</a:t>
            </a:r>
            <a:endParaRPr lang="ja-JP" sz="2000" b="1" dirty="0">
              <a:solidFill>
                <a:srgbClr val="78909C"/>
              </a:solidFill>
              <a:latin typeface="Meiryo UI"/>
            </a:endParaRPr>
          </a:p>
        </p:txBody>
      </p:sp>
      <p:sp>
        <p:nvSpPr>
          <p:cNvPr id="29" name="Box3Label">
            <a:extLst>
              <a:ext uri="{FF2B5EF4-FFF2-40B4-BE49-F238E27FC236}">
                <a16:creationId xmlns:a16="http://schemas.microsoft.com/office/drawing/2014/main" id="{5C657F8A-20AC-2DDF-7CA8-E04D2A0BD639}"/>
              </a:ext>
            </a:extLst>
          </p:cNvPr>
          <p:cNvSpPr/>
          <p:nvPr/>
        </p:nvSpPr>
        <p:spPr>
          <a:xfrm>
            <a:off x="20218" y="2529934"/>
            <a:ext cx="924764" cy="508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ja-JP" altLang="en-US" sz="2000" b="1" dirty="0">
                <a:solidFill>
                  <a:schemeClr val="accent1"/>
                </a:solidFill>
                <a:latin typeface="Meiryo UI"/>
              </a:rPr>
              <a:t>正解</a:t>
            </a:r>
            <a:endParaRPr lang="ja-JP" sz="2000" b="1" dirty="0">
              <a:solidFill>
                <a:schemeClr val="accent1"/>
              </a:solidFill>
              <a:latin typeface="Meiryo UI"/>
            </a:endParaRPr>
          </a:p>
        </p:txBody>
      </p:sp>
      <p:sp>
        <p:nvSpPr>
          <p:cNvPr id="30" name="Box3Body">
            <a:extLst>
              <a:ext uri="{FF2B5EF4-FFF2-40B4-BE49-F238E27FC236}">
                <a16:creationId xmlns:a16="http://schemas.microsoft.com/office/drawing/2014/main" id="{47156811-7BD4-C13E-531C-A6E9830950CD}"/>
              </a:ext>
            </a:extLst>
          </p:cNvPr>
          <p:cNvSpPr/>
          <p:nvPr/>
        </p:nvSpPr>
        <p:spPr>
          <a:xfrm>
            <a:off x="4852956" y="4250530"/>
            <a:ext cx="6642358" cy="2197100"/>
          </a:xfrm>
          <a:prstGeom prst="wedgeRectCallout">
            <a:avLst>
              <a:gd name="adj1" fmla="val -32865"/>
              <a:gd name="adj2" fmla="val -62229"/>
            </a:avLst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 anchor="t"/>
          <a:lstStyle/>
          <a:p>
            <a:pPr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新しい</a:t>
            </a: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AI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やサービスを知っているか？という知識よりは、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AI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の特徴を踏まえてどう適用し・どう問題解決していくのか？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(PJ</a:t>
            </a: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特性を鑑みたローカライズが求められる要素と初見は考える</a:t>
            </a: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ja-JP" sz="1500" dirty="0">
                <a:solidFill>
                  <a:srgbClr val="37474F"/>
                </a:solidFill>
                <a:latin typeface="Meiryo UI"/>
              </a:rPr>
              <a:t>Why?</a:t>
            </a:r>
            <a:br>
              <a:rPr lang="en-US" altLang="ja-JP" sz="1500" dirty="0">
                <a:solidFill>
                  <a:srgbClr val="37474F"/>
                </a:solidFill>
                <a:latin typeface="Meiryo UI"/>
              </a:rPr>
            </a:b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大枠のアセットや仕組みや考え方はフレームワークのように、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37474F"/>
                </a:solidFill>
                <a:latin typeface="Meiryo UI"/>
              </a:rPr>
              <a:t>顧客が持ってくる形が多い。フィットギャップがかなり生まれる。</a:t>
            </a:r>
            <a:endParaRPr lang="en-US" altLang="ja-JP" sz="1500" dirty="0">
              <a:solidFill>
                <a:srgbClr val="37474F"/>
              </a:solidFill>
              <a:latin typeface="Meiryo UI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85A4A3C-C7F1-5FB8-1AD6-EAC3E79BB6D7}"/>
              </a:ext>
            </a:extLst>
          </p:cNvPr>
          <p:cNvGrpSpPr/>
          <p:nvPr/>
        </p:nvGrpSpPr>
        <p:grpSpPr>
          <a:xfrm>
            <a:off x="68420" y="1016117"/>
            <a:ext cx="11744135" cy="5626761"/>
            <a:chOff x="68420" y="1016117"/>
            <a:chExt cx="11744135" cy="5626761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1045364B-6970-10B1-E637-6AFD13F9FD90}"/>
                </a:ext>
              </a:extLst>
            </p:cNvPr>
            <p:cNvSpPr/>
            <p:nvPr/>
          </p:nvSpPr>
          <p:spPr>
            <a:xfrm>
              <a:off x="178377" y="2529934"/>
              <a:ext cx="4405542" cy="4112944"/>
            </a:xfrm>
            <a:prstGeom prst="rect">
              <a:avLst/>
            </a:prstGeom>
            <a:noFill/>
            <a:ln w="38100">
              <a:solidFill>
                <a:srgbClr val="F57BE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A83A4D11-F984-C356-9CB8-B9C5DE1461DA}"/>
                </a:ext>
              </a:extLst>
            </p:cNvPr>
            <p:cNvSpPr/>
            <p:nvPr/>
          </p:nvSpPr>
          <p:spPr>
            <a:xfrm>
              <a:off x="4773641" y="2529934"/>
              <a:ext cx="7038914" cy="4112944"/>
            </a:xfrm>
            <a:prstGeom prst="rect">
              <a:avLst/>
            </a:prstGeom>
            <a:noFill/>
            <a:ln w="38100">
              <a:solidFill>
                <a:srgbClr val="F57BE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73F6A385-0A20-025E-7B28-57A3FC5B4785}"/>
                </a:ext>
              </a:extLst>
            </p:cNvPr>
            <p:cNvSpPr txBox="1"/>
            <p:nvPr/>
          </p:nvSpPr>
          <p:spPr>
            <a:xfrm>
              <a:off x="68420" y="1016117"/>
              <a:ext cx="4559046" cy="1445896"/>
            </a:xfrm>
            <a:prstGeom prst="wedgeRectCallout">
              <a:avLst>
                <a:gd name="adj1" fmla="val -20833"/>
                <a:gd name="adj2" fmla="val 74982"/>
              </a:avLst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ja-JP" altLang="en-US" dirty="0">
                  <a:solidFill>
                    <a:schemeClr val="bg1"/>
                  </a:solidFill>
                </a:rPr>
                <a:t>毎日の業務の作業は無駄にはなりません！</a:t>
              </a:r>
              <a:endParaRPr kumimoji="1" lang="en-US" altLang="ja-JP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dirty="0">
                  <a:solidFill>
                    <a:schemeClr val="bg1"/>
                  </a:solidFill>
                </a:rPr>
                <a:t>遅れてるもの・苦手とするものは残っていませんか？戦略的なキャッチアップが大切</a:t>
              </a:r>
              <a:endParaRPr lang="en-US" altLang="ja-JP" dirty="0">
                <a:solidFill>
                  <a:schemeClr val="bg1"/>
                </a:solidFill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89350209-D70C-50DB-A0D6-4163478BFB13}"/>
                </a:ext>
              </a:extLst>
            </p:cNvPr>
            <p:cNvSpPr txBox="1"/>
            <p:nvPr/>
          </p:nvSpPr>
          <p:spPr>
            <a:xfrm>
              <a:off x="4798070" y="1050140"/>
              <a:ext cx="6990056" cy="1280735"/>
            </a:xfrm>
            <a:prstGeom prst="wedgeRectCallout">
              <a:avLst>
                <a:gd name="adj1" fmla="val -20744"/>
                <a:gd name="adj2" fmla="val 80471"/>
              </a:avLst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ja-JP" altLang="en-US" dirty="0">
                  <a:solidFill>
                    <a:schemeClr val="bg1"/>
                  </a:solidFill>
                </a:rPr>
                <a:t>中堅社員以上の方々は左のキャッチアップを終えて、</a:t>
              </a:r>
              <a:endParaRPr kumimoji="1" lang="en-US" altLang="ja-JP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dirty="0">
                  <a:solidFill>
                    <a:schemeClr val="bg1"/>
                  </a:solidFill>
                </a:rPr>
                <a:t>右側へのアプローチも始めて頂き、市場における高価値な社員へ</a:t>
              </a:r>
              <a:endParaRPr lang="en-US" altLang="ja-JP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kumimoji="1" lang="en-US" altLang="ja-JP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PageNum">
            <a:extLst>
              <a:ext uri="{FF2B5EF4-FFF2-40B4-BE49-F238E27FC236}">
                <a16:creationId xmlns:a16="http://schemas.microsoft.com/office/drawing/2014/main" id="{9F5C0489-70B8-F411-3B2B-8DAEB3A8C8BF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10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26443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losingCard">
            <a:extLst>
              <a:ext uri="{FF2B5EF4-FFF2-40B4-BE49-F238E27FC236}">
                <a16:creationId xmlns:a16="http://schemas.microsoft.com/office/drawing/2014/main" id="{1B70BAC5-9549-4711-BF6E-DBDB3D14F9C8}"/>
              </a:ext>
            </a:extLst>
          </p:cNvPr>
          <p:cNvSpPr/>
          <p:nvPr/>
        </p:nvSpPr>
        <p:spPr>
          <a:xfrm>
            <a:off x="177800" y="5435600"/>
            <a:ext cx="10795000" cy="1066800"/>
          </a:xfrm>
          <a:prstGeom prst="rect">
            <a:avLst/>
          </a:prstGeom>
          <a:solidFill>
            <a:srgbClr val="F0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59F663-F93C-D4C8-524E-4ADB56B4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4" y="367506"/>
            <a:ext cx="11382375" cy="4706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b="1" dirty="0"/>
              <a:t>最後に：「やってみる」・ 「考える」 ・「顧客状況の把握」</a:t>
            </a:r>
            <a:endParaRPr lang="en-US" altLang="ja-JP" b="1" dirty="0"/>
          </a:p>
          <a:p>
            <a:pPr marL="0" indent="0">
              <a:buNone/>
            </a:pPr>
            <a:endParaRPr kumimoji="1" lang="ja-JP" altLang="en-US" b="1" dirty="0"/>
          </a:p>
        </p:txBody>
      </p:sp>
      <p:sp>
        <p:nvSpPr>
          <p:cNvPr id="4" name="PageNum">
            <a:extLst>
              <a:ext uri="{FF2B5EF4-FFF2-40B4-BE49-F238E27FC236}">
                <a16:creationId xmlns:a16="http://schemas.microsoft.com/office/drawing/2014/main" id="{CDFBD55F-24FB-4A66-8EF6-56F67F2422C3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11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672E448-E33C-BF93-AF59-E85CA020A0A8}"/>
              </a:ext>
            </a:extLst>
          </p:cNvPr>
          <p:cNvCxnSpPr/>
          <p:nvPr/>
        </p:nvCxnSpPr>
        <p:spPr>
          <a:xfrm>
            <a:off x="333375" y="838200"/>
            <a:ext cx="10915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9B3D7B-1545-945B-460D-F93331556BD2}"/>
              </a:ext>
            </a:extLst>
          </p:cNvPr>
          <p:cNvSpPr txBox="1"/>
          <p:nvPr/>
        </p:nvSpPr>
        <p:spPr>
          <a:xfrm>
            <a:off x="179257" y="1143000"/>
            <a:ext cx="697043" cy="990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ja-JP" altLang="en-US" dirty="0">
                <a:solidFill>
                  <a:schemeClr val="bg1"/>
                </a:solidFill>
              </a:rPr>
              <a:t>やってみる</a:t>
            </a:r>
            <a:endParaRPr lang="en-US" altLang="ja-JP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A51A9F-93C4-AD46-E8B8-C3D6CCCD273C}"/>
              </a:ext>
            </a:extLst>
          </p:cNvPr>
          <p:cNvSpPr txBox="1"/>
          <p:nvPr/>
        </p:nvSpPr>
        <p:spPr>
          <a:xfrm>
            <a:off x="179257" y="2362200"/>
            <a:ext cx="697043" cy="990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ja-JP" altLang="en-US" dirty="0">
                <a:solidFill>
                  <a:schemeClr val="bg1"/>
                </a:solidFill>
              </a:rPr>
              <a:t>考える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7649930-8E7E-28E7-A8C8-18776094E5E7}"/>
              </a:ext>
            </a:extLst>
          </p:cNvPr>
          <p:cNvSpPr txBox="1"/>
          <p:nvPr/>
        </p:nvSpPr>
        <p:spPr>
          <a:xfrm>
            <a:off x="179257" y="3581400"/>
            <a:ext cx="697043" cy="990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ja-JP" altLang="en-US" dirty="0">
                <a:solidFill>
                  <a:schemeClr val="bg1"/>
                </a:solidFill>
              </a:rPr>
              <a:t>顧客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7C9AA3-A3AE-8F52-91C2-43A7DCFF854D}"/>
              </a:ext>
            </a:extLst>
          </p:cNvPr>
          <p:cNvSpPr txBox="1"/>
          <p:nvPr/>
        </p:nvSpPr>
        <p:spPr>
          <a:xfrm>
            <a:off x="1104900" y="1143000"/>
            <a:ext cx="8534400" cy="990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162000" rtlCol="0" anchor="ctr">
            <a:noAutofit/>
          </a:bodyPr>
          <a:lstStyle/>
          <a:p>
            <a:pPr>
              <a:lnSpc>
                <a:spcPts val="2400"/>
              </a:lnSpc>
              <a:spcBef>
                <a:spcPts val="300"/>
              </a:spcBef>
              <a:buClr>
                <a:srgbClr val="0ABAB5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AI研修も題材の一つ</a:t>
            </a:r>
            <a:r>
              <a:rPr lang="en-US" altLang="ja-JP" sz="1600" dirty="0">
                <a:solidFill>
                  <a:srgbClr val="1A2332"/>
                </a:solidFill>
              </a:rPr>
              <a:t>(AI</a:t>
            </a:r>
            <a:r>
              <a:rPr lang="ja-JP" altLang="en-US" sz="1600" dirty="0">
                <a:solidFill>
                  <a:srgbClr val="1A2332"/>
                </a:solidFill>
              </a:rPr>
              <a:t>共有会・</a:t>
            </a:r>
            <a:r>
              <a:rPr lang="en-US" altLang="ja-JP" sz="1600" dirty="0">
                <a:solidFill>
                  <a:srgbClr val="1A2332"/>
                </a:solidFill>
              </a:rPr>
              <a:t>tech</a:t>
            </a:r>
            <a:r>
              <a:rPr lang="ja-JP" altLang="en-US" sz="1600" dirty="0">
                <a:solidFill>
                  <a:srgbClr val="1A2332"/>
                </a:solidFill>
              </a:rPr>
              <a:t>なども</a:t>
            </a:r>
            <a:r>
              <a:rPr lang="en-US" altLang="ja-JP" sz="1600" dirty="0">
                <a:solidFill>
                  <a:srgbClr val="1A2332"/>
                </a:solidFill>
              </a:rPr>
              <a:t>)</a:t>
            </a:r>
            <a:r>
              <a:rPr lang="ja-JP" altLang="en-US" sz="1600" dirty="0">
                <a:solidFill>
                  <a:srgbClr val="1A2332"/>
                </a:solidFill>
              </a:rPr>
              <a:t>。</a:t>
            </a:r>
            <a:r>
              <a:rPr lang="ja-JP" altLang="en-US" sz="1600" b="1" dirty="0">
                <a:solidFill>
                  <a:srgbClr val="008B85"/>
                </a:solidFill>
              </a:rPr>
              <a:t>現場でも関われる内容が出てきている</a:t>
            </a:r>
          </a:p>
          <a:p>
            <a:pPr>
              <a:lnSpc>
                <a:spcPts val="2400"/>
              </a:lnSpc>
              <a:spcBef>
                <a:spcPts val="300"/>
              </a:spcBef>
              <a:buClr>
                <a:srgbClr val="0ABAB5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ベンダー実行結果を確認できる機会も増加</a:t>
            </a:r>
            <a:endParaRPr lang="ja-JP" altLang="en-US" sz="1600" b="1" dirty="0">
              <a:solidFill>
                <a:srgbClr val="008B85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EDD5B7-12FB-15D9-DA1B-D30E3870EF39}"/>
              </a:ext>
            </a:extLst>
          </p:cNvPr>
          <p:cNvSpPr txBox="1"/>
          <p:nvPr/>
        </p:nvSpPr>
        <p:spPr>
          <a:xfrm>
            <a:off x="1104900" y="2362200"/>
            <a:ext cx="7975600" cy="990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162000" rtlCol="0" anchor="ctr">
            <a:noAutofit/>
          </a:bodyPr>
          <a:lstStyle/>
          <a:p>
            <a:pPr>
              <a:lnSpc>
                <a:spcPts val="2400"/>
              </a:lnSpc>
              <a:spcBef>
                <a:spcPts val="300"/>
              </a:spcBef>
              <a:buClr>
                <a:srgbClr val="008B85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今のPJに適用するなら／新しいPJにアサインされたら</a:t>
            </a:r>
          </a:p>
          <a:p>
            <a:pPr>
              <a:lnSpc>
                <a:spcPts val="2400"/>
              </a:lnSpc>
              <a:spcBef>
                <a:spcPts val="300"/>
              </a:spcBef>
              <a:buClr>
                <a:srgbClr val="008B85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どういう形が出来るか、</a:t>
            </a:r>
            <a:r>
              <a:rPr lang="ja-JP" altLang="en-US" sz="1600" b="1" dirty="0">
                <a:solidFill>
                  <a:srgbClr val="008B85"/>
                </a:solidFill>
              </a:rPr>
              <a:t>どんなリスクがあるか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AED77B-92E0-C44F-FDB2-53428E92E8C4}"/>
              </a:ext>
            </a:extLst>
          </p:cNvPr>
          <p:cNvSpPr txBox="1"/>
          <p:nvPr/>
        </p:nvSpPr>
        <p:spPr>
          <a:xfrm>
            <a:off x="1104900" y="3581400"/>
            <a:ext cx="7975600" cy="990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162000" rtlCol="0" anchor="ctr">
            <a:noAutofit/>
          </a:bodyPr>
          <a:lstStyle/>
          <a:p>
            <a:pPr>
              <a:lnSpc>
                <a:spcPts val="2400"/>
              </a:lnSpc>
              <a:spcBef>
                <a:spcPts val="300"/>
              </a:spcBef>
              <a:buClr>
                <a:srgbClr val="78909C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顧客も上司・組織から</a:t>
            </a:r>
            <a:r>
              <a:rPr lang="ja-JP" altLang="en-US" sz="1600" b="1" dirty="0">
                <a:solidFill>
                  <a:srgbClr val="008B85"/>
                </a:solidFill>
              </a:rPr>
              <a:t>変化を期待されている</a:t>
            </a:r>
            <a:r>
              <a:rPr lang="ja-JP" altLang="en-US" sz="1600" dirty="0">
                <a:solidFill>
                  <a:srgbClr val="1A2332"/>
                </a:solidFill>
              </a:rPr>
              <a:t>（我々より強く）</a:t>
            </a:r>
          </a:p>
          <a:p>
            <a:pPr>
              <a:lnSpc>
                <a:spcPts val="2400"/>
              </a:lnSpc>
              <a:spcBef>
                <a:spcPts val="300"/>
              </a:spcBef>
              <a:buClr>
                <a:srgbClr val="78909C"/>
              </a:buClr>
            </a:pPr>
            <a:r>
              <a:rPr lang="ja-JP" altLang="en-US" sz="1600" dirty="0">
                <a:solidFill>
                  <a:srgbClr val="1A2332"/>
                </a:solidFill>
              </a:rPr>
              <a:t>カウンター顧客と</a:t>
            </a:r>
            <a:r>
              <a:rPr lang="ja-JP" altLang="en-US" sz="1600" b="1" dirty="0">
                <a:solidFill>
                  <a:srgbClr val="008B85"/>
                </a:solidFill>
              </a:rPr>
              <a:t>AIをキーワードに会話</a:t>
            </a:r>
            <a:r>
              <a:rPr lang="ja-JP" altLang="en-US" sz="1600" dirty="0">
                <a:solidFill>
                  <a:srgbClr val="1A2332"/>
                </a:solidFill>
              </a:rPr>
              <a:t>し、芽が出たらPM陣と連携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E3D61D1-2203-363C-15AE-CAEEF0EBC920}"/>
              </a:ext>
            </a:extLst>
          </p:cNvPr>
          <p:cNvSpPr txBox="1"/>
          <p:nvPr/>
        </p:nvSpPr>
        <p:spPr>
          <a:xfrm>
            <a:off x="69329" y="4800600"/>
            <a:ext cx="11106671" cy="50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ja-JP" altLang="en-US" sz="1600" i="1" dirty="0">
                <a:solidFill>
                  <a:srgbClr val="263238"/>
                </a:solidFill>
              </a:rPr>
              <a:t>AI以前に今のPJが・・という声は理解しています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C41B909-9B3B-A2C8-A18E-7EA38832AC42}"/>
              </a:ext>
            </a:extLst>
          </p:cNvPr>
          <p:cNvSpPr txBox="1"/>
          <p:nvPr/>
        </p:nvSpPr>
        <p:spPr>
          <a:xfrm>
            <a:off x="10033000" y="2540000"/>
            <a:ext cx="2032000" cy="58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00" dirty="0"/>
              <a:t>レポートの作成</a:t>
            </a:r>
            <a:endParaRPr kumimoji="1" lang="en-US" altLang="ja-JP" sz="1500" dirty="0"/>
          </a:p>
          <a:p>
            <a:r>
              <a:rPr kumimoji="1" lang="ja-JP" altLang="en-US" sz="1500" dirty="0"/>
              <a:t>お願い</a:t>
            </a:r>
          </a:p>
        </p:txBody>
      </p:sp>
      <p:pic>
        <p:nvPicPr>
          <p:cNvPr id="18" name="グラフィックス 17" descr="ドキュメント 単色塗りつぶし">
            <a:extLst>
              <a:ext uri="{FF2B5EF4-FFF2-40B4-BE49-F238E27FC236}">
                <a16:creationId xmlns:a16="http://schemas.microsoft.com/office/drawing/2014/main" id="{F01DF71C-9E52-BB0F-B603-EAEAF31BD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23400" y="2514600"/>
            <a:ext cx="635000" cy="635000"/>
          </a:xfrm>
          <a:prstGeom prst="rect">
            <a:avLst/>
          </a:prstGeom>
        </p:spPr>
      </p:pic>
      <p:sp>
        <p:nvSpPr>
          <p:cNvPr id="2" name="AccBar_0ABAB5">
            <a:extLst>
              <a:ext uri="{FF2B5EF4-FFF2-40B4-BE49-F238E27FC236}">
                <a16:creationId xmlns:a16="http://schemas.microsoft.com/office/drawing/2014/main" id="{E10C9ED2-1503-4542-944E-F6C59784F836}"/>
              </a:ext>
            </a:extLst>
          </p:cNvPr>
          <p:cNvSpPr/>
          <p:nvPr/>
        </p:nvSpPr>
        <p:spPr>
          <a:xfrm>
            <a:off x="1130300" y="1168400"/>
            <a:ext cx="63500" cy="914400"/>
          </a:xfrm>
          <a:prstGeom prst="rect">
            <a:avLst/>
          </a:prstGeom>
          <a:solidFill>
            <a:srgbClr val="0ABA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AccBar_008B85">
            <a:extLst>
              <a:ext uri="{FF2B5EF4-FFF2-40B4-BE49-F238E27FC236}">
                <a16:creationId xmlns:a16="http://schemas.microsoft.com/office/drawing/2014/main" id="{65827A8B-BB38-42CF-A47C-793C9A9296A2}"/>
              </a:ext>
            </a:extLst>
          </p:cNvPr>
          <p:cNvSpPr/>
          <p:nvPr/>
        </p:nvSpPr>
        <p:spPr>
          <a:xfrm>
            <a:off x="1130300" y="2387600"/>
            <a:ext cx="63500" cy="914400"/>
          </a:xfrm>
          <a:prstGeom prst="rect">
            <a:avLst/>
          </a:prstGeom>
          <a:solidFill>
            <a:srgbClr val="008B8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AccBar_78909C">
            <a:extLst>
              <a:ext uri="{FF2B5EF4-FFF2-40B4-BE49-F238E27FC236}">
                <a16:creationId xmlns:a16="http://schemas.microsoft.com/office/drawing/2014/main" id="{E6017286-2A1F-4E7C-888C-7D5B4DCB6831}"/>
              </a:ext>
            </a:extLst>
          </p:cNvPr>
          <p:cNvSpPr/>
          <p:nvPr/>
        </p:nvSpPr>
        <p:spPr>
          <a:xfrm>
            <a:off x="1130300" y="3606800"/>
            <a:ext cx="63500" cy="914400"/>
          </a:xfrm>
          <a:prstGeom prst="rect">
            <a:avLst/>
          </a:prstGeom>
          <a:solidFill>
            <a:srgbClr val="7890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9" name="ClosingBar">
            <a:extLst>
              <a:ext uri="{FF2B5EF4-FFF2-40B4-BE49-F238E27FC236}">
                <a16:creationId xmlns:a16="http://schemas.microsoft.com/office/drawing/2014/main" id="{0EE8B573-E649-41CB-9D7E-2007383B4FBF}"/>
              </a:ext>
            </a:extLst>
          </p:cNvPr>
          <p:cNvSpPr/>
          <p:nvPr/>
        </p:nvSpPr>
        <p:spPr>
          <a:xfrm>
            <a:off x="177800" y="5435600"/>
            <a:ext cx="76200" cy="1066800"/>
          </a:xfrm>
          <a:prstGeom prst="rect">
            <a:avLst/>
          </a:prstGeom>
          <a:solidFill>
            <a:srgbClr val="008B8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ED09203-5520-5D8E-A683-7F4B59065767}"/>
              </a:ext>
            </a:extLst>
          </p:cNvPr>
          <p:cNvSpPr txBox="1"/>
          <p:nvPr/>
        </p:nvSpPr>
        <p:spPr>
          <a:xfrm>
            <a:off x="482600" y="5588000"/>
            <a:ext cx="10337800" cy="8128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ts val="2500"/>
              </a:lnSpc>
              <a:buNone/>
            </a:pPr>
            <a:r>
              <a:rPr lang="ja-JP" altLang="en-US" sz="1700" b="1" dirty="0">
                <a:solidFill>
                  <a:srgbClr val="008B85"/>
                </a:solidFill>
              </a:rPr>
              <a:t>「変化に強い組織づくり・社員づくり」</a:t>
            </a:r>
            <a:r>
              <a:rPr lang="ja-JP" altLang="en-US" sz="1700" dirty="0">
                <a:solidFill>
                  <a:srgbClr val="1A2332"/>
                </a:solidFill>
              </a:rPr>
              <a:t>の真価が問われるフェイズ。</a:t>
            </a:r>
          </a:p>
          <a:p>
            <a:pPr>
              <a:lnSpc>
                <a:spcPts val="2500"/>
              </a:lnSpc>
              <a:buNone/>
            </a:pPr>
            <a:r>
              <a:rPr lang="ja-JP" altLang="en-US" sz="1700" dirty="0">
                <a:solidFill>
                  <a:srgbClr val="1A2332"/>
                </a:solidFill>
              </a:rPr>
              <a:t>変化の道筋は何となく本日見えたはず。レポート整理し</a:t>
            </a:r>
            <a:r>
              <a:rPr lang="ja-JP" altLang="en-US" sz="1700" b="1" dirty="0">
                <a:solidFill>
                  <a:srgbClr val="008B85"/>
                </a:solidFill>
              </a:rPr>
              <a:t>日頃の業務に還元して進めてください。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55B606B1-646E-2D4C-C9BA-ACCCFB6A17F3}"/>
              </a:ext>
            </a:extLst>
          </p:cNvPr>
          <p:cNvSpPr/>
          <p:nvPr/>
        </p:nvSpPr>
        <p:spPr>
          <a:xfrm>
            <a:off x="8778240" y="2664823"/>
            <a:ext cx="635000" cy="383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44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02579A-5CB2-2551-67BF-39CAD0040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406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EOF</a:t>
            </a:r>
            <a:endParaRPr kumimoji="1" lang="ja-JP" altLang="en-US" dirty="0"/>
          </a:p>
        </p:txBody>
      </p:sp>
      <p:sp>
        <p:nvSpPr>
          <p:cNvPr id="5" name="PageNum">
            <a:extLst>
              <a:ext uri="{FF2B5EF4-FFF2-40B4-BE49-F238E27FC236}">
                <a16:creationId xmlns:a16="http://schemas.microsoft.com/office/drawing/2014/main" id="{C8B3754B-5D2B-FD9A-D1EA-D2FF684AFC6C}"/>
              </a:ext>
            </a:extLst>
          </p:cNvPr>
          <p:cNvSpPr txBox="1"/>
          <p:nvPr/>
        </p:nvSpPr>
        <p:spPr>
          <a:xfrm>
            <a:off x="11176000" y="65278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r">
              <a:buNone/>
            </a:pPr>
            <a:fld id="{5B7A1E44-9C3D-4F52-A1B6-7D2E8C4F9A31}" type="slidenum">
              <a:rPr lang="en-US" altLang="ja-JP" sz="1100" dirty="0">
                <a:solidFill>
                  <a:srgbClr val="78909C"/>
                </a:solidFill>
              </a:rPr>
              <a:t>12</a:t>
            </a:fld>
            <a:r>
              <a:rPr lang="ja-JP" sz="1100" dirty="0">
                <a:solidFill>
                  <a:srgbClr val="78909C"/>
                </a:solidFill>
              </a:rPr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4068096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20F047-F264-9918-629D-EE4214834C7F}"/>
              </a:ext>
            </a:extLst>
          </p:cNvPr>
          <p:cNvSpPr txBox="1"/>
          <p:nvPr/>
        </p:nvSpPr>
        <p:spPr>
          <a:xfrm>
            <a:off x="8635499" y="1008427"/>
            <a:ext cx="1385180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現場</a:t>
            </a:r>
            <a:r>
              <a:rPr kumimoji="1" lang="en-US" altLang="ja-JP" dirty="0"/>
              <a:t>L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59DC15-6354-5EC6-EE01-187D7BE88244}"/>
              </a:ext>
            </a:extLst>
          </p:cNvPr>
          <p:cNvSpPr txBox="1"/>
          <p:nvPr/>
        </p:nvSpPr>
        <p:spPr>
          <a:xfrm>
            <a:off x="6621103" y="1519700"/>
            <a:ext cx="1670364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キーマン</a:t>
            </a:r>
            <a:endParaRPr kumimoji="1" lang="en-US" altLang="ja-JP" dirty="0"/>
          </a:p>
          <a:p>
            <a:r>
              <a:rPr kumimoji="1" lang="ja-JP" altLang="en-US" dirty="0"/>
              <a:t>業務全体設計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9C59A0-0259-DA88-6DFA-BC6C41C93392}"/>
              </a:ext>
            </a:extLst>
          </p:cNvPr>
          <p:cNvSpPr txBox="1"/>
          <p:nvPr/>
        </p:nvSpPr>
        <p:spPr>
          <a:xfrm>
            <a:off x="6612045" y="3434755"/>
            <a:ext cx="162962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TL</a:t>
            </a:r>
            <a:r>
              <a:rPr kumimoji="1" lang="ja-JP" altLang="en-US" dirty="0"/>
              <a:t>プロパ１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3448A3-9DE4-3392-14A5-C9B04BEE9081}"/>
              </a:ext>
            </a:extLst>
          </p:cNvPr>
          <p:cNvSpPr txBox="1"/>
          <p:nvPr/>
        </p:nvSpPr>
        <p:spPr>
          <a:xfrm>
            <a:off x="8544963" y="3434755"/>
            <a:ext cx="162962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TL</a:t>
            </a:r>
            <a:r>
              <a:rPr lang="ja-JP" altLang="en-US" dirty="0"/>
              <a:t>パートナ</a:t>
            </a:r>
            <a:r>
              <a:rPr lang="en-US" altLang="ja-JP" dirty="0"/>
              <a:t>6</a:t>
            </a:r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93AB38-B239-3C9C-A67F-0B7C3D1440D2}"/>
              </a:ext>
            </a:extLst>
          </p:cNvPr>
          <p:cNvSpPr txBox="1"/>
          <p:nvPr/>
        </p:nvSpPr>
        <p:spPr>
          <a:xfrm>
            <a:off x="6612045" y="3973841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1</a:t>
            </a:r>
            <a:r>
              <a:rPr lang="en-US" altLang="ja-JP" dirty="0"/>
              <a:t>key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2C3103F-3788-2EF9-3436-35F03BB54EA9}"/>
              </a:ext>
            </a:extLst>
          </p:cNvPr>
          <p:cNvSpPr txBox="1"/>
          <p:nvPr/>
        </p:nvSpPr>
        <p:spPr>
          <a:xfrm>
            <a:off x="6612045" y="4489889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5DE811A-7809-C1F7-C265-29E440009BAE}"/>
              </a:ext>
            </a:extLst>
          </p:cNvPr>
          <p:cNvSpPr txBox="1"/>
          <p:nvPr/>
        </p:nvSpPr>
        <p:spPr>
          <a:xfrm>
            <a:off x="6612045" y="4969723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6AFA60-A87A-B032-2781-F77B1793C597}"/>
              </a:ext>
            </a:extLst>
          </p:cNvPr>
          <p:cNvSpPr txBox="1"/>
          <p:nvPr/>
        </p:nvSpPr>
        <p:spPr>
          <a:xfrm>
            <a:off x="6612045" y="5476717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F755F78-21D1-DE51-62F0-425C85FA2753}"/>
              </a:ext>
            </a:extLst>
          </p:cNvPr>
          <p:cNvSpPr txBox="1"/>
          <p:nvPr/>
        </p:nvSpPr>
        <p:spPr>
          <a:xfrm>
            <a:off x="8517803" y="4498009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lang="en-US" altLang="ja-JP" dirty="0"/>
              <a:t>8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8F499DF-6226-D59A-13CE-3A725A2DBDCC}"/>
              </a:ext>
            </a:extLst>
          </p:cNvPr>
          <p:cNvSpPr txBox="1"/>
          <p:nvPr/>
        </p:nvSpPr>
        <p:spPr>
          <a:xfrm>
            <a:off x="8517803" y="4969723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lang="en-US" altLang="ja-JP" dirty="0"/>
              <a:t>9</a:t>
            </a:r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604C1EB-C406-D772-1F87-E2E49A0F7D79}"/>
              </a:ext>
            </a:extLst>
          </p:cNvPr>
          <p:cNvSpPr txBox="1"/>
          <p:nvPr/>
        </p:nvSpPr>
        <p:spPr>
          <a:xfrm>
            <a:off x="10462039" y="2784364"/>
            <a:ext cx="1629623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APL</a:t>
            </a:r>
            <a:r>
              <a:rPr lang="ja-JP" altLang="en-US" dirty="0"/>
              <a:t>共通</a:t>
            </a:r>
            <a:r>
              <a:rPr lang="en-US" altLang="ja-JP" dirty="0"/>
              <a:t>/</a:t>
            </a:r>
            <a:r>
              <a:rPr lang="ja-JP" altLang="en-US" dirty="0"/>
              <a:t>開推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A6E8C8B-B201-2927-0134-8E06AF6A04FF}"/>
              </a:ext>
            </a:extLst>
          </p:cNvPr>
          <p:cNvSpPr txBox="1"/>
          <p:nvPr/>
        </p:nvSpPr>
        <p:spPr>
          <a:xfrm>
            <a:off x="10462039" y="3927610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/>
              <a:t>パートナ</a:t>
            </a:r>
            <a:r>
              <a:rPr lang="en-US" altLang="ja-JP" dirty="0"/>
              <a:t>10</a:t>
            </a:r>
            <a:endParaRPr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16EF99-18C3-F359-1E35-4A1E36ABB497}"/>
              </a:ext>
            </a:extLst>
          </p:cNvPr>
          <p:cNvSpPr txBox="1"/>
          <p:nvPr/>
        </p:nvSpPr>
        <p:spPr>
          <a:xfrm>
            <a:off x="10462039" y="4471624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11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A9DD883-1BDC-D2D9-B0E4-95876B2086B6}"/>
              </a:ext>
            </a:extLst>
          </p:cNvPr>
          <p:cNvSpPr txBox="1"/>
          <p:nvPr/>
        </p:nvSpPr>
        <p:spPr>
          <a:xfrm>
            <a:off x="10462039" y="3439313"/>
            <a:ext cx="162962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TL</a:t>
            </a:r>
            <a:r>
              <a:rPr lang="ja-JP" altLang="en-US" dirty="0"/>
              <a:t>プロパ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FA2A18C-55B8-1C20-36D3-F0A4431210D1}"/>
              </a:ext>
            </a:extLst>
          </p:cNvPr>
          <p:cNvSpPr txBox="1"/>
          <p:nvPr/>
        </p:nvSpPr>
        <p:spPr>
          <a:xfrm>
            <a:off x="6612045" y="5929390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931BB0A-BB6A-D795-3FDA-010F5F0C5757}"/>
              </a:ext>
            </a:extLst>
          </p:cNvPr>
          <p:cNvSpPr txBox="1"/>
          <p:nvPr/>
        </p:nvSpPr>
        <p:spPr>
          <a:xfrm>
            <a:off x="6612044" y="6418279"/>
            <a:ext cx="162962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/>
              <a:t>プロパー若手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2DBFF65-FE6A-9786-C62E-19B956E34A9C}"/>
              </a:ext>
            </a:extLst>
          </p:cNvPr>
          <p:cNvSpPr txBox="1"/>
          <p:nvPr/>
        </p:nvSpPr>
        <p:spPr>
          <a:xfrm>
            <a:off x="8517802" y="3982894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7</a:t>
            </a:r>
            <a:r>
              <a:rPr lang="en-US" altLang="ja-JP" dirty="0"/>
              <a:t>key</a:t>
            </a:r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1DC2F70-EE5D-19EF-05D8-FD224F980BE2}"/>
              </a:ext>
            </a:extLst>
          </p:cNvPr>
          <p:cNvSpPr txBox="1"/>
          <p:nvPr/>
        </p:nvSpPr>
        <p:spPr>
          <a:xfrm>
            <a:off x="8517803" y="5476717"/>
            <a:ext cx="162962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プロパー若手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363978C-F667-5C7E-FAA0-0292DB72EB7C}"/>
              </a:ext>
            </a:extLst>
          </p:cNvPr>
          <p:cNvSpPr txBox="1"/>
          <p:nvPr/>
        </p:nvSpPr>
        <p:spPr>
          <a:xfrm>
            <a:off x="6612045" y="2775311"/>
            <a:ext cx="1629623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業務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EF1C1E9-D95E-E76D-2A0A-7BF1533439C2}"/>
              </a:ext>
            </a:extLst>
          </p:cNvPr>
          <p:cNvSpPr txBox="1"/>
          <p:nvPr/>
        </p:nvSpPr>
        <p:spPr>
          <a:xfrm>
            <a:off x="8517801" y="2775311"/>
            <a:ext cx="1629623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業務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47917773-2A19-7975-B404-B11E688B859E}"/>
              </a:ext>
            </a:extLst>
          </p:cNvPr>
          <p:cNvCxnSpPr>
            <a:stCxn id="28" idx="0"/>
            <a:endCxn id="4" idx="2"/>
          </p:cNvCxnSpPr>
          <p:nvPr/>
        </p:nvCxnSpPr>
        <p:spPr>
          <a:xfrm rot="5400000" flipH="1" flipV="1">
            <a:off x="7678697" y="1125919"/>
            <a:ext cx="1397552" cy="1901232"/>
          </a:xfrm>
          <a:prstGeom prst="bentConnector3">
            <a:avLst>
              <a:gd name="adj1" fmla="val 273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57D2EBDC-1788-9AA1-C53B-F50FE5EB8351}"/>
              </a:ext>
            </a:extLst>
          </p:cNvPr>
          <p:cNvCxnSpPr>
            <a:cxnSpLocks/>
            <a:stCxn id="29" idx="0"/>
            <a:endCxn id="4" idx="2"/>
          </p:cNvCxnSpPr>
          <p:nvPr/>
        </p:nvCxnSpPr>
        <p:spPr>
          <a:xfrm rot="16200000" flipV="1">
            <a:off x="8631575" y="2074273"/>
            <a:ext cx="1397552" cy="45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7E597723-F753-7FE8-C84D-42495F78BA4F}"/>
              </a:ext>
            </a:extLst>
          </p:cNvPr>
          <p:cNvCxnSpPr>
            <a:cxnSpLocks/>
            <a:stCxn id="19" idx="0"/>
            <a:endCxn id="4" idx="2"/>
          </p:cNvCxnSpPr>
          <p:nvPr/>
        </p:nvCxnSpPr>
        <p:spPr>
          <a:xfrm rot="16200000" flipV="1">
            <a:off x="9599168" y="1106681"/>
            <a:ext cx="1406605" cy="1948762"/>
          </a:xfrm>
          <a:prstGeom prst="bentConnector3">
            <a:avLst>
              <a:gd name="adj1" fmla="val 283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FDDAA7D9-3022-4F54-25DB-B61426EFC802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8291467" y="1377759"/>
            <a:ext cx="1036622" cy="4651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LcTtl">
            <a:extLst>
              <a:ext uri="{FF2B5EF4-FFF2-40B4-BE49-F238E27FC236}">
                <a16:creationId xmlns:a16="http://schemas.microsoft.com/office/drawing/2014/main" id="{DA9B2146-EB14-C012-329A-C29BBCB57A26}"/>
              </a:ext>
            </a:extLst>
          </p:cNvPr>
          <p:cNvSpPr txBox="1">
            <a:spLocks noGrp="1"/>
          </p:cNvSpPr>
          <p:nvPr/>
        </p:nvSpPr>
        <p:spPr>
          <a:xfrm>
            <a:off x="9549900" y="1523542"/>
            <a:ext cx="1494722" cy="971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新規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(SPA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型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):PJ</a:t>
            </a:r>
          </a:p>
          <a:p>
            <a:pPr>
              <a:buNone/>
            </a:pP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ALL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：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17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名</a:t>
            </a:r>
            <a:endParaRPr lang="en-US" altLang="ja-JP" sz="1100" dirty="0">
              <a:solidFill>
                <a:schemeClr val="tx2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プロパ：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6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名</a:t>
            </a:r>
            <a:endParaRPr lang="en-US" altLang="ja-JP" sz="1100" dirty="0">
              <a:solidFill>
                <a:schemeClr val="tx2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パートナ：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11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名</a:t>
            </a:r>
            <a:endParaRPr lang="en-US" altLang="ja-JP" sz="1100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50" name="LcTtl">
            <a:extLst>
              <a:ext uri="{FF2B5EF4-FFF2-40B4-BE49-F238E27FC236}">
                <a16:creationId xmlns:a16="http://schemas.microsoft.com/office/drawing/2014/main" id="{E08318FC-C468-A430-9258-E45DBB09EE3E}"/>
              </a:ext>
            </a:extLst>
          </p:cNvPr>
          <p:cNvSpPr txBox="1">
            <a:spLocks noGrp="1"/>
          </p:cNvSpPr>
          <p:nvPr/>
        </p:nvSpPr>
        <p:spPr>
          <a:xfrm>
            <a:off x="6271950" y="750403"/>
            <a:ext cx="1494722" cy="3693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100" b="1" dirty="0">
                <a:solidFill>
                  <a:schemeClr val="tx2"/>
                </a:solidFill>
                <a:latin typeface="Meiryo UI"/>
              </a:rPr>
              <a:t>＜下流ピーク時＞</a:t>
            </a:r>
            <a:endParaRPr lang="en-US" altLang="ja-JP" sz="1100" b="1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51" name="LcTtl">
            <a:extLst>
              <a:ext uri="{FF2B5EF4-FFF2-40B4-BE49-F238E27FC236}">
                <a16:creationId xmlns:a16="http://schemas.microsoft.com/office/drawing/2014/main" id="{80478AD3-A094-689D-51C4-097679866B4C}"/>
              </a:ext>
            </a:extLst>
          </p:cNvPr>
          <p:cNvSpPr txBox="1">
            <a:spLocks noGrp="1"/>
          </p:cNvSpPr>
          <p:nvPr/>
        </p:nvSpPr>
        <p:spPr>
          <a:xfrm>
            <a:off x="423410" y="750404"/>
            <a:ext cx="1494722" cy="3693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100" b="1" dirty="0">
                <a:solidFill>
                  <a:schemeClr val="tx2"/>
                </a:solidFill>
                <a:latin typeface="Meiryo UI"/>
              </a:rPr>
              <a:t>＜基本設計＞</a:t>
            </a:r>
            <a:endParaRPr lang="en-US" altLang="ja-JP" sz="1100" b="1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9AF5088-6C9B-9941-23FA-995705F95875}"/>
              </a:ext>
            </a:extLst>
          </p:cNvPr>
          <p:cNvSpPr txBox="1"/>
          <p:nvPr/>
        </p:nvSpPr>
        <p:spPr>
          <a:xfrm>
            <a:off x="2449568" y="1008428"/>
            <a:ext cx="1385180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現場</a:t>
            </a:r>
            <a:r>
              <a:rPr kumimoji="1" lang="en-US" altLang="ja-JP" dirty="0"/>
              <a:t>L</a:t>
            </a:r>
            <a:endParaRPr kumimoji="1" lang="ja-JP" altLang="en-US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E6D7633C-F57F-1FE6-82DF-2A5657FBB02A}"/>
              </a:ext>
            </a:extLst>
          </p:cNvPr>
          <p:cNvSpPr txBox="1"/>
          <p:nvPr/>
        </p:nvSpPr>
        <p:spPr>
          <a:xfrm>
            <a:off x="427552" y="1519701"/>
            <a:ext cx="1670364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キーマン</a:t>
            </a:r>
            <a:endParaRPr kumimoji="1" lang="en-US" altLang="ja-JP" dirty="0"/>
          </a:p>
          <a:p>
            <a:r>
              <a:rPr kumimoji="1" lang="ja-JP" altLang="en-US" dirty="0"/>
              <a:t>業務全体設計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45C6A7B3-8565-3708-B324-CB640CC05644}"/>
              </a:ext>
            </a:extLst>
          </p:cNvPr>
          <p:cNvSpPr txBox="1"/>
          <p:nvPr/>
        </p:nvSpPr>
        <p:spPr>
          <a:xfrm>
            <a:off x="436601" y="3425703"/>
            <a:ext cx="162962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TL</a:t>
            </a:r>
            <a:r>
              <a:rPr kumimoji="1" lang="ja-JP" altLang="en-US" dirty="0"/>
              <a:t>プロパ１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D9A321EF-0B52-1EBC-68D7-26A7626B3270}"/>
              </a:ext>
            </a:extLst>
          </p:cNvPr>
          <p:cNvSpPr txBox="1"/>
          <p:nvPr/>
        </p:nvSpPr>
        <p:spPr>
          <a:xfrm>
            <a:off x="2351412" y="3434756"/>
            <a:ext cx="162962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TL</a:t>
            </a:r>
            <a:r>
              <a:rPr lang="ja-JP" altLang="en-US" dirty="0"/>
              <a:t>パートナ</a:t>
            </a:r>
            <a:r>
              <a:rPr lang="en-US" altLang="ja-JP" dirty="0"/>
              <a:t>6</a:t>
            </a:r>
            <a:endParaRPr lang="ja-JP" altLang="en-US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131EEC0A-CA67-B64A-9DDA-A682746CC979}"/>
              </a:ext>
            </a:extLst>
          </p:cNvPr>
          <p:cNvSpPr txBox="1"/>
          <p:nvPr/>
        </p:nvSpPr>
        <p:spPr>
          <a:xfrm>
            <a:off x="436601" y="3964789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1</a:t>
            </a:r>
            <a:r>
              <a:rPr lang="en-US" altLang="ja-JP" dirty="0"/>
              <a:t>key</a:t>
            </a:r>
            <a:endParaRPr kumimoji="1" lang="ja-JP" altLang="en-US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6AD22429-DB7E-7067-695F-085CB9E3FDC1}"/>
              </a:ext>
            </a:extLst>
          </p:cNvPr>
          <p:cNvSpPr txBox="1"/>
          <p:nvPr/>
        </p:nvSpPr>
        <p:spPr>
          <a:xfrm>
            <a:off x="4232270" y="2775312"/>
            <a:ext cx="1629623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APL</a:t>
            </a:r>
            <a:r>
              <a:rPr lang="ja-JP" altLang="en-US" dirty="0"/>
              <a:t>共通</a:t>
            </a:r>
            <a:r>
              <a:rPr lang="en-US" altLang="ja-JP" dirty="0"/>
              <a:t>/</a:t>
            </a:r>
            <a:r>
              <a:rPr lang="ja-JP" altLang="en-US" dirty="0"/>
              <a:t>開推</a:t>
            </a:r>
            <a:endParaRPr kumimoji="1" lang="ja-JP" altLang="en-US" dirty="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BC3BCB46-972B-0E71-CFDD-1712C7935B8D}"/>
              </a:ext>
            </a:extLst>
          </p:cNvPr>
          <p:cNvSpPr txBox="1"/>
          <p:nvPr/>
        </p:nvSpPr>
        <p:spPr>
          <a:xfrm>
            <a:off x="4232270" y="3918558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/>
              <a:t>パートナ</a:t>
            </a:r>
            <a:r>
              <a:rPr lang="en-US" altLang="ja-JP" dirty="0"/>
              <a:t>10</a:t>
            </a:r>
            <a:endParaRPr lang="ja-JP" altLang="en-US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83839EA7-392A-607B-CFDF-FD9DB53B9717}"/>
              </a:ext>
            </a:extLst>
          </p:cNvPr>
          <p:cNvSpPr txBox="1"/>
          <p:nvPr/>
        </p:nvSpPr>
        <p:spPr>
          <a:xfrm>
            <a:off x="4232270" y="3430261"/>
            <a:ext cx="162962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TL</a:t>
            </a:r>
            <a:r>
              <a:rPr lang="ja-JP" altLang="en-US" dirty="0"/>
              <a:t>プロパ</a:t>
            </a:r>
            <a:endParaRPr kumimoji="1" lang="ja-JP" altLang="en-US" dirty="0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BAB816C-0E5F-781D-C847-C2C07E5C76C7}"/>
              </a:ext>
            </a:extLst>
          </p:cNvPr>
          <p:cNvSpPr txBox="1"/>
          <p:nvPr/>
        </p:nvSpPr>
        <p:spPr>
          <a:xfrm>
            <a:off x="447922" y="4471624"/>
            <a:ext cx="162962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/>
              <a:t>プロパー若手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8FBB67D7-D5AE-3990-9895-B7A1AFFB4709}"/>
              </a:ext>
            </a:extLst>
          </p:cNvPr>
          <p:cNvSpPr txBox="1"/>
          <p:nvPr/>
        </p:nvSpPr>
        <p:spPr>
          <a:xfrm>
            <a:off x="2324251" y="3982895"/>
            <a:ext cx="1629623" cy="36933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パートナ</a:t>
            </a:r>
            <a:r>
              <a:rPr kumimoji="1" lang="en-US" altLang="ja-JP" dirty="0"/>
              <a:t>7</a:t>
            </a:r>
            <a:r>
              <a:rPr lang="en-US" altLang="ja-JP" dirty="0"/>
              <a:t>key</a:t>
            </a:r>
            <a:endParaRPr kumimoji="1" lang="ja-JP" altLang="en-US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ABCD1A1-6404-AED2-2C37-CB3A1C7B619C}"/>
              </a:ext>
            </a:extLst>
          </p:cNvPr>
          <p:cNvSpPr txBox="1"/>
          <p:nvPr/>
        </p:nvSpPr>
        <p:spPr>
          <a:xfrm>
            <a:off x="436601" y="2766259"/>
            <a:ext cx="1629623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業務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FA07B71-AB7F-1D14-6CC5-3D03EA855A73}"/>
              </a:ext>
            </a:extLst>
          </p:cNvPr>
          <p:cNvSpPr txBox="1"/>
          <p:nvPr/>
        </p:nvSpPr>
        <p:spPr>
          <a:xfrm>
            <a:off x="2324250" y="2775312"/>
            <a:ext cx="1629623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業務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5F96333E-0C8B-D169-8D6A-61CC44557A13}"/>
              </a:ext>
            </a:extLst>
          </p:cNvPr>
          <p:cNvCxnSpPr>
            <a:cxnSpLocks/>
            <a:stCxn id="70" idx="0"/>
            <a:endCxn id="52" idx="2"/>
          </p:cNvCxnSpPr>
          <p:nvPr/>
        </p:nvCxnSpPr>
        <p:spPr>
          <a:xfrm rot="5400000" flipH="1" flipV="1">
            <a:off x="1502536" y="1126638"/>
            <a:ext cx="1388499" cy="1890745"/>
          </a:xfrm>
          <a:prstGeom prst="bentConnector3">
            <a:avLst>
              <a:gd name="adj1" fmla="val 351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コネクタ: カギ線 72">
            <a:extLst>
              <a:ext uri="{FF2B5EF4-FFF2-40B4-BE49-F238E27FC236}">
                <a16:creationId xmlns:a16="http://schemas.microsoft.com/office/drawing/2014/main" id="{45F04D75-4B33-9268-8E17-474AAA84BB11}"/>
              </a:ext>
            </a:extLst>
          </p:cNvPr>
          <p:cNvCxnSpPr>
            <a:cxnSpLocks/>
            <a:stCxn id="71" idx="0"/>
            <a:endCxn id="52" idx="2"/>
          </p:cNvCxnSpPr>
          <p:nvPr/>
        </p:nvCxnSpPr>
        <p:spPr>
          <a:xfrm rot="5400000" flipH="1" flipV="1">
            <a:off x="2441834" y="2074988"/>
            <a:ext cx="1397552" cy="30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6CF8DE9F-875F-ABC5-44C6-31F64B958B49}"/>
              </a:ext>
            </a:extLst>
          </p:cNvPr>
          <p:cNvCxnSpPr>
            <a:cxnSpLocks/>
            <a:stCxn id="62" idx="0"/>
            <a:endCxn id="52" idx="2"/>
          </p:cNvCxnSpPr>
          <p:nvPr/>
        </p:nvCxnSpPr>
        <p:spPr>
          <a:xfrm rot="16200000" flipV="1">
            <a:off x="3395844" y="1124074"/>
            <a:ext cx="1397552" cy="1904924"/>
          </a:xfrm>
          <a:prstGeom prst="bentConnector3">
            <a:avLst>
              <a:gd name="adj1" fmla="val 358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4585A831-2F86-267A-26E6-CAE7A50F9928}"/>
              </a:ext>
            </a:extLst>
          </p:cNvPr>
          <p:cNvCxnSpPr>
            <a:cxnSpLocks/>
            <a:stCxn id="53" idx="3"/>
            <a:endCxn id="52" idx="2"/>
          </p:cNvCxnSpPr>
          <p:nvPr/>
        </p:nvCxnSpPr>
        <p:spPr>
          <a:xfrm flipV="1">
            <a:off x="2097916" y="1377760"/>
            <a:ext cx="1044242" cy="4651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LcTtl">
            <a:extLst>
              <a:ext uri="{FF2B5EF4-FFF2-40B4-BE49-F238E27FC236}">
                <a16:creationId xmlns:a16="http://schemas.microsoft.com/office/drawing/2014/main" id="{1B1CDD0C-1227-9E0A-871A-3782BDF966B0}"/>
              </a:ext>
            </a:extLst>
          </p:cNvPr>
          <p:cNvSpPr txBox="1">
            <a:spLocks noGrp="1"/>
          </p:cNvSpPr>
          <p:nvPr/>
        </p:nvSpPr>
        <p:spPr>
          <a:xfrm>
            <a:off x="3356349" y="1523543"/>
            <a:ext cx="1494722" cy="971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>
              <a:buNone/>
            </a:pP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新規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(SPA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型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):PJ</a:t>
            </a:r>
          </a:p>
          <a:p>
            <a:pPr>
              <a:buNone/>
            </a:pP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ALL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：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9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名</a:t>
            </a:r>
            <a:endParaRPr lang="en-US" altLang="ja-JP" sz="1100" dirty="0">
              <a:solidFill>
                <a:schemeClr val="tx2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プロパ：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5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名</a:t>
            </a:r>
            <a:endParaRPr lang="en-US" altLang="ja-JP" sz="1100" dirty="0">
              <a:solidFill>
                <a:schemeClr val="tx2"/>
              </a:solidFill>
              <a:latin typeface="Meiryo UI"/>
            </a:endParaRPr>
          </a:p>
          <a:p>
            <a:pPr>
              <a:buNone/>
            </a:pP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パートナ：</a:t>
            </a:r>
            <a:r>
              <a:rPr lang="en-US" altLang="ja-JP" sz="1100" dirty="0">
                <a:solidFill>
                  <a:schemeClr val="tx2"/>
                </a:solidFill>
                <a:latin typeface="Meiryo UI"/>
              </a:rPr>
              <a:t>4</a:t>
            </a:r>
            <a:r>
              <a:rPr lang="ja-JP" altLang="en-US" sz="1100" dirty="0">
                <a:solidFill>
                  <a:schemeClr val="tx2"/>
                </a:solidFill>
                <a:latin typeface="Meiryo UI"/>
              </a:rPr>
              <a:t>名</a:t>
            </a:r>
            <a:endParaRPr lang="en-US" altLang="ja-JP" sz="1100" dirty="0">
              <a:solidFill>
                <a:schemeClr val="tx2"/>
              </a:solidFill>
              <a:latin typeface="Meiryo UI"/>
            </a:endParaRPr>
          </a:p>
        </p:txBody>
      </p:sp>
      <p:sp>
        <p:nvSpPr>
          <p:cNvPr id="83" name="Header">
            <a:extLst>
              <a:ext uri="{FF2B5EF4-FFF2-40B4-BE49-F238E27FC236}">
                <a16:creationId xmlns:a16="http://schemas.microsoft.com/office/drawing/2014/main" id="{4791C26C-0B2C-799B-6895-FE728902CD96}"/>
              </a:ext>
            </a:extLst>
          </p:cNvPr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08B85"/>
          </a:solidFill>
          <a:ln>
            <a:noFill/>
          </a:ln>
        </p:spPr>
        <p:txBody>
          <a:bodyPr wrap="square" anchor="t"/>
          <a:lstStyle/>
          <a:p>
            <a:r>
              <a:rPr lang="en-US" altLang="ja-JP" sz="1400" b="1" dirty="0">
                <a:solidFill>
                  <a:schemeClr val="bg1"/>
                </a:solidFill>
              </a:rPr>
              <a:t>(</a:t>
            </a:r>
            <a:r>
              <a:rPr lang="ja-JP" altLang="en-US" sz="1400" b="1" dirty="0">
                <a:solidFill>
                  <a:schemeClr val="bg1"/>
                </a:solidFill>
              </a:rPr>
              <a:t>補足</a:t>
            </a:r>
            <a:r>
              <a:rPr lang="en-US" altLang="ja-JP" sz="1400" b="1" dirty="0">
                <a:solidFill>
                  <a:schemeClr val="bg1"/>
                </a:solidFill>
              </a:rPr>
              <a:t>)</a:t>
            </a:r>
            <a:r>
              <a:rPr lang="ja-JP" altLang="en-US" sz="1400" b="1" dirty="0">
                <a:solidFill>
                  <a:schemeClr val="bg1"/>
                </a:solidFill>
              </a:rPr>
              <a:t>体制イメージ</a:t>
            </a:r>
            <a:r>
              <a:rPr lang="en-US" altLang="ja-JP" sz="1400" b="1" dirty="0">
                <a:solidFill>
                  <a:schemeClr val="bg1"/>
                </a:solidFill>
              </a:rPr>
              <a:t> – </a:t>
            </a:r>
            <a:r>
              <a:rPr lang="ja-JP" altLang="en-US" sz="1400" b="1" dirty="0">
                <a:solidFill>
                  <a:schemeClr val="bg1"/>
                </a:solidFill>
              </a:rPr>
              <a:t>今の体制</a:t>
            </a:r>
          </a:p>
        </p:txBody>
      </p:sp>
      <p:sp>
        <p:nvSpPr>
          <p:cNvPr id="84" name="矢印: 右 83">
            <a:extLst>
              <a:ext uri="{FF2B5EF4-FFF2-40B4-BE49-F238E27FC236}">
                <a16:creationId xmlns:a16="http://schemas.microsoft.com/office/drawing/2014/main" id="{35019477-22E7-AEDB-6A26-EE41D08EE257}"/>
              </a:ext>
            </a:extLst>
          </p:cNvPr>
          <p:cNvSpPr/>
          <p:nvPr/>
        </p:nvSpPr>
        <p:spPr>
          <a:xfrm>
            <a:off x="6096000" y="4055952"/>
            <a:ext cx="304800" cy="4339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352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 [1774851017956]">
  <a:themeElements>
    <a:clrScheme name="Office">
      <a:dk1>
        <a:srgbClr val="1A2332"/>
      </a:dk1>
      <a:lt1>
        <a:srgbClr val="FFFFFF"/>
      </a:lt1>
      <a:dk2>
        <a:srgbClr val="44546A"/>
      </a:dk2>
      <a:lt2>
        <a:srgbClr val="F0F4F4"/>
      </a:lt2>
      <a:accent1>
        <a:srgbClr val="0ABAB5"/>
      </a:accent1>
      <a:accent2>
        <a:srgbClr val="008B85"/>
      </a:accent2>
      <a:accent3>
        <a:srgbClr val="B2DFDB"/>
      </a:accent3>
      <a:accent4>
        <a:srgbClr val="F5F5F5"/>
      </a:accent4>
      <a:accent5>
        <a:srgbClr val="78909C"/>
      </a:accent5>
      <a:accent6>
        <a:srgbClr val="37474F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9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02428F-4A4B-443F-84C6-643F7DFBCF1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095b8ee-b03f-43e5-b72d-aca3fdfca3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14256</TotalTime>
  <Words>2080</Words>
  <Application>Microsoft Office PowerPoint</Application>
  <PresentationFormat>ワイド画面</PresentationFormat>
  <Paragraphs>342</Paragraphs>
  <Slides>13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Meiryo UI</vt:lpstr>
      <vt:lpstr>游ゴシック</vt:lpstr>
      <vt:lpstr>Arial</vt:lpstr>
      <vt:lpstr>Segoe UI</vt:lpstr>
      <vt:lpstr>Wingdings</vt:lpstr>
      <vt:lpstr>Office テーマ [1774851017956]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初見 昌宏</dc:creator>
  <cp:lastModifiedBy>初見 昌宏</cp:lastModifiedBy>
  <cp:revision>336</cp:revision>
  <cp:lastPrinted>2026-04-03T03:39:42Z</cp:lastPrinted>
  <dcterms:created xsi:type="dcterms:W3CDTF">2026-03-30T06:10:17Z</dcterms:created>
  <dcterms:modified xsi:type="dcterms:W3CDTF">2026-07-26T06:07:44Z</dcterms:modified>
</cp:coreProperties>
</file>