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20" r:id="rId2"/>
    <p:sldId id="321" r:id="rId3"/>
    <p:sldId id="322" r:id="rId4"/>
    <p:sldId id="323" r:id="rId5"/>
    <p:sldId id="326" r:id="rId6"/>
    <p:sldId id="32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9316DD-DBAF-DA51-EC54-A405C5353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589E6C-F568-AAA1-F6F1-5C39A2ED9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3D226E-6FD9-58F7-FAD5-266B60E2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CC99BB-F7C4-E98F-77BC-BD9ADA2F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24CC22-22E1-E77F-D827-C5B6AC1D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270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FAD742-C686-FFA8-4804-D81BE341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1CD3BF-60AB-3859-7FC6-822106B71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7477BB-91C2-BE63-72C5-103ACB7F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3BF7B0-0799-42E5-C9E2-C0F87061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88469-52E3-D43C-0874-CA124D9B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365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039BB-93B3-4843-E4B6-9C5B96A1B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463079-1D44-1E99-EA87-B816C6838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FC669C-F747-4FBF-9082-1DC63F8A8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0B33E1-7727-71EF-AF32-F03E07B6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A278C2-91F5-9797-FE90-23580A6F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968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DDB5CD-9A1C-336C-F7D8-B5FB94E3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58D251-909A-E4A1-EEC6-271A16072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FA32AB-15DE-D747-A0E9-14E1E7BD8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A9AADA-7EE7-485B-068E-4252D6FBC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FD5EE-FD33-3BE3-9AEB-EF3ED674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728558-BDEC-5B2E-4567-A9B12281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914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145914-34D2-6730-BA07-6735DC254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9EAD57B-790D-2251-E3D9-BDED232AC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0BBC76B-9895-3971-50D2-38D6B5385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7D9087D-4319-94D7-E5E2-CC430F170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1143603-23FB-E8BE-EDAE-07D0F6C56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3C0C24-F964-CD5C-722B-9D1F2423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47663A-A5DE-4B48-DCAE-F01204A7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AE32CB3-1C6A-8407-EE34-93D5B7DC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00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2322C-3CFC-8453-C464-BBF172D8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88ED2F0-10F4-7A23-BA25-0AFC0BBF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852329-4943-7A2E-4008-99FE4AA4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F03C7A0-A3B9-F85C-E4D7-98883896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12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71BF245-5DB8-BE1F-3E6D-9505F802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FD1940-170B-312F-312D-E7208C8D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2708E1-69C8-5D71-11F9-46D16A17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834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0760BE-C9C6-ABC8-40F3-F84714DA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CADAFE-F58F-FE6D-C3FA-6FBD2322A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D69602-EB13-6F75-F19A-577055EDF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69E0D0-4127-ACCB-6CE2-F382020D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685F03-AAE4-9082-9648-AE7AC398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AECBD7-A8F7-4581-8E2E-3868E2FE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38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9CACF-16C9-3EC3-64B3-55DDF6BA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0E16E4-8075-02D8-966B-24639092E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B27EBA-FA5E-A7B9-77C5-76D1F33C7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6CBF9B-FEF8-0DBA-39DE-AAFA7644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F927BD-998E-94CA-3711-02503FC28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666AFE-4ED2-AAB3-B2D1-4D443906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65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8EAC7E-FEE8-8DB4-2347-AB5654D9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C48FB5-0E50-52A0-F94D-3EBA35549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8990CF-00D8-6D12-781E-AD3C3E56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1E16AA-49D7-6CC1-6B63-6ECEBE50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A5A7FE-05D4-CB2E-E339-C1213768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95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3CA1428-5CE1-78BC-C624-4146D9950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87BBC5D-2578-299F-D41E-B1C468EE4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339A46-31F9-8BBD-FC47-9A6B8247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FC0BCD-BDED-BB26-B869-CD90E6DD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5CB9A0-D89D-A9E8-D4BF-425F239C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18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64E093-6227-1F0A-9C29-44A6C49C0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7A4E9C-565C-C8A6-A3A9-8EB49241A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EEB8F6-AA44-A3FC-A7CD-BB92595495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03E10-DCF0-4BE9-8325-D34A72D3364B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FA3B42-4CCE-02EC-3D1B-C491E6AA12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75246E-FBE5-0D3D-A58A-35B48423E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52A16-FF30-4F68-BED4-862FA28A2FF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0" name="TopAccent"/>
          <p:cNvSpPr>
            <a:spLocks noGrp="1"/>
          </p:cNvSpPr>
          <p:nvPr/>
        </p:nvSpPr>
        <p:spPr>
          <a:xfrm>
            <a:off x="0" y="0"/>
            <a:ext cx="12192000" cy="5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FooterBar"/>
          <p:cNvSpPr>
            <a:spLocks noGrp="1"/>
          </p:cNvSpPr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401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A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3A4A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3A4A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3A4A5C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Panel"/>
          <p:cNvSpPr/>
          <p:nvPr/>
        </p:nvSpPr>
        <p:spPr>
          <a:xfrm>
            <a:off x="6200000" y="50000"/>
            <a:ext cx="5992000" cy="6550000"/>
          </a:xfrm>
          <a:prstGeom prst="rect">
            <a:avLst/>
          </a:prstGeom>
          <a:gradFill>
            <a:gsLst>
              <a:gs pos="0">
                <a:srgbClr val="00C9C3"/>
              </a:gs>
              <a:gs pos="100000">
                <a:srgbClr val="009E99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AImark"/>
          <p:cNvSpPr/>
          <p:nvPr/>
        </p:nvSpPr>
        <p:spPr>
          <a:xfrm>
            <a:off x="6800000" y="800000"/>
            <a:ext cx="5000000" cy="50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0" b="1" dirty="0">
                <a:solidFill>
                  <a:srgbClr val="FFFFFF">
                    <a:alpha val="20000"/>
                  </a:srgbClr>
                </a:solidFill>
              </a:rPr>
              <a:t>AI</a:t>
            </a:r>
          </a:p>
        </p:txBody>
      </p:sp>
      <p:sp>
        <p:nvSpPr>
          <p:cNvPr id="10" name="Label"/>
          <p:cNvSpPr/>
          <p:nvPr/>
        </p:nvSpPr>
        <p:spPr>
          <a:xfrm>
            <a:off x="457200" y="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400" dirty="0">
                <a:solidFill>
                  <a:srgbClr val="00C9C3"/>
                </a:solidFill>
              </a:rPr>
              <a:t>SKI  INTERNAL  TRAINING  2025</a:t>
            </a:r>
          </a:p>
        </p:txBody>
      </p:sp>
      <p:sp>
        <p:nvSpPr>
          <p:cNvPr id="11" name="AccLine"/>
          <p:cNvSpPr/>
          <p:nvPr/>
        </p:nvSpPr>
        <p:spPr>
          <a:xfrm>
            <a:off x="457200" y="1000000"/>
            <a:ext cx="800000" cy="5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itle"/>
          <p:cNvSpPr/>
          <p:nvPr/>
        </p:nvSpPr>
        <p:spPr>
          <a:xfrm>
            <a:off x="457200" y="1200000"/>
            <a:ext cx="5400000" cy="22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5000" b="1" dirty="0">
                <a:solidFill>
                  <a:srgbClr val="1A2332"/>
                </a:solidFill>
              </a:rPr>
              <a:t>AI支援型</a:t>
            </a:r>
          </a:p>
          <a:p>
            <a:pPr algn="l">
              <a:buNone/>
            </a:pPr>
            <a:r>
              <a:rPr lang="ja-JP" sz="5000" b="1" dirty="0">
                <a:solidFill>
                  <a:srgbClr val="00C9C3"/>
                </a:solidFill>
              </a:rPr>
              <a:t>開発研修</a:t>
            </a:r>
          </a:p>
        </p:txBody>
      </p:sp>
      <p:sp>
        <p:nvSpPr>
          <p:cNvPr id="21" name="Sub"/>
          <p:cNvSpPr/>
          <p:nvPr/>
        </p:nvSpPr>
        <p:spPr>
          <a:xfrm>
            <a:off x="457200" y="3500000"/>
            <a:ext cx="5400000" cy="4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800" b="0" dirty="0">
                <a:solidFill>
                  <a:srgbClr val="5A6A7C"/>
                </a:solidFill>
              </a:rPr>
              <a:t>本日のゴール説明</a:t>
            </a:r>
          </a:p>
        </p:txBody>
      </p:sp>
      <p:sp>
        <p:nvSpPr>
          <p:cNvPr id="30" name="AgNum0"/>
          <p:cNvSpPr/>
          <p:nvPr/>
        </p:nvSpPr>
        <p:spPr>
          <a:xfrm>
            <a:off x="457200" y="420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2800" b="1" dirty="0">
                <a:solidFill>
                  <a:srgbClr val="00C9C3"/>
                </a:solidFill>
              </a:rPr>
              <a:t>01</a:t>
            </a:r>
          </a:p>
        </p:txBody>
      </p:sp>
      <p:sp>
        <p:nvSpPr>
          <p:cNvPr id="40" name="AgText0"/>
          <p:cNvSpPr/>
          <p:nvPr/>
        </p:nvSpPr>
        <p:spPr>
          <a:xfrm>
            <a:off x="457200" y="4750000"/>
            <a:ext cx="1900000" cy="7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背景 — 市場変化とAIの進化</a:t>
            </a:r>
          </a:p>
        </p:txBody>
      </p:sp>
      <p:sp>
        <p:nvSpPr>
          <p:cNvPr id="31" name="AgNum1"/>
          <p:cNvSpPr/>
          <p:nvPr/>
        </p:nvSpPr>
        <p:spPr>
          <a:xfrm>
            <a:off x="2507200" y="420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2800" b="1" dirty="0">
                <a:solidFill>
                  <a:srgbClr val="00C9C3"/>
                </a:solidFill>
              </a:rPr>
              <a:t>02</a:t>
            </a:r>
          </a:p>
        </p:txBody>
      </p:sp>
      <p:sp>
        <p:nvSpPr>
          <p:cNvPr id="41" name="AgText1"/>
          <p:cNvSpPr/>
          <p:nvPr/>
        </p:nvSpPr>
        <p:spPr>
          <a:xfrm>
            <a:off x="2507200" y="4750000"/>
            <a:ext cx="1900000" cy="7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我々が守りたい立ち位置</a:t>
            </a:r>
          </a:p>
        </p:txBody>
      </p:sp>
      <p:sp>
        <p:nvSpPr>
          <p:cNvPr id="32" name="AgNum2"/>
          <p:cNvSpPr/>
          <p:nvPr/>
        </p:nvSpPr>
        <p:spPr>
          <a:xfrm>
            <a:off x="4557200" y="4200000"/>
            <a:ext cx="19000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2800" b="1" dirty="0">
                <a:solidFill>
                  <a:srgbClr val="00C9C3"/>
                </a:solidFill>
              </a:rPr>
              <a:t>03</a:t>
            </a:r>
          </a:p>
        </p:txBody>
      </p:sp>
      <p:sp>
        <p:nvSpPr>
          <p:cNvPr id="42" name="AgText2"/>
          <p:cNvSpPr/>
          <p:nvPr/>
        </p:nvSpPr>
        <p:spPr>
          <a:xfrm>
            <a:off x="4557200" y="4750000"/>
            <a:ext cx="1900000" cy="7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本日のゴール</a:t>
            </a:r>
          </a:p>
        </p:txBody>
      </p:sp>
    </p:spTree>
    <p:extLst>
      <p:ext uri="{BB962C8B-B14F-4D97-AF65-F5344CB8AC3E}">
        <p14:creationId xmlns:p14="http://schemas.microsoft.com/office/powerpoint/2010/main" val="63917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ag"/>
          <p:cNvSpPr/>
          <p:nvPr/>
        </p:nvSpPr>
        <p:spPr>
          <a:xfrm>
            <a:off x="457200" y="200000"/>
            <a:ext cx="112776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300" dirty="0">
                <a:solidFill>
                  <a:srgbClr val="00C9C3"/>
                </a:solidFill>
              </a:rPr>
              <a:t>SECTION 01  /  BACKGROUND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480000"/>
            <a:ext cx="11277600" cy="6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3200" b="1" dirty="0">
                <a:solidFill>
                  <a:srgbClr val="1A2332"/>
                </a:solidFill>
              </a:rPr>
              <a:t>市場変化：</a:t>
            </a:r>
            <a:r>
              <a:rPr lang="ja-JP" sz="3200" b="1" dirty="0">
                <a:solidFill>
                  <a:srgbClr val="00C9C3"/>
                </a:solidFill>
              </a:rPr>
              <a:t>AIは開発の標準装備になった</a:t>
            </a:r>
          </a:p>
        </p:txBody>
      </p:sp>
      <p:sp>
        <p:nvSpPr>
          <p:cNvPr id="12" name="HRule"/>
          <p:cNvSpPr/>
          <p:nvPr/>
        </p:nvSpPr>
        <p:spPr>
          <a:xfrm>
            <a:off x="457200" y="1180000"/>
            <a:ext cx="1000000" cy="4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CardBg20"/>
          <p:cNvSpPr/>
          <p:nvPr/>
        </p:nvSpPr>
        <p:spPr>
          <a:xfrm>
            <a:off x="457200" y="1380000"/>
            <a:ext cx="3606800" cy="37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CardTop20"/>
          <p:cNvSpPr/>
          <p:nvPr/>
        </p:nvSpPr>
        <p:spPr>
          <a:xfrm>
            <a:off x="457200" y="138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ardNum20"/>
          <p:cNvSpPr/>
          <p:nvPr/>
        </p:nvSpPr>
        <p:spPr>
          <a:xfrm>
            <a:off x="657200" y="1580000"/>
            <a:ext cx="3206800" cy="6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3600" b="1" dirty="0">
                <a:solidFill>
                  <a:srgbClr val="E8713A"/>
                </a:solidFill>
              </a:rPr>
              <a:t>01</a:t>
            </a:r>
          </a:p>
        </p:txBody>
      </p:sp>
      <p:sp>
        <p:nvSpPr>
          <p:cNvPr id="23" name="CardLabel20"/>
          <p:cNvSpPr/>
          <p:nvPr/>
        </p:nvSpPr>
        <p:spPr>
          <a:xfrm>
            <a:off x="657200" y="228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Agentic AI の台頭</a:t>
            </a:r>
          </a:p>
        </p:txBody>
      </p:sp>
      <p:sp>
        <p:nvSpPr>
          <p:cNvPr id="24" name="CardBody20"/>
          <p:cNvSpPr/>
          <p:nvPr/>
        </p:nvSpPr>
        <p:spPr>
          <a:xfrm>
            <a:off x="657200" y="2880000"/>
            <a:ext cx="3206800" cy="20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単なるコード補完から自律的に設計・実装・テストを遂行するエージェント型AIへと進化</a:t>
            </a:r>
          </a:p>
        </p:txBody>
      </p:sp>
      <p:sp>
        <p:nvSpPr>
          <p:cNvPr id="30" name="CardBg30"/>
          <p:cNvSpPr/>
          <p:nvPr/>
        </p:nvSpPr>
        <p:spPr>
          <a:xfrm>
            <a:off x="4292600" y="1380000"/>
            <a:ext cx="3606800" cy="37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CardTop30"/>
          <p:cNvSpPr/>
          <p:nvPr/>
        </p:nvSpPr>
        <p:spPr>
          <a:xfrm>
            <a:off x="4292600" y="138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CardNum30"/>
          <p:cNvSpPr/>
          <p:nvPr/>
        </p:nvSpPr>
        <p:spPr>
          <a:xfrm>
            <a:off x="4492600" y="1580000"/>
            <a:ext cx="3206800" cy="6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3600" b="1" dirty="0">
                <a:solidFill>
                  <a:srgbClr val="E8713A"/>
                </a:solidFill>
              </a:rPr>
              <a:t>02</a:t>
            </a:r>
          </a:p>
        </p:txBody>
      </p:sp>
      <p:sp>
        <p:nvSpPr>
          <p:cNvPr id="33" name="CardLabel30"/>
          <p:cNvSpPr/>
          <p:nvPr/>
        </p:nvSpPr>
        <p:spPr>
          <a:xfrm>
            <a:off x="4492600" y="228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開発速度 革命</a:t>
            </a:r>
          </a:p>
        </p:txBody>
      </p:sp>
      <p:sp>
        <p:nvSpPr>
          <p:cNvPr id="34" name="CardBody30"/>
          <p:cNvSpPr/>
          <p:nvPr/>
        </p:nvSpPr>
        <p:spPr>
          <a:xfrm>
            <a:off x="4492600" y="2880000"/>
            <a:ext cx="3206800" cy="20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GitHub Copilot・Cursorにより、コーディング工数が最大40〜70%削減されるという報告が相次ぐ</a:t>
            </a:r>
          </a:p>
        </p:txBody>
      </p:sp>
      <p:sp>
        <p:nvSpPr>
          <p:cNvPr id="40" name="CardBg40"/>
          <p:cNvSpPr/>
          <p:nvPr/>
        </p:nvSpPr>
        <p:spPr>
          <a:xfrm>
            <a:off x="8128000" y="1380000"/>
            <a:ext cx="3606800" cy="37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CardTop40"/>
          <p:cNvSpPr/>
          <p:nvPr/>
        </p:nvSpPr>
        <p:spPr>
          <a:xfrm>
            <a:off x="8128000" y="138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CardNum40"/>
          <p:cNvSpPr/>
          <p:nvPr/>
        </p:nvSpPr>
        <p:spPr>
          <a:xfrm>
            <a:off x="8328000" y="1580000"/>
            <a:ext cx="3206800" cy="6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3600" b="1" dirty="0">
                <a:solidFill>
                  <a:srgbClr val="E8713A"/>
                </a:solidFill>
              </a:rPr>
              <a:t>03</a:t>
            </a:r>
          </a:p>
        </p:txBody>
      </p:sp>
      <p:sp>
        <p:nvSpPr>
          <p:cNvPr id="43" name="CardLabel40"/>
          <p:cNvSpPr/>
          <p:nvPr/>
        </p:nvSpPr>
        <p:spPr>
          <a:xfrm>
            <a:off x="8328000" y="228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業界標準への移行</a:t>
            </a:r>
          </a:p>
        </p:txBody>
      </p:sp>
      <p:sp>
        <p:nvSpPr>
          <p:cNvPr id="44" name="CardBody40"/>
          <p:cNvSpPr/>
          <p:nvPr/>
        </p:nvSpPr>
        <p:spPr>
          <a:xfrm>
            <a:off x="8328000" y="2880000"/>
            <a:ext cx="3206800" cy="20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大手SI・コンサルファームがAI-first開発プロセスを標準化。非対応企業との競争力格差が拡大</a:t>
            </a:r>
          </a:p>
        </p:txBody>
      </p:sp>
      <p:sp>
        <p:nvSpPr>
          <p:cNvPr id="90" name="Insight"/>
          <p:cNvSpPr/>
          <p:nvPr/>
        </p:nvSpPr>
        <p:spPr>
          <a:xfrm>
            <a:off x="457200" y="5300000"/>
            <a:ext cx="11277600" cy="8000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txBody>
          <a:bodyPr lIns="300000" rIns="300000" anchor="ctr"/>
          <a:lstStyle/>
          <a:p>
            <a:pPr algn="l">
              <a:buNone/>
            </a:pPr>
            <a:r>
              <a:rPr lang="en-US" sz="1000" b="1" spc="300" dirty="0">
                <a:solidFill>
                  <a:srgbClr val="E8713A"/>
                </a:solidFill>
              </a:rPr>
              <a:t>KEY INSIGHT    </a:t>
            </a:r>
            <a:r>
              <a:rPr lang="ja-JP" sz="1500" b="1" dirty="0">
                <a:solidFill>
                  <a:srgbClr val="FFFFFF"/>
                </a:solidFill>
              </a:rPr>
              <a:t>AI支援型開発は「来るもの」ではなく、</a:t>
            </a:r>
            <a:r>
              <a:rPr lang="ja-JP" sz="1500" b="1" dirty="0">
                <a:solidFill>
                  <a:srgbClr val="00C9C3"/>
                </a:solidFill>
              </a:rPr>
              <a:t>今まさに業界標準へと移行しつつある</a:t>
            </a:r>
          </a:p>
        </p:txBody>
      </p:sp>
      <p:sp>
        <p:nvSpPr>
          <p:cNvPr id="99" name="PageNum"/>
          <p:cNvSpPr/>
          <p:nvPr/>
        </p:nvSpPr>
        <p:spPr>
          <a:xfrm>
            <a:off x="11200000" y="6350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en-US" sz="1000" b="0" dirty="0">
                <a:solidFill>
                  <a:srgbClr val="8A9AA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0732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ag"/>
          <p:cNvSpPr/>
          <p:nvPr/>
        </p:nvSpPr>
        <p:spPr>
          <a:xfrm>
            <a:off x="457200" y="200000"/>
            <a:ext cx="112776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300" dirty="0">
                <a:solidFill>
                  <a:srgbClr val="00C9C3"/>
                </a:solidFill>
              </a:rPr>
              <a:t>SECTION 01  /  VOICE OF CUSTOMER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480000"/>
            <a:ext cx="11277600" cy="6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3200" b="1" dirty="0">
                <a:solidFill>
                  <a:srgbClr val="1A2332"/>
                </a:solidFill>
              </a:rPr>
              <a:t>顧客が今、</a:t>
            </a:r>
            <a:r>
              <a:rPr lang="ja-JP" sz="3200" b="1" dirty="0">
                <a:solidFill>
                  <a:srgbClr val="00C9C3"/>
                </a:solidFill>
              </a:rPr>
              <a:t>求めていること</a:t>
            </a:r>
          </a:p>
        </p:txBody>
      </p:sp>
      <p:sp>
        <p:nvSpPr>
          <p:cNvPr id="12" name="AccLine"/>
          <p:cNvSpPr/>
          <p:nvPr/>
        </p:nvSpPr>
        <p:spPr>
          <a:xfrm>
            <a:off x="457200" y="1180000"/>
            <a:ext cx="1000000" cy="4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BarBg0"/>
          <p:cNvSpPr/>
          <p:nvPr/>
        </p:nvSpPr>
        <p:spPr>
          <a:xfrm>
            <a:off x="457200" y="1380000"/>
            <a:ext cx="11277600" cy="15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BarSide0"/>
          <p:cNvSpPr/>
          <p:nvPr/>
        </p:nvSpPr>
        <p:spPr>
          <a:xfrm>
            <a:off x="457200" y="1380000"/>
            <a:ext cx="60000" cy="150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arNum0"/>
          <p:cNvSpPr/>
          <p:nvPr/>
        </p:nvSpPr>
        <p:spPr>
          <a:xfrm>
            <a:off x="637200" y="1380000"/>
            <a:ext cx="1020000" cy="1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3600" b="1" dirty="0">
                <a:solidFill>
                  <a:srgbClr val="E8713A"/>
                </a:solidFill>
              </a:rPr>
              <a:t>01</a:t>
            </a:r>
          </a:p>
        </p:txBody>
      </p:sp>
      <p:sp>
        <p:nvSpPr>
          <p:cNvPr id="23" name="BarQuote0"/>
          <p:cNvSpPr/>
          <p:nvPr/>
        </p:nvSpPr>
        <p:spPr>
          <a:xfrm>
            <a:off x="1657200" y="1480000"/>
            <a:ext cx="100776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" AIを活用して生産性・品質を向上させたい "</a:t>
            </a:r>
          </a:p>
        </p:txBody>
      </p:sp>
      <p:sp>
        <p:nvSpPr>
          <p:cNvPr id="24" name="BarDetail0"/>
          <p:cNvSpPr/>
          <p:nvPr/>
        </p:nvSpPr>
        <p:spPr>
          <a:xfrm>
            <a:off x="1657200" y="2230000"/>
            <a:ext cx="10077600" cy="55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開発工数を削減しながら品質を上げたい。AIで何ができるか一緒に考えてほしい</a:t>
            </a:r>
          </a:p>
        </p:txBody>
      </p:sp>
      <p:sp>
        <p:nvSpPr>
          <p:cNvPr id="30" name="BarBg1"/>
          <p:cNvSpPr/>
          <p:nvPr/>
        </p:nvSpPr>
        <p:spPr>
          <a:xfrm>
            <a:off x="457200" y="2980000"/>
            <a:ext cx="11277600" cy="15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BarSide1"/>
          <p:cNvSpPr/>
          <p:nvPr/>
        </p:nvSpPr>
        <p:spPr>
          <a:xfrm>
            <a:off x="457200" y="2980000"/>
            <a:ext cx="60000" cy="150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BarNum1"/>
          <p:cNvSpPr/>
          <p:nvPr/>
        </p:nvSpPr>
        <p:spPr>
          <a:xfrm>
            <a:off x="637200" y="2980000"/>
            <a:ext cx="1020000" cy="1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3600" b="1" dirty="0">
                <a:solidFill>
                  <a:srgbClr val="E8713A"/>
                </a:solidFill>
              </a:rPr>
              <a:t>02</a:t>
            </a:r>
          </a:p>
        </p:txBody>
      </p:sp>
      <p:sp>
        <p:nvSpPr>
          <p:cNvPr id="33" name="BarQuote1"/>
          <p:cNvSpPr/>
          <p:nvPr/>
        </p:nvSpPr>
        <p:spPr>
          <a:xfrm>
            <a:off x="1657200" y="3080000"/>
            <a:ext cx="100776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" AIで開発サイクルをもっとスピーディにしたい "</a:t>
            </a:r>
          </a:p>
        </p:txBody>
      </p:sp>
      <p:sp>
        <p:nvSpPr>
          <p:cNvPr id="34" name="BarDetail1"/>
          <p:cNvSpPr/>
          <p:nvPr/>
        </p:nvSpPr>
        <p:spPr>
          <a:xfrm>
            <a:off x="1657200" y="3830000"/>
            <a:ext cx="10077600" cy="55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リリースまでの時間を今の半分に。AI活用した短サイクル開発への移行を支援してほしい</a:t>
            </a:r>
          </a:p>
        </p:txBody>
      </p:sp>
      <p:sp>
        <p:nvSpPr>
          <p:cNvPr id="40" name="BarBg2"/>
          <p:cNvSpPr/>
          <p:nvPr/>
        </p:nvSpPr>
        <p:spPr>
          <a:xfrm>
            <a:off x="457200" y="4580000"/>
            <a:ext cx="11277600" cy="15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BarSide2"/>
          <p:cNvSpPr/>
          <p:nvPr/>
        </p:nvSpPr>
        <p:spPr>
          <a:xfrm>
            <a:off x="457200" y="4580000"/>
            <a:ext cx="60000" cy="150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BarNum2"/>
          <p:cNvSpPr/>
          <p:nvPr/>
        </p:nvSpPr>
        <p:spPr>
          <a:xfrm>
            <a:off x="637200" y="4580000"/>
            <a:ext cx="1020000" cy="1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3600" b="1" dirty="0">
                <a:solidFill>
                  <a:srgbClr val="E8713A"/>
                </a:solidFill>
              </a:rPr>
              <a:t>03</a:t>
            </a:r>
          </a:p>
        </p:txBody>
      </p:sp>
      <p:sp>
        <p:nvSpPr>
          <p:cNvPr id="43" name="BarQuote2"/>
          <p:cNvSpPr/>
          <p:nvPr/>
        </p:nvSpPr>
        <p:spPr>
          <a:xfrm>
            <a:off x="1657200" y="4680000"/>
            <a:ext cx="10077600" cy="7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" AIを自社サービスに組み込んで課題を解決したい "</a:t>
            </a:r>
          </a:p>
        </p:txBody>
      </p:sp>
      <p:sp>
        <p:nvSpPr>
          <p:cNvPr id="44" name="BarDetail2"/>
          <p:cNvSpPr/>
          <p:nvPr/>
        </p:nvSpPr>
        <p:spPr>
          <a:xfrm>
            <a:off x="1657200" y="5430000"/>
            <a:ext cx="10077600" cy="55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コールセンター無人化・AI面接官のような形で業務変革を実現したい</a:t>
            </a:r>
          </a:p>
        </p:txBody>
      </p:sp>
      <p:sp>
        <p:nvSpPr>
          <p:cNvPr id="99" name="PageNum"/>
          <p:cNvSpPr/>
          <p:nvPr/>
        </p:nvSpPr>
        <p:spPr>
          <a:xfrm>
            <a:off x="11200000" y="6350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en-US" sz="1000" b="0" dirty="0">
                <a:solidFill>
                  <a:srgbClr val="8A9AA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599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ag"/>
          <p:cNvSpPr/>
          <p:nvPr/>
        </p:nvSpPr>
        <p:spPr>
          <a:xfrm>
            <a:off x="457200" y="200000"/>
            <a:ext cx="112776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300" dirty="0">
                <a:solidFill>
                  <a:srgbClr val="00C9C3"/>
                </a:solidFill>
              </a:rPr>
              <a:t>SECTION 01  /  SKI AI PROJECTS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480000"/>
            <a:ext cx="11277600" cy="6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3200" b="1" dirty="0">
                <a:solidFill>
                  <a:srgbClr val="1A2332"/>
                </a:solidFill>
              </a:rPr>
              <a:t>SKIが今動かしている</a:t>
            </a:r>
            <a:r>
              <a:rPr lang="ja-JP" sz="3200" b="1" dirty="0">
                <a:solidFill>
                  <a:srgbClr val="00C9C3"/>
                </a:solidFill>
              </a:rPr>
              <a:t>AI案件</a:t>
            </a:r>
          </a:p>
        </p:txBody>
      </p:sp>
      <p:sp>
        <p:nvSpPr>
          <p:cNvPr id="12" name="AccLine"/>
          <p:cNvSpPr/>
          <p:nvPr/>
        </p:nvSpPr>
        <p:spPr>
          <a:xfrm>
            <a:off x="457200" y="1180000"/>
            <a:ext cx="1000000" cy="4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anner"/>
          <p:cNvSpPr/>
          <p:nvPr/>
        </p:nvSpPr>
        <p:spPr>
          <a:xfrm>
            <a:off x="457200" y="1380000"/>
            <a:ext cx="11277600" cy="5000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txBody>
          <a:bodyPr lIns="300000" anchor="ctr"/>
          <a:lstStyle/>
          <a:p>
            <a:pPr algn="l">
              <a:buNone/>
            </a:pPr>
            <a:r>
              <a:rPr lang="ja-JP" sz="1300" b="0" dirty="0">
                <a:solidFill>
                  <a:srgbClr val="7AD4D0"/>
                </a:solidFill>
              </a:rPr>
              <a:t>想像以上に — </a:t>
            </a:r>
            <a:r>
              <a:rPr lang="ja-JP" sz="1500" b="1" dirty="0">
                <a:solidFill>
                  <a:srgbClr val="FFFFFF"/>
                </a:solidFill>
              </a:rPr>
              <a:t>SKIのAI活用プロジェクトは、すでに複数件が本格始動しています</a:t>
            </a:r>
          </a:p>
        </p:txBody>
      </p:sp>
      <p:sp>
        <p:nvSpPr>
          <p:cNvPr id="20" name="KBg20"/>
          <p:cNvSpPr/>
          <p:nvPr/>
        </p:nvSpPr>
        <p:spPr>
          <a:xfrm>
            <a:off x="457200" y="2100000"/>
            <a:ext cx="3606800" cy="40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KTop20"/>
          <p:cNvSpPr/>
          <p:nvPr/>
        </p:nvSpPr>
        <p:spPr>
          <a:xfrm>
            <a:off x="457200" y="2100000"/>
            <a:ext cx="3606800" cy="60000"/>
          </a:xfrm>
          <a:prstGeom prst="rect">
            <a:avLst/>
          </a:prstGeom>
          <a:solidFill>
            <a:srgbClr val="E871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KKPI20"/>
          <p:cNvSpPr/>
          <p:nvPr/>
        </p:nvSpPr>
        <p:spPr>
          <a:xfrm>
            <a:off x="657200" y="2300000"/>
            <a:ext cx="3206800" cy="1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6000" b="1" dirty="0">
                <a:solidFill>
                  <a:srgbClr val="00C9C3"/>
                </a:solidFill>
              </a:rPr>
              <a:t>3+</a:t>
            </a:r>
            <a:r>
              <a:rPr lang="ja-JP" sz="1800" b="1" dirty="0">
                <a:solidFill>
                  <a:srgbClr val="5A6A7C"/>
                </a:solidFill>
              </a:rPr>
              <a:t> 件</a:t>
            </a:r>
          </a:p>
        </p:txBody>
      </p:sp>
      <p:sp>
        <p:nvSpPr>
          <p:cNvPr id="23" name="KLabel20"/>
          <p:cNvSpPr/>
          <p:nvPr/>
        </p:nvSpPr>
        <p:spPr>
          <a:xfrm>
            <a:off x="657200" y="360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生成AI活用</a:t>
            </a:r>
          </a:p>
        </p:txBody>
      </p:sp>
      <p:sp>
        <p:nvSpPr>
          <p:cNvPr id="24" name="KDetail20"/>
          <p:cNvSpPr/>
          <p:nvPr/>
        </p:nvSpPr>
        <p:spPr>
          <a:xfrm>
            <a:off x="657200" y="42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社内ナレッジチャットボット</a:t>
            </a:r>
          </a:p>
        </p:txBody>
      </p:sp>
      <p:sp>
        <p:nvSpPr>
          <p:cNvPr id="30" name="KBg30"/>
          <p:cNvSpPr/>
          <p:nvPr/>
        </p:nvSpPr>
        <p:spPr>
          <a:xfrm>
            <a:off x="4292600" y="2100000"/>
            <a:ext cx="3606800" cy="40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KTop30"/>
          <p:cNvSpPr/>
          <p:nvPr/>
        </p:nvSpPr>
        <p:spPr>
          <a:xfrm>
            <a:off x="4292600" y="2100000"/>
            <a:ext cx="3606800" cy="60000"/>
          </a:xfrm>
          <a:prstGeom prst="rect">
            <a:avLst/>
          </a:prstGeom>
          <a:solidFill>
            <a:srgbClr val="E871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KKPI30"/>
          <p:cNvSpPr/>
          <p:nvPr/>
        </p:nvSpPr>
        <p:spPr>
          <a:xfrm>
            <a:off x="4492600" y="2300000"/>
            <a:ext cx="3206800" cy="1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6000" b="1" dirty="0">
                <a:solidFill>
                  <a:srgbClr val="00C9C3"/>
                </a:solidFill>
              </a:rPr>
              <a:t>AI</a:t>
            </a:r>
            <a:r>
              <a:rPr lang="ja-JP" sz="1800" b="1" dirty="0">
                <a:solidFill>
                  <a:srgbClr val="5A6A7C"/>
                </a:solidFill>
              </a:rPr>
              <a:t> 面接</a:t>
            </a:r>
          </a:p>
        </p:txBody>
      </p:sp>
      <p:sp>
        <p:nvSpPr>
          <p:cNvPr id="33" name="KLabel30"/>
          <p:cNvSpPr/>
          <p:nvPr/>
        </p:nvSpPr>
        <p:spPr>
          <a:xfrm>
            <a:off x="4492600" y="360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採用プロセス革新</a:t>
            </a:r>
          </a:p>
        </p:txBody>
      </p:sp>
      <p:sp>
        <p:nvSpPr>
          <p:cNvPr id="34" name="KDetail30"/>
          <p:cNvSpPr/>
          <p:nvPr/>
        </p:nvSpPr>
        <p:spPr>
          <a:xfrm>
            <a:off x="4492600" y="42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SKI-AI面接官システム稼働中</a:t>
            </a:r>
          </a:p>
        </p:txBody>
      </p:sp>
      <p:sp>
        <p:nvSpPr>
          <p:cNvPr id="40" name="KBg40"/>
          <p:cNvSpPr/>
          <p:nvPr/>
        </p:nvSpPr>
        <p:spPr>
          <a:xfrm>
            <a:off x="8128000" y="2100000"/>
            <a:ext cx="3606800" cy="40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KTop40"/>
          <p:cNvSpPr/>
          <p:nvPr/>
        </p:nvSpPr>
        <p:spPr>
          <a:xfrm>
            <a:off x="8128000" y="2100000"/>
            <a:ext cx="3606800" cy="60000"/>
          </a:xfrm>
          <a:prstGeom prst="rect">
            <a:avLst/>
          </a:prstGeom>
          <a:solidFill>
            <a:srgbClr val="E871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KKPI40"/>
          <p:cNvSpPr/>
          <p:nvPr/>
        </p:nvSpPr>
        <p:spPr>
          <a:xfrm>
            <a:off x="8328000" y="2300000"/>
            <a:ext cx="3206800" cy="12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6000" b="1" dirty="0">
                <a:solidFill>
                  <a:srgbClr val="00C9C3"/>
                </a:solidFill>
              </a:rPr>
              <a:t>∞</a:t>
            </a:r>
            <a:r>
              <a:rPr lang="ja-JP" sz="1800" b="1" dirty="0">
                <a:solidFill>
                  <a:srgbClr val="5A6A7C"/>
                </a:solidFill>
              </a:rPr>
              <a:t> 拡張中</a:t>
            </a:r>
          </a:p>
        </p:txBody>
      </p:sp>
      <p:sp>
        <p:nvSpPr>
          <p:cNvPr id="43" name="KLabel40"/>
          <p:cNvSpPr/>
          <p:nvPr/>
        </p:nvSpPr>
        <p:spPr>
          <a:xfrm>
            <a:off x="8328000" y="3600000"/>
            <a:ext cx="3206800" cy="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コード生成支援</a:t>
            </a:r>
          </a:p>
        </p:txBody>
      </p:sp>
      <p:sp>
        <p:nvSpPr>
          <p:cNvPr id="44" name="KDetail40"/>
          <p:cNvSpPr/>
          <p:nvPr/>
        </p:nvSpPr>
        <p:spPr>
          <a:xfrm>
            <a:off x="8328000" y="42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400" b="0" dirty="0">
                <a:solidFill>
                  <a:srgbClr val="5A6A7C"/>
                </a:solidFill>
              </a:rPr>
              <a:t>開発補助AI導入支援</a:t>
            </a:r>
          </a:p>
        </p:txBody>
      </p:sp>
      <p:sp>
        <p:nvSpPr>
          <p:cNvPr id="99" name="PageNum"/>
          <p:cNvSpPr/>
          <p:nvPr/>
        </p:nvSpPr>
        <p:spPr>
          <a:xfrm>
            <a:off x="11200000" y="6350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en-US" sz="1000" b="0" dirty="0">
                <a:solidFill>
                  <a:srgbClr val="8A9AA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6041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ag"/>
          <p:cNvSpPr/>
          <p:nvPr/>
        </p:nvSpPr>
        <p:spPr>
          <a:xfrm>
            <a:off x="457200" y="200000"/>
            <a:ext cx="112776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300" dirty="0">
                <a:solidFill>
                  <a:srgbClr val="00C9C3"/>
                </a:solidFill>
              </a:rPr>
              <a:t>SECTION 02  /  OUR POSITIONING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480000"/>
            <a:ext cx="11277600" cy="6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3200" b="1" dirty="0">
                <a:solidFill>
                  <a:srgbClr val="1A2332"/>
                </a:solidFill>
              </a:rPr>
              <a:t>我々が守りたい</a:t>
            </a:r>
            <a:r>
              <a:rPr lang="ja-JP" sz="3200" b="1" dirty="0">
                <a:solidFill>
                  <a:srgbClr val="00C9C3"/>
                </a:solidFill>
              </a:rPr>
              <a:t>立ち位置</a:t>
            </a:r>
          </a:p>
        </p:txBody>
      </p:sp>
      <p:sp>
        <p:nvSpPr>
          <p:cNvPr id="12" name="AccLine"/>
          <p:cNvSpPr/>
          <p:nvPr/>
        </p:nvSpPr>
        <p:spPr>
          <a:xfrm>
            <a:off x="457200" y="1180000"/>
            <a:ext cx="1000000" cy="4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KBg"/>
          <p:cNvSpPr/>
          <p:nvPr/>
        </p:nvSpPr>
        <p:spPr>
          <a:xfrm>
            <a:off x="457200" y="1380000"/>
            <a:ext cx="5524500" cy="4200000"/>
          </a:xfrm>
          <a:prstGeom prst="rect">
            <a:avLst/>
          </a:prstGeom>
          <a:solidFill>
            <a:srgbClr val="E8FAF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OKBar"/>
          <p:cNvSpPr/>
          <p:nvPr/>
        </p:nvSpPr>
        <p:spPr>
          <a:xfrm>
            <a:off x="457200" y="1380000"/>
            <a:ext cx="5524500" cy="8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OKHead"/>
          <p:cNvSpPr/>
          <p:nvPr/>
        </p:nvSpPr>
        <p:spPr>
          <a:xfrm>
            <a:off x="707200" y="1580000"/>
            <a:ext cx="50245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2400" b="1" dirty="0">
                <a:solidFill>
                  <a:srgbClr val="00C9C3"/>
                </a:solidFill>
              </a:rPr>
              <a:t>✓  目指す姿</a:t>
            </a:r>
          </a:p>
        </p:txBody>
      </p:sp>
      <p:sp>
        <p:nvSpPr>
          <p:cNvPr id="23" name="OKBody"/>
          <p:cNvSpPr/>
          <p:nvPr/>
        </p:nvSpPr>
        <p:spPr>
          <a:xfrm>
            <a:off x="707200" y="2180000"/>
            <a:ext cx="5024500" cy="33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顧客と伴走し、</a:t>
            </a:r>
          </a:p>
          <a:p>
            <a:pPr algn="l">
              <a:buNone/>
            </a:pPr>
            <a:r>
              <a:rPr lang="ja-JP" sz="1800" b="1" dirty="0">
                <a:solidFill>
                  <a:srgbClr val="00C9C3"/>
                </a:solidFill>
              </a:rPr>
              <a:t>AI時代も</a:t>
            </a:r>
            <a:r>
              <a:rPr lang="ja-JP" sz="1800" b="1" dirty="0">
                <a:solidFill>
                  <a:srgbClr val="1A2332"/>
                </a:solidFill>
              </a:rPr>
              <a:t>顧客の課題解決に</a:t>
            </a:r>
          </a:p>
          <a:p>
            <a:pPr algn="l">
              <a:buNone/>
            </a:pPr>
            <a:r>
              <a:rPr lang="ja-JP" sz="1800" b="1" dirty="0">
                <a:solidFill>
                  <a:srgbClr val="00C9C3"/>
                </a:solidFill>
              </a:rPr>
              <a:t>コミットし続ける</a:t>
            </a:r>
          </a:p>
        </p:txBody>
      </p:sp>
      <p:sp>
        <p:nvSpPr>
          <p:cNvPr id="30" name="NGBg"/>
          <p:cNvSpPr/>
          <p:nvPr/>
        </p:nvSpPr>
        <p:spPr>
          <a:xfrm>
            <a:off x="6210300" y="1380000"/>
            <a:ext cx="5524500" cy="4200000"/>
          </a:xfrm>
          <a:prstGeom prst="rect">
            <a:avLst/>
          </a:prstGeom>
          <a:solidFill>
            <a:srgbClr val="FFF0E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NGBar"/>
          <p:cNvSpPr/>
          <p:nvPr/>
        </p:nvSpPr>
        <p:spPr>
          <a:xfrm>
            <a:off x="6210300" y="1380000"/>
            <a:ext cx="5524500" cy="80000"/>
          </a:xfrm>
          <a:prstGeom prst="rect">
            <a:avLst/>
          </a:prstGeom>
          <a:solidFill>
            <a:srgbClr val="E871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NGHead"/>
          <p:cNvSpPr/>
          <p:nvPr/>
        </p:nvSpPr>
        <p:spPr>
          <a:xfrm>
            <a:off x="6460300" y="1580000"/>
            <a:ext cx="5024500" cy="50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2400" b="1" dirty="0">
                <a:solidFill>
                  <a:srgbClr val="E8713A"/>
                </a:solidFill>
              </a:rPr>
              <a:t>✗  避けるべき姿</a:t>
            </a:r>
          </a:p>
        </p:txBody>
      </p:sp>
      <p:sp>
        <p:nvSpPr>
          <p:cNvPr id="33" name="NGItem33"/>
          <p:cNvSpPr/>
          <p:nvPr/>
        </p:nvSpPr>
        <p:spPr>
          <a:xfrm>
            <a:off x="6460300" y="2180000"/>
            <a:ext cx="5024500" cy="1100000"/>
          </a:xfrm>
          <a:prstGeom prst="rect">
            <a:avLst/>
          </a:prstGeom>
          <a:solidFill>
            <a:srgbClr val="FDE8E2"/>
          </a:solidFill>
          <a:ln w="0">
            <a:noFill/>
          </a:ln>
        </p:spPr>
        <p:txBody>
          <a:bodyPr lIns="180000" rIns="180000" anchor="ctr"/>
          <a:lstStyle/>
          <a:p>
            <a:pPr algn="l">
              <a:buNone/>
            </a:pPr>
            <a:r>
              <a:rPr lang="ja-JP" sz="1400" b="0" dirty="0">
                <a:solidFill>
                  <a:srgbClr val="8C3A1A"/>
                </a:solidFill>
              </a:rPr>
              <a:t>「AIで解決できますよ」と言われても話についていけない</a:t>
            </a:r>
          </a:p>
        </p:txBody>
      </p:sp>
      <p:sp>
        <p:nvSpPr>
          <p:cNvPr id="35" name="NGItem35"/>
          <p:cNvSpPr/>
          <p:nvPr/>
        </p:nvSpPr>
        <p:spPr>
          <a:xfrm>
            <a:off x="6460300" y="3400000"/>
            <a:ext cx="5024500" cy="1100000"/>
          </a:xfrm>
          <a:prstGeom prst="rect">
            <a:avLst/>
          </a:prstGeom>
          <a:solidFill>
            <a:srgbClr val="FDE8E2"/>
          </a:solidFill>
          <a:ln w="0">
            <a:noFill/>
          </a:ln>
        </p:spPr>
        <p:txBody>
          <a:bodyPr lIns="180000" rIns="180000" anchor="ctr"/>
          <a:lstStyle/>
          <a:p>
            <a:pPr algn="l">
              <a:buNone/>
            </a:pPr>
            <a:r>
              <a:rPr lang="ja-JP" sz="1400" b="0" dirty="0">
                <a:solidFill>
                  <a:srgbClr val="8C3A1A"/>
                </a:solidFill>
              </a:rPr>
              <a:t>AI標準化を待つだけの「何をすればいいですか？」の悪い下請けスタンス</a:t>
            </a:r>
          </a:p>
        </p:txBody>
      </p:sp>
      <p:sp>
        <p:nvSpPr>
          <p:cNvPr id="50" name="Bottom"/>
          <p:cNvSpPr/>
          <p:nvPr/>
        </p:nvSpPr>
        <p:spPr>
          <a:xfrm>
            <a:off x="457200" y="5600000"/>
            <a:ext cx="11277600" cy="7000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txBody>
          <a:bodyPr lIns="300000" anchor="ctr"/>
          <a:lstStyle/>
          <a:p>
            <a:pPr algn="l">
              <a:buNone/>
            </a:pPr>
            <a:r>
              <a:rPr lang="ja-JP" sz="1300" b="0" dirty="0">
                <a:solidFill>
                  <a:srgbClr val="7AD4D0"/>
                </a:solidFill>
              </a:rPr>
              <a:t>業務・システム・設計を押さえている</a:t>
            </a:r>
            <a:r>
              <a:rPr lang="ja-JP" sz="1400" b="1" dirty="0">
                <a:solidFill>
                  <a:srgbClr val="FFFFFF"/>
                </a:solidFill>
              </a:rPr>
              <a:t> 我々だからこそ、今準備する</a:t>
            </a:r>
          </a:p>
        </p:txBody>
      </p:sp>
      <p:sp>
        <p:nvSpPr>
          <p:cNvPr id="99" name="PageNum"/>
          <p:cNvSpPr/>
          <p:nvPr/>
        </p:nvSpPr>
        <p:spPr>
          <a:xfrm>
            <a:off x="11200000" y="6350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en-US" sz="1000" b="0" dirty="0">
                <a:solidFill>
                  <a:srgbClr val="8A9AA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6998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ag"/>
          <p:cNvSpPr/>
          <p:nvPr/>
        </p:nvSpPr>
        <p:spPr>
          <a:xfrm>
            <a:off x="457200" y="200000"/>
            <a:ext cx="112776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en-US" sz="1000" b="0" spc="300" dirty="0">
                <a:solidFill>
                  <a:srgbClr val="00C9C3"/>
                </a:solidFill>
              </a:rPr>
              <a:t>SECTION 03  /  TODAY'S GOAL</a:t>
            </a:r>
          </a:p>
        </p:txBody>
      </p:sp>
      <p:sp>
        <p:nvSpPr>
          <p:cNvPr id="11" name="Title"/>
          <p:cNvSpPr/>
          <p:nvPr/>
        </p:nvSpPr>
        <p:spPr>
          <a:xfrm>
            <a:off x="457200" y="480000"/>
            <a:ext cx="11277600" cy="6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>
              <a:buNone/>
            </a:pPr>
            <a:r>
              <a:rPr lang="ja-JP" sz="3200" b="1" dirty="0">
                <a:solidFill>
                  <a:srgbClr val="1A2332"/>
                </a:solidFill>
              </a:rPr>
              <a:t>今日の</a:t>
            </a:r>
            <a:r>
              <a:rPr lang="ja-JP" sz="3200" b="1" dirty="0">
                <a:solidFill>
                  <a:srgbClr val="00C9C3"/>
                </a:solidFill>
              </a:rPr>
              <a:t>ゴール</a:t>
            </a:r>
          </a:p>
        </p:txBody>
      </p:sp>
      <p:sp>
        <p:nvSpPr>
          <p:cNvPr id="12" name="AccLine"/>
          <p:cNvSpPr/>
          <p:nvPr/>
        </p:nvSpPr>
        <p:spPr>
          <a:xfrm>
            <a:off x="457200" y="1180000"/>
            <a:ext cx="1000000" cy="4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GBg0"/>
          <p:cNvSpPr/>
          <p:nvPr/>
        </p:nvSpPr>
        <p:spPr>
          <a:xfrm>
            <a:off x="457200" y="1400000"/>
            <a:ext cx="3606800" cy="38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GTop0"/>
          <p:cNvSpPr/>
          <p:nvPr/>
        </p:nvSpPr>
        <p:spPr>
          <a:xfrm>
            <a:off x="457200" y="140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GStep0"/>
          <p:cNvSpPr/>
          <p:nvPr/>
        </p:nvSpPr>
        <p:spPr>
          <a:xfrm>
            <a:off x="657200" y="1600000"/>
            <a:ext cx="3206800" cy="4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E8713A"/>
                </a:solidFill>
              </a:rPr>
              <a:t>STEP 01</a:t>
            </a:r>
          </a:p>
        </p:txBody>
      </p:sp>
      <p:sp>
        <p:nvSpPr>
          <p:cNvPr id="23" name="GGoal0"/>
          <p:cNvSpPr/>
          <p:nvPr/>
        </p:nvSpPr>
        <p:spPr>
          <a:xfrm>
            <a:off x="657200" y="2050000"/>
            <a:ext cx="3206800" cy="13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AIがどう進化しているか理解する</a:t>
            </a:r>
          </a:p>
        </p:txBody>
      </p:sp>
      <p:sp>
        <p:nvSpPr>
          <p:cNvPr id="24" name="GDesc0"/>
          <p:cNvSpPr/>
          <p:nvPr/>
        </p:nvSpPr>
        <p:spPr>
          <a:xfrm>
            <a:off x="657200" y="34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Agentic AIの現状と、開発プロセスに与えるインパクトを把握</a:t>
            </a:r>
          </a:p>
        </p:txBody>
      </p:sp>
      <p:sp>
        <p:nvSpPr>
          <p:cNvPr id="60" name="Arrow0"/>
          <p:cNvSpPr/>
          <p:nvPr/>
        </p:nvSpPr>
        <p:spPr>
          <a:xfrm>
            <a:off x="4078300" y="2800000"/>
            <a:ext cx="200000" cy="300000"/>
          </a:xfrm>
          <a:prstGeom prst="rightArrow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GBg1"/>
          <p:cNvSpPr/>
          <p:nvPr/>
        </p:nvSpPr>
        <p:spPr>
          <a:xfrm>
            <a:off x="4292600" y="1400000"/>
            <a:ext cx="3606800" cy="38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GTop1"/>
          <p:cNvSpPr/>
          <p:nvPr/>
        </p:nvSpPr>
        <p:spPr>
          <a:xfrm>
            <a:off x="4292600" y="140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GStep1"/>
          <p:cNvSpPr/>
          <p:nvPr/>
        </p:nvSpPr>
        <p:spPr>
          <a:xfrm>
            <a:off x="4492600" y="1600000"/>
            <a:ext cx="3206800" cy="4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E8713A"/>
                </a:solidFill>
              </a:rPr>
              <a:t>STEP 02</a:t>
            </a:r>
          </a:p>
        </p:txBody>
      </p:sp>
      <p:sp>
        <p:nvSpPr>
          <p:cNvPr id="33" name="GGoal1"/>
          <p:cNvSpPr/>
          <p:nvPr/>
        </p:nvSpPr>
        <p:spPr>
          <a:xfrm>
            <a:off x="4492600" y="2050000"/>
            <a:ext cx="3206800" cy="13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AI活用型開発の具体的手法を習得する</a:t>
            </a:r>
          </a:p>
        </p:txBody>
      </p:sp>
      <p:sp>
        <p:nvSpPr>
          <p:cNvPr id="34" name="GDesc1"/>
          <p:cNvSpPr/>
          <p:nvPr/>
        </p:nvSpPr>
        <p:spPr>
          <a:xfrm>
            <a:off x="4492600" y="34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Cursor・Copilot等のツールを使った実践的な開発フローを体験</a:t>
            </a:r>
          </a:p>
        </p:txBody>
      </p:sp>
      <p:sp>
        <p:nvSpPr>
          <p:cNvPr id="61" name="Arrow1"/>
          <p:cNvSpPr/>
          <p:nvPr/>
        </p:nvSpPr>
        <p:spPr>
          <a:xfrm>
            <a:off x="7913700" y="2800000"/>
            <a:ext cx="200000" cy="300000"/>
          </a:xfrm>
          <a:prstGeom prst="rightArrow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GBg2"/>
          <p:cNvSpPr/>
          <p:nvPr/>
        </p:nvSpPr>
        <p:spPr>
          <a:xfrm>
            <a:off x="8128000" y="1400000"/>
            <a:ext cx="3606800" cy="38000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GTop2"/>
          <p:cNvSpPr/>
          <p:nvPr/>
        </p:nvSpPr>
        <p:spPr>
          <a:xfrm>
            <a:off x="8128000" y="1400000"/>
            <a:ext cx="3606800" cy="60000"/>
          </a:xfrm>
          <a:prstGeom prst="rect">
            <a:avLst/>
          </a:prstGeom>
          <a:solidFill>
            <a:srgbClr val="00C9C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GStep2"/>
          <p:cNvSpPr/>
          <p:nvPr/>
        </p:nvSpPr>
        <p:spPr>
          <a:xfrm>
            <a:off x="8328000" y="1600000"/>
            <a:ext cx="3206800" cy="4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en-US" sz="1100" b="1" spc="300" dirty="0">
                <a:solidFill>
                  <a:srgbClr val="E8713A"/>
                </a:solidFill>
              </a:rPr>
              <a:t>STEP 03</a:t>
            </a:r>
          </a:p>
        </p:txBody>
      </p:sp>
      <p:sp>
        <p:nvSpPr>
          <p:cNvPr id="43" name="GGoal2"/>
          <p:cNvSpPr/>
          <p:nvPr/>
        </p:nvSpPr>
        <p:spPr>
          <a:xfrm>
            <a:off x="8328000" y="2050000"/>
            <a:ext cx="3206800" cy="13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800" b="1" dirty="0">
                <a:solidFill>
                  <a:srgbClr val="1A2332"/>
                </a:solidFill>
              </a:rPr>
              <a:t>顧客課題にAIを適用するイメージを持つ</a:t>
            </a:r>
          </a:p>
        </p:txBody>
      </p:sp>
      <p:sp>
        <p:nvSpPr>
          <p:cNvPr id="44" name="GDesc2"/>
          <p:cNvSpPr/>
          <p:nvPr/>
        </p:nvSpPr>
        <p:spPr>
          <a:xfrm>
            <a:off x="8328000" y="3400000"/>
            <a:ext cx="3206800" cy="15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>
              <a:buNone/>
            </a:pPr>
            <a:r>
              <a:rPr lang="ja-JP" sz="1300" b="0" dirty="0">
                <a:solidFill>
                  <a:srgbClr val="5A6A7C"/>
                </a:solidFill>
              </a:rPr>
              <a:t>実案件を想定したAI活用提案のフレームワークを身につける</a:t>
            </a:r>
          </a:p>
        </p:txBody>
      </p:sp>
      <p:sp>
        <p:nvSpPr>
          <p:cNvPr id="70" name="Bottom"/>
          <p:cNvSpPr/>
          <p:nvPr/>
        </p:nvSpPr>
        <p:spPr>
          <a:xfrm>
            <a:off x="457200" y="5400000"/>
            <a:ext cx="11277600" cy="700000"/>
          </a:xfrm>
          <a:prstGeom prst="rect">
            <a:avLst/>
          </a:prstGeom>
          <a:solidFill>
            <a:srgbClr val="1A2332"/>
          </a:solidFill>
          <a:ln w="0">
            <a:noFill/>
          </a:ln>
        </p:spPr>
        <p:txBody>
          <a:bodyPr lIns="300000" anchor="ctr"/>
          <a:lstStyle/>
          <a:p>
            <a:pPr algn="ctr">
              <a:buNone/>
            </a:pPr>
            <a:r>
              <a:rPr lang="ja-JP" sz="1800" b="1" dirty="0">
                <a:solidFill>
                  <a:srgbClr val="FFFFFF"/>
                </a:solidFill>
              </a:rPr>
              <a:t>AI時代に</a:t>
            </a:r>
            <a:r>
              <a:rPr lang="ja-JP" sz="1800" b="1" dirty="0">
                <a:solidFill>
                  <a:srgbClr val="00C9C3"/>
                </a:solidFill>
              </a:rPr>
              <a:t>選ばれる</a:t>
            </a:r>
            <a:r>
              <a:rPr lang="ja-JP" sz="1800" b="1" dirty="0">
                <a:solidFill>
                  <a:srgbClr val="FFFFFF"/>
                </a:solidFill>
              </a:rPr>
              <a:t>エンジニアへ</a:t>
            </a:r>
          </a:p>
        </p:txBody>
      </p:sp>
      <p:sp>
        <p:nvSpPr>
          <p:cNvPr id="99" name="PageNum"/>
          <p:cNvSpPr/>
          <p:nvPr/>
        </p:nvSpPr>
        <p:spPr>
          <a:xfrm>
            <a:off x="11200000" y="6350000"/>
            <a:ext cx="600000" cy="35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buNone/>
            </a:pPr>
            <a:r>
              <a:rPr lang="en-US" sz="1000" b="0" dirty="0">
                <a:solidFill>
                  <a:srgbClr val="8A9AA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105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 [1774969174021]">
  <a:themeElements>
    <a:clrScheme name="Office">
      <a:dk1>
        <a:srgbClr val="1A2332"/>
      </a:dk1>
      <a:lt1>
        <a:srgbClr val="FFFFFF"/>
      </a:lt1>
      <a:dk2>
        <a:srgbClr val="3A4A5C"/>
      </a:dk2>
      <a:lt2>
        <a:srgbClr val="F5F7FA"/>
      </a:lt2>
      <a:accent1>
        <a:srgbClr val="00C9C3"/>
      </a:accent1>
      <a:accent2>
        <a:srgbClr val="E8713A"/>
      </a:accent2>
      <a:accent3>
        <a:srgbClr val="1A2332"/>
      </a:accent3>
      <a:accent4>
        <a:srgbClr val="7AD4D0"/>
      </a:accent4>
      <a:accent5>
        <a:srgbClr val="F0F4F8"/>
      </a:accent5>
      <a:accent6>
        <a:srgbClr val="C74B1A"/>
      </a:accent6>
      <a:hlink>
        <a:srgbClr val="0563C1"/>
      </a:hlink>
      <a:folHlink>
        <a:srgbClr val="954F72"/>
      </a:folHlink>
    </a:clrScheme>
    <a:fontScheme name="Office">
      <a:majorFont>
        <a:latin typeface="Yu Gothic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6849DF1-7722-4117-82D6-EEC0652A1CEC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492</Words>
  <Application>Microsoft Office PowerPoint</Application>
  <PresentationFormat>ワイド画面</PresentationFormat>
  <Paragraphs>73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Yu Gothic UI</vt:lpstr>
      <vt:lpstr>Arial</vt:lpstr>
      <vt:lpstr>Office テーマ [1774969174021]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初見 昌宏</dc:creator>
  <cp:lastModifiedBy>初見 昌宏</cp:lastModifiedBy>
  <cp:revision>5</cp:revision>
  <dcterms:created xsi:type="dcterms:W3CDTF">2026-03-31T13:41:54Z</dcterms:created>
  <dcterms:modified xsi:type="dcterms:W3CDTF">2026-03-31T15:13:15Z</dcterms:modified>
</cp:coreProperties>
</file>