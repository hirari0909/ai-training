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00" r:id="rId2"/>
    <p:sldId id="329" r:id="rId3"/>
    <p:sldId id="318" r:id="rId4"/>
    <p:sldId id="321" r:id="rId5"/>
    <p:sldId id="326" r:id="rId6"/>
    <p:sldId id="325" r:id="rId7"/>
    <p:sldId id="29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4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41" autoAdjust="0"/>
    <p:restoredTop sz="90481" autoAdjust="0"/>
  </p:normalViewPr>
  <p:slideViewPr>
    <p:cSldViewPr snapToGrid="0" showGuides="1">
      <p:cViewPr varScale="1">
        <p:scale>
          <a:sx n="120" d="100"/>
          <a:sy n="120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EB53F-8757-4948-8B74-632E1BEC2CF3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1DBCF-E6D8-45F5-89B3-D83ADCBCFE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12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DBCF-E6D8-45F5-89B3-D83ADCBCFE1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84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DBCF-E6D8-45F5-89B3-D83ADCBCFE1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840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131E68-8717-7884-66DB-E0850EB0B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CB079C-D49C-8169-6B74-1F3F55F26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E52EC2-66ED-9E4D-CB97-20C19B69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BE936E-3454-1A8D-219D-78192655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BF7502-DC79-E76A-E651-073B71D5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52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1AA3C-05CB-98B6-A540-93627929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562B2C-DC44-4D03-E838-14CE2359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E75744-0645-CD59-462E-326225DE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55DA26-A05B-7981-2C6E-AE2EFD4A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0B5BDD-271D-8DE5-47B9-40113294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914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D4891-E0EB-C1A2-6478-470CC1B0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B1B265-5963-B87F-D831-6A601970C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A18A4F-2413-9251-E480-D4482E47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6B6707-1805-ECC1-AD54-87146244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F3AE11-1382-6C44-1BD6-413197AE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9088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DC6157-88BF-053B-78CA-D37B0388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3C8C9C-9F8F-7967-0A90-6F52CBEF9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367662-E7F2-555D-0E64-2ADCF4FC2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29D47A-6014-B7CF-6345-115387BD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8FAF28-AF54-786C-3310-F11DBBF3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1FD57C-BB7B-111E-23DA-B25B7D9E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20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2811D-5041-BB88-DADB-CCA4EE5C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53F145-8AD9-5A1A-3114-68E0E4431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41DC46-E54C-EAB7-5777-2EEAD8753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338E3FB-654F-49D2-4D75-CCC683C90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077B223-A4FC-3B8C-4212-DCD5A3AB6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29A8CA2-D95A-6A01-9188-A97E1D86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3F17C13-BF5E-957F-9F84-A86D2EC3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9FEA022-B498-E94F-6B50-9C238D0E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98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8B658D-6DBF-E864-024D-073090E6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C60275C-65D9-F62C-A159-F82BB4D4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DC24554-A720-C22D-B4A7-54A770EE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3EF523-ADC8-164A-2069-C8688C6A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572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78569F-6122-221F-59E7-AB0D8B54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ECD4F5A-A8BC-BA05-D46A-5096DE931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4C0711-25A7-BEA7-E227-13B10454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97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564684-B37D-A70A-273A-3A137DDEE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5ABBD9-D4C8-93A0-C72C-ABAC837EB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DE036C-9A0C-556E-E68E-D858175BB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7FA55A-F24E-4C6B-2F0E-D971D39C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8D7B2B-0B91-6DDC-5393-2F370EAA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ABED19-AB06-EE30-489D-C80090F7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95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C7369-E151-1F11-0480-0023715E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5568C1-97FC-5FD7-3878-722FFDD94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BDCA57-E16B-BDF6-68CA-887D60A2A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332286-4341-67AD-51DA-B9E3A19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FBF341-D263-840C-4AC2-707A31A7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5F5B4F-FEE3-7AB5-FFA3-34ED8833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74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790D8-B1E5-6B41-7909-3FD03A9F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08FB1F-5ABE-6082-93AD-A08975E8D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5ABC33-9201-0E60-A4F9-688B8AD1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7B205E-641C-4E25-0E86-8763DD47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46A829-60EE-1131-1F86-E9B6BE42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599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2DD356A-D6BF-9F7C-E597-195EF070B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F542EF-772B-2461-3742-36F9261D1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53D1D5-983E-A3E8-AA9F-4F90954B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BC04A1-0C5A-DBE3-C4DA-2454D6B7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D234BF-D046-2395-D3D2-A9055355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36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50000">
              <a:srgbClr val="111820"/>
            </a:gs>
            <a:gs pos="100000">
              <a:srgbClr val="0A0E1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E7C3195-39F0-C3E8-D4CF-A0BF1E67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375738-9CB5-ADDB-4CCC-37BC108FE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5E8F50-6588-F04D-3F11-590AB7C5A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A53DE-4878-494C-9A89-5D421FA9C1EF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BF7569-D315-3EE7-1562-0EE938D02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FD1B2B-3CC4-502D-D0A7-A15568C74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8D8ED-50C2-4D6B-B855-C22B84F40C8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0" name="AccentLine"/>
          <p:cNvSpPr/>
          <p:nvPr/>
        </p:nvSpPr>
        <p:spPr>
          <a:xfrm>
            <a:off x="0" y="6705600"/>
            <a:ext cx="12192000" cy="36000"/>
          </a:xfrm>
          <a:prstGeom prst="rect">
            <a:avLst/>
          </a:prstGeom>
          <a:gradFill>
            <a:gsLst>
              <a:gs pos="0">
                <a:srgbClr val="00D4FF">
                  <a:alpha val="0"/>
                </a:srgbClr>
              </a:gs>
              <a:gs pos="30000">
                <a:srgbClr val="00D4FF"/>
              </a:gs>
              <a:gs pos="70000">
                <a:srgbClr val="7C4DFF"/>
              </a:gs>
              <a:gs pos="100000">
                <a:srgbClr val="7C4DFF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1" name="CornerDeco"/>
          <p:cNvSpPr/>
          <p:nvPr/>
        </p:nvSpPr>
        <p:spPr>
          <a:xfrm>
            <a:off x="10800000" y="0"/>
            <a:ext cx="1392000" cy="1392000"/>
          </a:xfrm>
          <a:prstGeom prst="triangle">
            <a:avLst/>
          </a:prstGeom>
          <a:gradFill>
            <a:gsLst>
              <a:gs pos="0">
                <a:srgbClr val="00D4FF">
                  <a:alpha val="8000"/>
                </a:srgbClr>
              </a:gs>
              <a:gs pos="100000">
                <a:srgbClr val="7C4DFF">
                  <a:alpha val="3000"/>
                </a:srgbClr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2" name="SideDots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gradFill>
            <a:gsLst>
              <a:gs pos="0">
                <a:srgbClr val="00D4FF">
                  <a:alpha val="0"/>
                </a:srgbClr>
              </a:gs>
              <a:gs pos="30000">
                <a:srgbClr val="00D4FF">
                  <a:alpha val="15000"/>
                </a:srgbClr>
              </a:gs>
              <a:gs pos="70000">
                <a:srgbClr val="7C4DFF">
                  <a:alpha val="15000"/>
                </a:srgbClr>
              </a:gs>
              <a:gs pos="100000">
                <a:srgbClr val="7C4DFF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8923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E0E0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B0BEC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B0BEC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B0BEC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B0BEC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ecoDot2"/>
          <p:cNvSpPr/>
          <p:nvPr/>
        </p:nvSpPr>
        <p:spPr>
          <a:xfrm>
            <a:off x="10505337" y="4938986"/>
            <a:ext cx="2540000" cy="2540000"/>
          </a:xfrm>
          <a:prstGeom prst="ellipse">
            <a:avLst/>
          </a:prstGeom>
          <a:solidFill>
            <a:srgbClr val="7C4D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" name="Hex1"/>
          <p:cNvSpPr/>
          <p:nvPr/>
        </p:nvSpPr>
        <p:spPr>
          <a:xfrm rot="900000">
            <a:off x="10871200" y="508000"/>
            <a:ext cx="812800" cy="812800"/>
          </a:xfrm>
          <a:prstGeom prst="hexagon">
            <a:avLst/>
          </a:prstGeom>
          <a:noFill/>
          <a:ln w="12700">
            <a:solidFill>
              <a:srgbClr val="00D4FF">
                <a:alpha val="25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2" name="Hex2"/>
          <p:cNvSpPr/>
          <p:nvPr/>
        </p:nvSpPr>
        <p:spPr>
          <a:xfrm rot="900000">
            <a:off x="10414000" y="1371600"/>
            <a:ext cx="584200" cy="584200"/>
          </a:xfrm>
          <a:prstGeom prst="hexagon">
            <a:avLst/>
          </a:prstGeom>
          <a:noFill/>
          <a:ln w="9525">
            <a:solidFill>
              <a:srgbClr val="7C4DFF">
                <a:alpha val="2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3" name="AccentLineMid"/>
          <p:cNvSpPr/>
          <p:nvPr/>
        </p:nvSpPr>
        <p:spPr>
          <a:xfrm>
            <a:off x="762000" y="5219700"/>
            <a:ext cx="5080000" cy="254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4DFF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4" name="AITag"/>
          <p:cNvSpPr/>
          <p:nvPr/>
        </p:nvSpPr>
        <p:spPr>
          <a:xfrm>
            <a:off x="762000" y="2501900"/>
            <a:ext cx="3048000" cy="381000"/>
          </a:xfrm>
          <a:prstGeom prst="roundRect">
            <a:avLst>
              <a:gd name="adj" fmla="val 39777"/>
            </a:avLst>
          </a:prstGeom>
          <a:noFill/>
          <a:ln w="15875">
            <a:solidFill>
              <a:srgbClr val="00D4FF"/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ja-JP" altLang="en-US" sz="1400" spc="300" dirty="0">
                <a:solidFill>
                  <a:srgbClr val="00D4FF"/>
                </a:solidFill>
                <a:latin typeface="Segoe UI Light"/>
                <a:ea typeface="Yu Gothic UI Light"/>
              </a:rPr>
              <a:t>WORKSHOP CURRICULUM</a:t>
            </a:r>
          </a:p>
        </p:txBody>
      </p:sp>
      <p:sp>
        <p:nvSpPr>
          <p:cNvPr id="15" name="MainTitle"/>
          <p:cNvSpPr/>
          <p:nvPr/>
        </p:nvSpPr>
        <p:spPr>
          <a:xfrm>
            <a:off x="762000" y="3136900"/>
            <a:ext cx="7874000" cy="187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lang="ja-JP" altLang="en-US" sz="4400" dirty="0">
                <a:solidFill>
                  <a:srgbClr val="FFFFFF"/>
                </a:solidFill>
                <a:latin typeface="Segoe UI Light"/>
                <a:ea typeface="Yu Gothic UI Light"/>
              </a:rPr>
              <a:t>社員</a:t>
            </a:r>
            <a:r>
              <a:rPr lang="en-US" altLang="ja-JP" sz="4400" dirty="0">
                <a:solidFill>
                  <a:srgbClr val="FFFFFF"/>
                </a:solidFill>
                <a:latin typeface="Segoe UI Light"/>
                <a:ea typeface="Yu Gothic UI Light"/>
              </a:rPr>
              <a:t>AI</a:t>
            </a:r>
            <a:r>
              <a:rPr lang="ja-JP" altLang="en-US" sz="4400" dirty="0">
                <a:solidFill>
                  <a:srgbClr val="FFFFFF"/>
                </a:solidFill>
                <a:latin typeface="Segoe UI Light"/>
                <a:ea typeface="Yu Gothic UI Light"/>
              </a:rPr>
              <a:t>研修　</a:t>
            </a:r>
            <a:endParaRPr lang="ja-JP" altLang="en-US" sz="4400" b="0" dirty="0">
              <a:solidFill>
                <a:srgbClr val="FFFFFF"/>
              </a:solidFill>
              <a:latin typeface="Segoe UI Light"/>
              <a:ea typeface="Yu Gothic UI Light"/>
            </a:endParaRPr>
          </a:p>
          <a:p>
            <a:pPr algn="l"/>
            <a:r>
              <a:rPr lang="ja-JP" altLang="en-US" sz="2000" b="0" dirty="0">
                <a:solidFill>
                  <a:srgbClr val="00D4FF"/>
                </a:solidFill>
                <a:latin typeface="Segoe UI Light"/>
                <a:ea typeface="Yu Gothic UI Light"/>
              </a:rPr>
              <a:t>～１</a:t>
            </a:r>
            <a:r>
              <a:rPr lang="ja-JP" altLang="en-US" sz="2000" dirty="0">
                <a:solidFill>
                  <a:srgbClr val="00D4FF"/>
                </a:solidFill>
                <a:latin typeface="Segoe UI Light"/>
                <a:ea typeface="Yu Gothic UI Light"/>
              </a:rPr>
              <a:t>日 </a:t>
            </a:r>
            <a:r>
              <a:rPr lang="en-US" altLang="ja-JP" sz="2000" dirty="0">
                <a:solidFill>
                  <a:srgbClr val="00D4FF"/>
                </a:solidFill>
                <a:latin typeface="Segoe UI Light"/>
                <a:ea typeface="Yu Gothic UI Light"/>
              </a:rPr>
              <a:t>AI </a:t>
            </a:r>
            <a:r>
              <a:rPr lang="ja-JP" altLang="en-US" sz="2000" b="0" dirty="0">
                <a:solidFill>
                  <a:srgbClr val="00D4FF"/>
                </a:solidFill>
                <a:latin typeface="Segoe UI Light"/>
                <a:ea typeface="Yu Gothic UI Light"/>
              </a:rPr>
              <a:t>ワークショップ　</a:t>
            </a:r>
            <a:r>
              <a:rPr lang="en-US" altLang="ja-JP" sz="2000" b="0" dirty="0">
                <a:solidFill>
                  <a:srgbClr val="00D4FF"/>
                </a:solidFill>
                <a:latin typeface="Segoe UI Light"/>
                <a:ea typeface="Yu Gothic UI Light"/>
              </a:rPr>
              <a:t>AI</a:t>
            </a:r>
            <a:r>
              <a:rPr lang="ja-JP" altLang="en-US" sz="2000" b="0" dirty="0">
                <a:solidFill>
                  <a:srgbClr val="00D4FF"/>
                </a:solidFill>
                <a:latin typeface="Segoe UI Light"/>
                <a:ea typeface="Yu Gothic UI Light"/>
              </a:rPr>
              <a:t>支援型開発時代の</a:t>
            </a:r>
            <a:r>
              <a:rPr lang="en-US" altLang="ja-JP" sz="2000" b="0" dirty="0">
                <a:solidFill>
                  <a:srgbClr val="00D4FF"/>
                </a:solidFill>
                <a:latin typeface="Segoe UI Light"/>
                <a:ea typeface="Yu Gothic UI Light"/>
              </a:rPr>
              <a:t>SE</a:t>
            </a:r>
            <a:r>
              <a:rPr lang="ja-JP" altLang="en-US" sz="2000" b="0" dirty="0">
                <a:solidFill>
                  <a:srgbClr val="00D4FF"/>
                </a:solidFill>
                <a:latin typeface="Segoe UI Light"/>
                <a:ea typeface="Yu Gothic UI Light"/>
              </a:rPr>
              <a:t>作業体験</a:t>
            </a:r>
            <a:r>
              <a:rPr lang="ja-JP" altLang="en-US" sz="2000" dirty="0">
                <a:solidFill>
                  <a:srgbClr val="00D4FF"/>
                </a:solidFill>
                <a:latin typeface="Segoe UI Light"/>
                <a:ea typeface="Yu Gothic UI Light"/>
              </a:rPr>
              <a:t>～</a:t>
            </a:r>
            <a:endParaRPr lang="ja-JP" altLang="en-US" sz="2000" b="0" dirty="0">
              <a:solidFill>
                <a:srgbClr val="00D4FF"/>
              </a:solidFill>
              <a:latin typeface="Segoe UI Light"/>
              <a:ea typeface="Yu Gothic UI Light"/>
            </a:endParaRPr>
          </a:p>
        </p:txBody>
      </p:sp>
      <p:sp>
        <p:nvSpPr>
          <p:cNvPr id="16" name="Subtitle"/>
          <p:cNvSpPr/>
          <p:nvPr/>
        </p:nvSpPr>
        <p:spPr>
          <a:xfrm>
            <a:off x="7985863" y="5548297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0" anchor="t"/>
          <a:lstStyle/>
          <a:p>
            <a:pPr algn="l">
              <a:lnSpc>
                <a:spcPts val="2400"/>
              </a:lnSpc>
            </a:pPr>
            <a:r>
              <a:rPr lang="en-US" altLang="ja-JP" sz="1800" dirty="0">
                <a:solidFill>
                  <a:srgbClr val="78909C"/>
                </a:solidFill>
                <a:latin typeface="Segoe UI"/>
                <a:ea typeface="Yu Gothic UI"/>
              </a:rPr>
              <a:t>SA </a:t>
            </a:r>
            <a:r>
              <a:rPr lang="ja-JP" altLang="en-US" dirty="0">
                <a:solidFill>
                  <a:srgbClr val="78909C"/>
                </a:solidFill>
                <a:latin typeface="Segoe UI"/>
                <a:ea typeface="Yu Gothic UI"/>
              </a:rPr>
              <a:t>初見昌宏</a:t>
            </a:r>
            <a:endParaRPr lang="ja-JP" altLang="en-US" sz="1800" dirty="0">
              <a:solidFill>
                <a:srgbClr val="78909C"/>
              </a:solidFill>
              <a:latin typeface="Segoe UI"/>
              <a:ea typeface="Yu Gothic UI"/>
            </a:endParaRPr>
          </a:p>
        </p:txBody>
      </p:sp>
    </p:spTree>
    <p:extLst>
      <p:ext uri="{BB962C8B-B14F-4D97-AF65-F5344CB8AC3E}">
        <p14:creationId xmlns:p14="http://schemas.microsoft.com/office/powerpoint/2010/main" val="159563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Num">
            <a:extLst>
              <a:ext uri="{FF2B5EF4-FFF2-40B4-BE49-F238E27FC236}">
                <a16:creationId xmlns:a16="http://schemas.microsoft.com/office/drawing/2014/main" id="{3A527430-E312-A0D1-A358-79D6387FE029}"/>
              </a:ext>
            </a:extLst>
          </p:cNvPr>
          <p:cNvSpPr/>
          <p:nvPr/>
        </p:nvSpPr>
        <p:spPr>
          <a:xfrm>
            <a:off x="409902" y="147164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2600" b="0" dirty="0">
                <a:solidFill>
                  <a:srgbClr val="00D4FF"/>
                </a:solidFill>
                <a:latin typeface="Segoe UI Light"/>
              </a:rPr>
              <a:t>00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7827E01-1F8A-42E1-0362-7EE76748D3DC}"/>
              </a:ext>
            </a:extLst>
          </p:cNvPr>
          <p:cNvSpPr/>
          <p:nvPr/>
        </p:nvSpPr>
        <p:spPr>
          <a:xfrm>
            <a:off x="343992" y="91164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lIns="720000" tIns="0" rIns="0" bIns="0" anchor="ctr"/>
          <a:lstStyle/>
          <a:p>
            <a:pPr algn="l"/>
            <a:r>
              <a:rPr lang="ja-JP" altLang="en-US" sz="2400" b="0" dirty="0">
                <a:solidFill>
                  <a:srgbClr val="FFFFFF"/>
                </a:solidFill>
                <a:latin typeface="Segoe UI Light"/>
                <a:ea typeface="Yu Gothic UI Light"/>
              </a:rPr>
              <a:t>はじめに</a:t>
            </a:r>
          </a:p>
        </p:txBody>
      </p:sp>
      <p:sp>
        <p:nvSpPr>
          <p:cNvPr id="6" name="TitleLine">
            <a:extLst>
              <a:ext uri="{FF2B5EF4-FFF2-40B4-BE49-F238E27FC236}">
                <a16:creationId xmlns:a16="http://schemas.microsoft.com/office/drawing/2014/main" id="{2454B297-936B-3496-17DD-4CA43F911DDA}"/>
              </a:ext>
            </a:extLst>
          </p:cNvPr>
          <p:cNvSpPr/>
          <p:nvPr/>
        </p:nvSpPr>
        <p:spPr>
          <a:xfrm>
            <a:off x="1032637" y="579164"/>
            <a:ext cx="2400000" cy="24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4DFF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7" name="s102">
            <a:extLst>
              <a:ext uri="{FF2B5EF4-FFF2-40B4-BE49-F238E27FC236}">
                <a16:creationId xmlns:a16="http://schemas.microsoft.com/office/drawing/2014/main" id="{11FEDA4B-6246-4692-FA0D-E0B0B9A5353F}"/>
              </a:ext>
            </a:extLst>
          </p:cNvPr>
          <p:cNvSpPr>
            <a:spLocks noGrp="1"/>
          </p:cNvSpPr>
          <p:nvPr/>
        </p:nvSpPr>
        <p:spPr>
          <a:xfrm>
            <a:off x="254000" y="127000"/>
            <a:ext cx="38100" cy="431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100">
            <a:extLst>
              <a:ext uri="{FF2B5EF4-FFF2-40B4-BE49-F238E27FC236}">
                <a16:creationId xmlns:a16="http://schemas.microsoft.com/office/drawing/2014/main" id="{B2D2D8F4-8223-0DBC-1419-371AC1147C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Insight">
            <a:extLst>
              <a:ext uri="{FF2B5EF4-FFF2-40B4-BE49-F238E27FC236}">
                <a16:creationId xmlns:a16="http://schemas.microsoft.com/office/drawing/2014/main" id="{AAB621CA-AC99-2878-CFAA-0607426611C6}"/>
              </a:ext>
            </a:extLst>
          </p:cNvPr>
          <p:cNvSpPr/>
          <p:nvPr/>
        </p:nvSpPr>
        <p:spPr>
          <a:xfrm>
            <a:off x="599090" y="854476"/>
            <a:ext cx="10523483" cy="6179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txBody>
          <a:bodyPr lIns="300000" rIns="300000" anchor="ctr"/>
          <a:lstStyle/>
          <a:p>
            <a:r>
              <a:rPr lang="en-US" altLang="ja-JP" sz="800" b="1" spc="300" dirty="0">
                <a:solidFill>
                  <a:srgbClr val="E8713A"/>
                </a:solidFill>
              </a:rPr>
              <a:t>KEY INSIGHT    </a:t>
            </a:r>
            <a:r>
              <a:rPr lang="ja-JP" altLang="ja-JP" b="1" dirty="0">
                <a:solidFill>
                  <a:srgbClr val="FFFFFF"/>
                </a:solidFill>
              </a:rPr>
              <a:t>AI</a:t>
            </a:r>
            <a:r>
              <a:rPr lang="ja-JP" altLang="en-US" b="1" dirty="0">
                <a:solidFill>
                  <a:srgbClr val="FFFFFF"/>
                </a:solidFill>
              </a:rPr>
              <a:t>活用</a:t>
            </a:r>
            <a:r>
              <a:rPr lang="ja-JP" altLang="ja-JP" b="1" dirty="0">
                <a:solidFill>
                  <a:srgbClr val="FFFFFF"/>
                </a:solidFill>
              </a:rPr>
              <a:t>型</a:t>
            </a:r>
            <a:r>
              <a:rPr lang="ja-JP" altLang="en-US" b="1" dirty="0">
                <a:solidFill>
                  <a:srgbClr val="FFFFFF"/>
                </a:solidFill>
              </a:rPr>
              <a:t>の</a:t>
            </a:r>
            <a:r>
              <a:rPr lang="ja-JP" altLang="ja-JP" b="1" dirty="0">
                <a:solidFill>
                  <a:srgbClr val="FFFFFF"/>
                </a:solidFill>
              </a:rPr>
              <a:t>開発は「来るもの」ではなく、</a:t>
            </a:r>
            <a:r>
              <a:rPr lang="ja-JP" altLang="ja-JP" b="1" dirty="0">
                <a:solidFill>
                  <a:srgbClr val="00C9C3"/>
                </a:solidFill>
              </a:rPr>
              <a:t>今まさに業界標準へと移行しつつある</a:t>
            </a:r>
          </a:p>
        </p:txBody>
      </p:sp>
      <p:sp>
        <p:nvSpPr>
          <p:cNvPr id="1000" name="HeroCard"/>
          <p:cNvSpPr/>
          <p:nvPr/>
        </p:nvSpPr>
        <p:spPr>
          <a:xfrm>
            <a:off x="747822" y="1939524"/>
            <a:ext cx="4572000" cy="4064000"/>
          </a:xfrm>
          <a:prstGeom prst="roundRect">
            <a:avLst>
              <a:gd name="adj" fmla="val 10769"/>
            </a:avLst>
          </a:prstGeom>
          <a:gradFill flip="none" rotWithShape="1">
            <a:gsLst>
              <a:gs pos="0">
                <a:srgbClr val="00D4FF">
                  <a:alpha val="18000"/>
                </a:srgbClr>
              </a:gs>
              <a:gs pos="100000">
                <a:srgbClr val="7C4DFF">
                  <a:alpha val="12000"/>
                </a:srgbClr>
              </a:gs>
            </a:gsLst>
            <a:lin ang="2700000" scaled="0"/>
          </a:gradFill>
          <a:ln w="19050">
            <a:solidFill>
              <a:srgbClr val="00D4FF"/>
            </a:solidFill>
          </a:ln>
          <a:effectLst>
            <a:outerShdw blurRad="63500" algn="ctr" rotWithShape="0">
              <a:srgbClr val="00D4FF">
                <a:alpha val="4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01" name="HeroNum"/>
          <p:cNvSpPr/>
          <p:nvPr/>
        </p:nvSpPr>
        <p:spPr>
          <a:xfrm>
            <a:off x="1052622" y="2168124"/>
            <a:ext cx="889000" cy="635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600" b="0" dirty="0">
                <a:solidFill>
                  <a:srgbClr val="00D4FF"/>
                </a:solidFill>
                <a:latin typeface="Segoe UI Light"/>
              </a:rPr>
              <a:t>01</a:t>
            </a:r>
          </a:p>
        </p:txBody>
      </p:sp>
      <p:sp>
        <p:nvSpPr>
          <p:cNvPr id="1002" name="HeroTag"/>
          <p:cNvSpPr/>
          <p:nvPr/>
        </p:nvSpPr>
        <p:spPr>
          <a:xfrm>
            <a:off x="3859322" y="2295124"/>
            <a:ext cx="1143000" cy="2794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lang="en-US" sz="1000" b="1" spc="400" dirty="0">
                <a:solidFill>
                  <a:srgbClr val="0D1117"/>
                </a:solidFill>
                <a:latin typeface="Segoe UI"/>
              </a:rPr>
              <a:t>THE CORE</a:t>
            </a:r>
          </a:p>
        </p:txBody>
      </p:sp>
      <p:sp>
        <p:nvSpPr>
          <p:cNvPr id="1003" name="HeroLabel"/>
          <p:cNvSpPr/>
          <p:nvPr/>
        </p:nvSpPr>
        <p:spPr>
          <a:xfrm>
            <a:off x="1052622" y="2930124"/>
            <a:ext cx="3962400" cy="635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4000" b="1" spc="200" dirty="0">
                <a:solidFill>
                  <a:srgbClr val="FFFFFF"/>
                </a:solidFill>
                <a:latin typeface="Segoe UI"/>
              </a:rPr>
              <a:t>Handson</a:t>
            </a:r>
          </a:p>
        </p:txBody>
      </p:sp>
      <p:sp>
        <p:nvSpPr>
          <p:cNvPr id="1004" name="HeroSub"/>
          <p:cNvSpPr/>
          <p:nvPr/>
        </p:nvSpPr>
        <p:spPr>
          <a:xfrm>
            <a:off x="1052622" y="3615924"/>
            <a:ext cx="3962400" cy="3556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ja-JP" altLang="en-US" sz="1500" b="0" dirty="0">
                <a:solidFill>
                  <a:srgbClr val="B0BEC5"/>
                </a:solidFill>
                <a:ea typeface="Yu Gothic UI"/>
              </a:rPr>
              <a:t>AI支援型開発時代の SE作業 体験</a:t>
            </a:r>
          </a:p>
        </p:txBody>
      </p:sp>
      <p:sp>
        <p:nvSpPr>
          <p:cNvPr id="1005" name="HeroDiv"/>
          <p:cNvSpPr/>
          <p:nvPr/>
        </p:nvSpPr>
        <p:spPr>
          <a:xfrm>
            <a:off x="1052622" y="4073124"/>
            <a:ext cx="762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06" name="HeroQuote"/>
          <p:cNvSpPr/>
          <p:nvPr/>
        </p:nvSpPr>
        <p:spPr>
          <a:xfrm>
            <a:off x="1052622" y="4276324"/>
            <a:ext cx="3962400" cy="1143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10</a:t>
            </a:r>
            <a:r>
              <a:rPr lang="ja-JP" altLang="en-US" sz="1500" b="0" dirty="0">
                <a:solidFill>
                  <a:srgbClr val="B0BEC5"/>
                </a:solidFill>
                <a:ea typeface="Yu Gothic UI"/>
              </a:rPr>
              <a:t>の理論より、</a:t>
            </a:r>
            <a:r>
              <a:rPr lang="en-US" sz="1800" b="1" dirty="0">
                <a:solidFill>
                  <a:srgbClr val="00D4FF"/>
                </a:solidFill>
                <a:latin typeface="Segoe UI"/>
              </a:rPr>
              <a:t>1</a:t>
            </a:r>
            <a:r>
              <a:rPr lang="ja-JP" altLang="en-US" sz="1500" b="0" dirty="0">
                <a:solidFill>
                  <a:srgbClr val="B0BEC5"/>
                </a:solidFill>
                <a:ea typeface="Yu Gothic UI"/>
              </a:rPr>
              <a:t>の </a:t>
            </a:r>
            <a:r>
              <a:rPr lang="ja-JP" altLang="en-US" sz="1800" b="1" dirty="0">
                <a:solidFill>
                  <a:srgbClr val="00D4FF"/>
                </a:solidFill>
                <a:latin typeface="Segoe UI"/>
              </a:rPr>
              <a:t>体験</a:t>
            </a:r>
            <a:r>
              <a:rPr lang="ja-JP" altLang="en-US" sz="1500" b="0" dirty="0">
                <a:solidFill>
                  <a:srgbClr val="B0BEC5"/>
                </a:solidFill>
                <a:ea typeface="Yu Gothic UI"/>
              </a:rPr>
              <a:t>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ja-JP" altLang="en-US" sz="1300" b="0" dirty="0">
                <a:solidFill>
                  <a:srgbClr val="FFFFFF"/>
                </a:solidFill>
                <a:ea typeface="Yu Gothic UI"/>
              </a:rPr>
              <a:t>触れて、動かして、掴む。</a:t>
            </a:r>
          </a:p>
        </p:txBody>
      </p:sp>
      <p:sp>
        <p:nvSpPr>
          <p:cNvPr id="1007" name="FlowLine"/>
          <p:cNvSpPr/>
          <p:nvPr/>
        </p:nvSpPr>
        <p:spPr>
          <a:xfrm>
            <a:off x="6257524" y="2591664"/>
            <a:ext cx="25400" cy="25908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4DFF"/>
              </a:gs>
            </a:gsLst>
            <a:lin ang="5400000" scaled="0"/>
          </a:gra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08" name="StepCircle0"/>
          <p:cNvSpPr/>
          <p:nvPr/>
        </p:nvSpPr>
        <p:spPr>
          <a:xfrm>
            <a:off x="6028924" y="2363064"/>
            <a:ext cx="482600" cy="48260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7C4D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7C4DFF"/>
                </a:solidFill>
                <a:latin typeface="Segoe UI"/>
              </a:rPr>
              <a:t>02</a:t>
            </a:r>
          </a:p>
        </p:txBody>
      </p:sp>
      <p:sp>
        <p:nvSpPr>
          <p:cNvPr id="1009" name="StepCard0"/>
          <p:cNvSpPr/>
          <p:nvPr/>
        </p:nvSpPr>
        <p:spPr>
          <a:xfrm>
            <a:off x="6689324" y="2134464"/>
            <a:ext cx="4318000" cy="990600"/>
          </a:xfrm>
          <a:prstGeom prst="roundRect">
            <a:avLst>
              <a:gd name="adj" fmla="val 5526"/>
            </a:avLst>
          </a:prstGeom>
          <a:solidFill>
            <a:srgbClr val="161B22"/>
          </a:solidFill>
          <a:ln w="6350">
            <a:solidFill>
              <a:srgbClr val="7C4DFF">
                <a:alpha val="50000"/>
              </a:srgbClr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10" name="StepBar0"/>
          <p:cNvSpPr/>
          <p:nvPr/>
        </p:nvSpPr>
        <p:spPr>
          <a:xfrm>
            <a:off x="6689324" y="2134464"/>
            <a:ext cx="50800" cy="9906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11" name="StepEn0"/>
          <p:cNvSpPr/>
          <p:nvPr/>
        </p:nvSpPr>
        <p:spPr>
          <a:xfrm>
            <a:off x="6892524" y="2261464"/>
            <a:ext cx="3937000" cy="3302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spc="100" dirty="0">
                <a:solidFill>
                  <a:srgbClr val="FFFFFF"/>
                </a:solidFill>
                <a:latin typeface="Segoe UI"/>
              </a:rPr>
              <a:t>Teaching</a:t>
            </a:r>
            <a:r>
              <a:rPr lang="en-US" sz="1000" b="1" spc="300" dirty="0">
                <a:solidFill>
                  <a:srgbClr val="7C4DFF"/>
                </a:solidFill>
                <a:latin typeface="Segoe UI"/>
              </a:rPr>
              <a:t>   STEP 01</a:t>
            </a:r>
          </a:p>
        </p:txBody>
      </p:sp>
      <p:sp>
        <p:nvSpPr>
          <p:cNvPr id="1012" name="StepJp0"/>
          <p:cNvSpPr/>
          <p:nvPr/>
        </p:nvSpPr>
        <p:spPr>
          <a:xfrm>
            <a:off x="6892524" y="2642464"/>
            <a:ext cx="3937000" cy="381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ja-JP" altLang="en-US" sz="1300" b="0" dirty="0">
                <a:solidFill>
                  <a:srgbClr val="B0BEC5"/>
                </a:solidFill>
                <a:ea typeface="Yu Gothic UI"/>
              </a:rPr>
              <a:t>AI活用Pjの近況・近未来をフィードバック</a:t>
            </a:r>
          </a:p>
        </p:txBody>
      </p:sp>
      <p:sp>
        <p:nvSpPr>
          <p:cNvPr id="1013" name="StepCircle1"/>
          <p:cNvSpPr/>
          <p:nvPr/>
        </p:nvSpPr>
        <p:spPr>
          <a:xfrm>
            <a:off x="6028924" y="3683864"/>
            <a:ext cx="482600" cy="48260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00E67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E676"/>
                </a:solidFill>
                <a:latin typeface="Segoe UI"/>
              </a:rPr>
              <a:t>03</a:t>
            </a:r>
          </a:p>
        </p:txBody>
      </p:sp>
      <p:sp>
        <p:nvSpPr>
          <p:cNvPr id="1014" name="StepCard1"/>
          <p:cNvSpPr/>
          <p:nvPr/>
        </p:nvSpPr>
        <p:spPr>
          <a:xfrm>
            <a:off x="6689324" y="3455264"/>
            <a:ext cx="4318000" cy="990600"/>
          </a:xfrm>
          <a:prstGeom prst="roundRect">
            <a:avLst>
              <a:gd name="adj" fmla="val 6322"/>
            </a:avLst>
          </a:prstGeom>
          <a:solidFill>
            <a:srgbClr val="161B22"/>
          </a:solidFill>
          <a:ln w="6350">
            <a:solidFill>
              <a:srgbClr val="00E676">
                <a:alpha val="50000"/>
              </a:srgbClr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15" name="StepBar1"/>
          <p:cNvSpPr/>
          <p:nvPr/>
        </p:nvSpPr>
        <p:spPr>
          <a:xfrm>
            <a:off x="6689324" y="3455264"/>
            <a:ext cx="50800" cy="9906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16" name="StepEn1"/>
          <p:cNvSpPr/>
          <p:nvPr/>
        </p:nvSpPr>
        <p:spPr>
          <a:xfrm>
            <a:off x="6892524" y="3582264"/>
            <a:ext cx="3937000" cy="3302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spc="100" dirty="0">
                <a:solidFill>
                  <a:srgbClr val="FFFFFF"/>
                </a:solidFill>
                <a:latin typeface="Segoe UI"/>
              </a:rPr>
              <a:t>Think</a:t>
            </a:r>
            <a:r>
              <a:rPr lang="en-US" sz="1000" b="1" spc="300" dirty="0">
                <a:solidFill>
                  <a:srgbClr val="00E676"/>
                </a:solidFill>
                <a:latin typeface="Segoe UI"/>
              </a:rPr>
              <a:t>   STEP 02</a:t>
            </a:r>
          </a:p>
        </p:txBody>
      </p:sp>
      <p:sp>
        <p:nvSpPr>
          <p:cNvPr id="1017" name="StepJp1"/>
          <p:cNvSpPr/>
          <p:nvPr/>
        </p:nvSpPr>
        <p:spPr>
          <a:xfrm>
            <a:off x="6892524" y="3963264"/>
            <a:ext cx="3937000" cy="381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ja-JP" altLang="en-US" sz="1300" b="0" dirty="0">
                <a:solidFill>
                  <a:srgbClr val="B0BEC5"/>
                </a:solidFill>
                <a:ea typeface="Yu Gothic UI"/>
              </a:rPr>
              <a:t>自Pj・関わるPjの変化を考察。ディスカッション</a:t>
            </a:r>
          </a:p>
        </p:txBody>
      </p:sp>
      <p:sp>
        <p:nvSpPr>
          <p:cNvPr id="1018" name="StepCircle2"/>
          <p:cNvSpPr/>
          <p:nvPr/>
        </p:nvSpPr>
        <p:spPr>
          <a:xfrm>
            <a:off x="6028924" y="5004664"/>
            <a:ext cx="482600" cy="48260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FF6E4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6E40"/>
                </a:solidFill>
                <a:latin typeface="Segoe UI"/>
              </a:rPr>
              <a:t>04</a:t>
            </a:r>
          </a:p>
        </p:txBody>
      </p:sp>
      <p:sp>
        <p:nvSpPr>
          <p:cNvPr id="1019" name="StepCard2"/>
          <p:cNvSpPr/>
          <p:nvPr/>
        </p:nvSpPr>
        <p:spPr>
          <a:xfrm>
            <a:off x="6689324" y="4776064"/>
            <a:ext cx="4318000" cy="990600"/>
          </a:xfrm>
          <a:prstGeom prst="roundRect">
            <a:avLst>
              <a:gd name="adj" fmla="val 7914"/>
            </a:avLst>
          </a:prstGeom>
          <a:solidFill>
            <a:srgbClr val="161B22"/>
          </a:solidFill>
          <a:ln w="6350">
            <a:solidFill>
              <a:srgbClr val="FF6E40">
                <a:alpha val="50000"/>
              </a:srgbClr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20" name="StepBar2"/>
          <p:cNvSpPr/>
          <p:nvPr/>
        </p:nvSpPr>
        <p:spPr>
          <a:xfrm>
            <a:off x="6689324" y="4776064"/>
            <a:ext cx="50800" cy="9906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021" name="StepEn2"/>
          <p:cNvSpPr/>
          <p:nvPr/>
        </p:nvSpPr>
        <p:spPr>
          <a:xfrm>
            <a:off x="6892524" y="4903064"/>
            <a:ext cx="3937000" cy="3302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spc="100" dirty="0">
                <a:solidFill>
                  <a:srgbClr val="FFFFFF"/>
                </a:solidFill>
                <a:latin typeface="Segoe UI"/>
              </a:rPr>
              <a:t>Feedback</a:t>
            </a:r>
            <a:r>
              <a:rPr lang="en-US" sz="1000" b="1" spc="300" dirty="0">
                <a:solidFill>
                  <a:srgbClr val="FF6E40"/>
                </a:solidFill>
                <a:latin typeface="Segoe UI"/>
              </a:rPr>
              <a:t>   STEP 03</a:t>
            </a:r>
          </a:p>
        </p:txBody>
      </p:sp>
      <p:sp>
        <p:nvSpPr>
          <p:cNvPr id="1022" name="StepJp2"/>
          <p:cNvSpPr/>
          <p:nvPr/>
        </p:nvSpPr>
        <p:spPr>
          <a:xfrm>
            <a:off x="6892524" y="5284064"/>
            <a:ext cx="3937000" cy="381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ja-JP" altLang="en-US" sz="1300" b="0" dirty="0">
                <a:solidFill>
                  <a:srgbClr val="B0BEC5"/>
                </a:solidFill>
                <a:ea typeface="Yu Gothic UI"/>
              </a:rPr>
              <a:t>自分・部隊の成長戦略へ還元</a:t>
            </a:r>
          </a:p>
        </p:txBody>
      </p:sp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18462C54-EDEC-1D51-B02E-BB588CD85061}"/>
              </a:ext>
            </a:extLst>
          </p:cNvPr>
          <p:cNvSpPr/>
          <p:nvPr/>
        </p:nvSpPr>
        <p:spPr>
          <a:xfrm rot="5400000">
            <a:off x="5524499" y="3904419"/>
            <a:ext cx="364911" cy="16849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HeroLabel">
            <a:extLst>
              <a:ext uri="{FF2B5EF4-FFF2-40B4-BE49-F238E27FC236}">
                <a16:creationId xmlns:a16="http://schemas.microsoft.com/office/drawing/2014/main" id="{ED542E7C-8676-76F4-F648-290DBCFABBCD}"/>
              </a:ext>
            </a:extLst>
          </p:cNvPr>
          <p:cNvSpPr/>
          <p:nvPr/>
        </p:nvSpPr>
        <p:spPr>
          <a:xfrm>
            <a:off x="4399128" y="5516794"/>
            <a:ext cx="1098494" cy="4146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500" b="1" spc="200" dirty="0">
                <a:solidFill>
                  <a:srgbClr val="FFFFFF"/>
                </a:solidFill>
                <a:latin typeface="Segoe UI"/>
              </a:rPr>
              <a:t>80%</a:t>
            </a:r>
          </a:p>
        </p:txBody>
      </p:sp>
      <p:sp>
        <p:nvSpPr>
          <p:cNvPr id="9" name="HeroLabel">
            <a:extLst>
              <a:ext uri="{FF2B5EF4-FFF2-40B4-BE49-F238E27FC236}">
                <a16:creationId xmlns:a16="http://schemas.microsoft.com/office/drawing/2014/main" id="{E59AE44E-5D29-5F6C-8DC0-D42DB250DDAC}"/>
              </a:ext>
            </a:extLst>
          </p:cNvPr>
          <p:cNvSpPr/>
          <p:nvPr/>
        </p:nvSpPr>
        <p:spPr>
          <a:xfrm>
            <a:off x="10546977" y="2875504"/>
            <a:ext cx="1098494" cy="4146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spc="200" dirty="0">
                <a:solidFill>
                  <a:srgbClr val="FFFFFF"/>
                </a:solidFill>
                <a:latin typeface="Segoe UI"/>
              </a:rPr>
              <a:t>5%</a:t>
            </a:r>
          </a:p>
        </p:txBody>
      </p:sp>
      <p:sp>
        <p:nvSpPr>
          <p:cNvPr id="11" name="HeroLabel">
            <a:extLst>
              <a:ext uri="{FF2B5EF4-FFF2-40B4-BE49-F238E27FC236}">
                <a16:creationId xmlns:a16="http://schemas.microsoft.com/office/drawing/2014/main" id="{B0B016AB-2161-F645-A603-9855E4121684}"/>
              </a:ext>
            </a:extLst>
          </p:cNvPr>
          <p:cNvSpPr/>
          <p:nvPr/>
        </p:nvSpPr>
        <p:spPr>
          <a:xfrm>
            <a:off x="10546977" y="4196304"/>
            <a:ext cx="1098494" cy="4146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spc="200" dirty="0">
                <a:solidFill>
                  <a:srgbClr val="FFFFFF"/>
                </a:solidFill>
                <a:latin typeface="Segoe UI"/>
              </a:rPr>
              <a:t>10%</a:t>
            </a:r>
          </a:p>
        </p:txBody>
      </p:sp>
      <p:sp>
        <p:nvSpPr>
          <p:cNvPr id="12" name="HeroLabel">
            <a:extLst>
              <a:ext uri="{FF2B5EF4-FFF2-40B4-BE49-F238E27FC236}">
                <a16:creationId xmlns:a16="http://schemas.microsoft.com/office/drawing/2014/main" id="{24B37913-9B57-3CA1-1227-B07568DF09A8}"/>
              </a:ext>
            </a:extLst>
          </p:cNvPr>
          <p:cNvSpPr/>
          <p:nvPr/>
        </p:nvSpPr>
        <p:spPr>
          <a:xfrm>
            <a:off x="10546977" y="5536410"/>
            <a:ext cx="1098494" cy="4146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spc="200" dirty="0">
                <a:solidFill>
                  <a:srgbClr val="FFFFFF"/>
                </a:solidFill>
                <a:latin typeface="Segoe UI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196637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101"/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102"/>
          <p:cNvSpPr>
            <a:spLocks noGrp="1"/>
          </p:cNvSpPr>
          <p:nvPr/>
        </p:nvSpPr>
        <p:spPr>
          <a:xfrm>
            <a:off x="254000" y="127000"/>
            <a:ext cx="38100" cy="431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103"/>
          <p:cNvSpPr txBox="1">
            <a:spLocks noGrp="1"/>
          </p:cNvSpPr>
          <p:nvPr/>
        </p:nvSpPr>
        <p:spPr>
          <a:xfrm>
            <a:off x="355600" y="152400"/>
            <a:ext cx="596902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2600" dirty="0">
                <a:solidFill>
                  <a:srgbClr val="80EAFF"/>
                </a:solidFill>
                <a:latin typeface="Segoe UI"/>
                <a:ea typeface="Yu Gothic UI"/>
              </a:rPr>
              <a:t>01</a:t>
            </a:r>
          </a:p>
        </p:txBody>
      </p:sp>
      <p:sp>
        <p:nvSpPr>
          <p:cNvPr id="104" name="t104"/>
          <p:cNvSpPr txBox="1">
            <a:spLocks noGrp="1"/>
          </p:cNvSpPr>
          <p:nvPr/>
        </p:nvSpPr>
        <p:spPr>
          <a:xfrm>
            <a:off x="914400" y="1651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sz="2200" dirty="0">
                <a:solidFill>
                  <a:srgbClr val="FFFFFF"/>
                </a:solidFill>
                <a:latin typeface="Segoe UI"/>
                <a:ea typeface="Yu Gothic UI"/>
              </a:rPr>
              <a:t>カリキュラム概要｜午前の部</a:t>
            </a:r>
          </a:p>
        </p:txBody>
      </p:sp>
      <p:sp>
        <p:nvSpPr>
          <p:cNvPr id="105" name="s105"/>
          <p:cNvSpPr>
            <a:spLocks noGrp="1"/>
          </p:cNvSpPr>
          <p:nvPr/>
        </p:nvSpPr>
        <p:spPr>
          <a:xfrm>
            <a:off x="914400" y="558800"/>
            <a:ext cx="22860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106"/>
          <p:cNvSpPr>
            <a:spLocks noGrp="1"/>
          </p:cNvSpPr>
          <p:nvPr/>
        </p:nvSpPr>
        <p:spPr>
          <a:xfrm>
            <a:off x="9677400" y="139700"/>
            <a:ext cx="2260600" cy="355600"/>
          </a:xfrm>
          <a:prstGeom prst="roundRect">
            <a:avLst>
              <a:gd name="adj" fmla="val 2500"/>
            </a:avLst>
          </a:prstGeom>
          <a:solidFill>
            <a:srgbClr val="0A1822"/>
          </a:solidFill>
          <a:ln w="9525">
            <a:solidFill>
              <a:srgbClr val="00D4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 txBox="1">
            <a:spLocks noGrp="1"/>
          </p:cNvSpPr>
          <p:nvPr/>
        </p:nvSpPr>
        <p:spPr>
          <a:xfrm>
            <a:off x="9677400" y="139700"/>
            <a:ext cx="22606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400" b="1" dirty="0">
                <a:solidFill>
                  <a:srgbClr val="00D4FF"/>
                </a:solidFill>
                <a:latin typeface="Segoe UI"/>
                <a:ea typeface="Yu Gothic UI"/>
              </a:rPr>
              <a:t>9:00 – 12:30</a:t>
            </a:r>
          </a:p>
        </p:txBody>
      </p:sp>
      <p:sp>
        <p:nvSpPr>
          <p:cNvPr id="118" name="s118"/>
          <p:cNvSpPr>
            <a:spLocks noGrp="1"/>
          </p:cNvSpPr>
          <p:nvPr/>
        </p:nvSpPr>
        <p:spPr>
          <a:xfrm>
            <a:off x="844275" y="771938"/>
            <a:ext cx="2273300" cy="2840936"/>
          </a:xfrm>
          <a:prstGeom prst="roundRect">
            <a:avLst>
              <a:gd name="adj" fmla="val 2500"/>
            </a:avLst>
          </a:prstGeom>
          <a:solidFill>
            <a:srgbClr val="0A1620"/>
          </a:solidFill>
          <a:ln w="9525">
            <a:solidFill>
              <a:srgbClr val="00D4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119"/>
          <p:cNvSpPr>
            <a:spLocks noGrp="1"/>
          </p:cNvSpPr>
          <p:nvPr/>
        </p:nvSpPr>
        <p:spPr>
          <a:xfrm>
            <a:off x="844275" y="771939"/>
            <a:ext cx="2273300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120"/>
          <p:cNvSpPr>
            <a:spLocks noGrp="1"/>
          </p:cNvSpPr>
          <p:nvPr/>
        </p:nvSpPr>
        <p:spPr>
          <a:xfrm>
            <a:off x="933175" y="911639"/>
            <a:ext cx="635000" cy="254000"/>
          </a:xfrm>
          <a:prstGeom prst="roundRect">
            <a:avLst>
              <a:gd name="adj" fmla="val 2000"/>
            </a:avLst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t121"/>
          <p:cNvSpPr txBox="1">
            <a:spLocks noGrp="1"/>
          </p:cNvSpPr>
          <p:nvPr/>
        </p:nvSpPr>
        <p:spPr>
          <a:xfrm>
            <a:off x="933175" y="911639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0A1017"/>
                </a:solidFill>
                <a:latin typeface="Segoe UI"/>
                <a:ea typeface="Yu Gothic UI"/>
              </a:rPr>
              <a:t>1ST</a:t>
            </a:r>
          </a:p>
        </p:txBody>
      </p:sp>
      <p:sp>
        <p:nvSpPr>
          <p:cNvPr id="122" name="t122"/>
          <p:cNvSpPr txBox="1">
            <a:spLocks noGrp="1"/>
          </p:cNvSpPr>
          <p:nvPr/>
        </p:nvSpPr>
        <p:spPr>
          <a:xfrm>
            <a:off x="933175" y="1229139"/>
            <a:ext cx="20955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700" b="1" dirty="0">
                <a:solidFill>
                  <a:srgbClr val="00D4FF"/>
                </a:solidFill>
                <a:latin typeface="Segoe UI"/>
                <a:ea typeface="Yu Gothic UI"/>
              </a:rPr>
              <a:t>1st step</a:t>
            </a:r>
          </a:p>
        </p:txBody>
      </p:sp>
      <p:sp>
        <p:nvSpPr>
          <p:cNvPr id="123" name="t123"/>
          <p:cNvSpPr txBox="1">
            <a:spLocks noGrp="1"/>
          </p:cNvSpPr>
          <p:nvPr/>
        </p:nvSpPr>
        <p:spPr>
          <a:xfrm>
            <a:off x="933175" y="1610139"/>
            <a:ext cx="20955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200" dirty="0">
                <a:solidFill>
                  <a:srgbClr val="D8D8D8"/>
                </a:solidFill>
                <a:latin typeface="Segoe UI"/>
                <a:ea typeface="Yu Gothic UI"/>
              </a:rPr>
              <a:t>9:30–10:00</a:t>
            </a:r>
          </a:p>
        </p:txBody>
      </p:sp>
      <p:sp>
        <p:nvSpPr>
          <p:cNvPr id="124" name="s124"/>
          <p:cNvSpPr>
            <a:spLocks noGrp="1"/>
          </p:cNvSpPr>
          <p:nvPr/>
        </p:nvSpPr>
        <p:spPr>
          <a:xfrm>
            <a:off x="933175" y="1889539"/>
            <a:ext cx="2095500" cy="254000"/>
          </a:xfrm>
          <a:prstGeom prst="roundRect">
            <a:avLst>
              <a:gd name="adj" fmla="val 2500"/>
            </a:avLst>
          </a:prstGeom>
          <a:solidFill>
            <a:srgbClr val="06181F"/>
          </a:solidFill>
          <a:ln w="9525">
            <a:solidFill>
              <a:srgbClr val="00D4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125"/>
          <p:cNvSpPr txBox="1">
            <a:spLocks noGrp="1"/>
          </p:cNvSpPr>
          <p:nvPr/>
        </p:nvSpPr>
        <p:spPr>
          <a:xfrm>
            <a:off x="933175" y="1889539"/>
            <a:ext cx="20955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00D4FF"/>
                </a:solidFill>
                <a:latin typeface="Segoe UI"/>
                <a:ea typeface="Yu Gothic UI"/>
              </a:rPr>
              <a:t>30 min</a:t>
            </a:r>
          </a:p>
        </p:txBody>
      </p:sp>
      <p:sp>
        <p:nvSpPr>
          <p:cNvPr id="126" name="s126"/>
          <p:cNvSpPr>
            <a:spLocks noGrp="1"/>
          </p:cNvSpPr>
          <p:nvPr/>
        </p:nvSpPr>
        <p:spPr>
          <a:xfrm>
            <a:off x="933175" y="2219739"/>
            <a:ext cx="2095500" cy="1270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127"/>
          <p:cNvSpPr txBox="1">
            <a:spLocks noGrp="1"/>
          </p:cNvSpPr>
          <p:nvPr/>
        </p:nvSpPr>
        <p:spPr>
          <a:xfrm>
            <a:off x="933175" y="2003839"/>
            <a:ext cx="2095500" cy="163885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ts val="20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00D4FF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環境確認</a:t>
            </a:r>
          </a:p>
          <a:p>
            <a:pPr>
              <a:lnSpc>
                <a:spcPts val="20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00D4FF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Codespaces利用方法</a:t>
            </a:r>
            <a:endParaRPr lang="en-US" altLang="ja-JP" sz="1200" dirty="0">
              <a:solidFill>
                <a:srgbClr val="CFD8DC"/>
              </a:solidFill>
              <a:latin typeface="Segoe UI"/>
              <a:ea typeface="Yu Gothic UI"/>
            </a:endParaRPr>
          </a:p>
          <a:p>
            <a:pPr>
              <a:lnSpc>
                <a:spcPts val="2000"/>
              </a:lnSpc>
              <a:spcBef>
                <a:spcPts val="200"/>
              </a:spcBef>
            </a:pPr>
            <a:r>
              <a:rPr lang="ja-JP" altLang="en-US" sz="1200" dirty="0">
                <a:solidFill>
                  <a:srgbClr val="00D4FF"/>
                </a:solidFill>
                <a:ea typeface="Yu Gothic UI"/>
              </a:rPr>
              <a:t>▸ </a:t>
            </a:r>
            <a:r>
              <a:rPr lang="ja-JP" altLang="en-US" sz="1200" dirty="0">
                <a:solidFill>
                  <a:srgbClr val="D0D8E0"/>
                </a:solidFill>
                <a:ea typeface="Yu Gothic UI"/>
              </a:rPr>
              <a:t>Server 起動</a:t>
            </a:r>
            <a:endParaRPr lang="en-US" altLang="ja-JP" sz="1200" dirty="0">
              <a:solidFill>
                <a:srgbClr val="CFD8DC"/>
              </a:solidFill>
              <a:ea typeface="Yu Gothic UI"/>
            </a:endParaRPr>
          </a:p>
          <a:p>
            <a:pPr>
              <a:lnSpc>
                <a:spcPts val="2000"/>
              </a:lnSpc>
              <a:spcBef>
                <a:spcPts val="200"/>
              </a:spcBef>
            </a:pPr>
            <a:r>
              <a:rPr lang="ja-JP" altLang="en-US" sz="1200" dirty="0">
                <a:solidFill>
                  <a:srgbClr val="00D4FF"/>
                </a:solidFill>
                <a:ea typeface="Yu Gothic UI"/>
              </a:rPr>
              <a:t>▸</a:t>
            </a:r>
            <a:r>
              <a:rPr lang="ja-JP" altLang="en-US" sz="1200" dirty="0">
                <a:solidFill>
                  <a:srgbClr val="D0D8E0"/>
                </a:solidFill>
                <a:ea typeface="Yu Gothic UI"/>
              </a:rPr>
              <a:t>サンプルページ確認</a:t>
            </a:r>
            <a:endParaRPr lang="en-US" altLang="ja-JP" sz="1200" dirty="0">
              <a:solidFill>
                <a:srgbClr val="CFD8DC"/>
              </a:solidFill>
              <a:ea typeface="Yu Gothic UI"/>
            </a:endParaRPr>
          </a:p>
        </p:txBody>
      </p:sp>
      <p:sp>
        <p:nvSpPr>
          <p:cNvPr id="128" name="s128"/>
          <p:cNvSpPr>
            <a:spLocks noGrp="1"/>
          </p:cNvSpPr>
          <p:nvPr/>
        </p:nvSpPr>
        <p:spPr>
          <a:xfrm>
            <a:off x="863602" y="3684104"/>
            <a:ext cx="2273300" cy="2913271"/>
          </a:xfrm>
          <a:prstGeom prst="roundRect">
            <a:avLst>
              <a:gd name="adj" fmla="val 2500"/>
            </a:avLst>
          </a:prstGeom>
          <a:solidFill>
            <a:srgbClr val="0A1620"/>
          </a:solidFill>
          <a:ln w="9525">
            <a:solidFill>
              <a:srgbClr val="7C4D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s129"/>
          <p:cNvSpPr>
            <a:spLocks noGrp="1"/>
          </p:cNvSpPr>
          <p:nvPr/>
        </p:nvSpPr>
        <p:spPr>
          <a:xfrm>
            <a:off x="863602" y="3684104"/>
            <a:ext cx="2273300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s130"/>
          <p:cNvSpPr>
            <a:spLocks noGrp="1"/>
          </p:cNvSpPr>
          <p:nvPr/>
        </p:nvSpPr>
        <p:spPr>
          <a:xfrm>
            <a:off x="952502" y="3823804"/>
            <a:ext cx="635000" cy="254000"/>
          </a:xfrm>
          <a:prstGeom prst="roundRect">
            <a:avLst>
              <a:gd name="adj" fmla="val 2000"/>
            </a:avLst>
          </a:prstGeom>
          <a:solidFill>
            <a:srgbClr val="7C4D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131"/>
          <p:cNvSpPr txBox="1">
            <a:spLocks noGrp="1"/>
          </p:cNvSpPr>
          <p:nvPr/>
        </p:nvSpPr>
        <p:spPr>
          <a:xfrm>
            <a:off x="952502" y="3823804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0A1017"/>
                </a:solidFill>
                <a:latin typeface="Segoe UI"/>
                <a:ea typeface="Yu Gothic UI"/>
              </a:rPr>
              <a:t>2ND</a:t>
            </a:r>
          </a:p>
        </p:txBody>
      </p:sp>
      <p:sp>
        <p:nvSpPr>
          <p:cNvPr id="132" name="t132"/>
          <p:cNvSpPr txBox="1">
            <a:spLocks noGrp="1"/>
          </p:cNvSpPr>
          <p:nvPr/>
        </p:nvSpPr>
        <p:spPr>
          <a:xfrm>
            <a:off x="952502" y="4141304"/>
            <a:ext cx="20955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700" b="1" dirty="0">
                <a:solidFill>
                  <a:srgbClr val="7C4DFF"/>
                </a:solidFill>
                <a:latin typeface="Segoe UI"/>
                <a:ea typeface="Yu Gothic UI"/>
              </a:rPr>
              <a:t>2nd step</a:t>
            </a:r>
          </a:p>
        </p:txBody>
      </p:sp>
      <p:sp>
        <p:nvSpPr>
          <p:cNvPr id="133" name="t133"/>
          <p:cNvSpPr txBox="1">
            <a:spLocks noGrp="1"/>
          </p:cNvSpPr>
          <p:nvPr/>
        </p:nvSpPr>
        <p:spPr>
          <a:xfrm>
            <a:off x="952502" y="4522304"/>
            <a:ext cx="20955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200" dirty="0">
                <a:solidFill>
                  <a:srgbClr val="D8D8D8"/>
                </a:solidFill>
                <a:latin typeface="Segoe UI"/>
                <a:ea typeface="Yu Gothic UI"/>
              </a:rPr>
              <a:t>10:00–10:30</a:t>
            </a:r>
          </a:p>
        </p:txBody>
      </p:sp>
      <p:sp>
        <p:nvSpPr>
          <p:cNvPr id="134" name="s134"/>
          <p:cNvSpPr>
            <a:spLocks noGrp="1"/>
          </p:cNvSpPr>
          <p:nvPr/>
        </p:nvSpPr>
        <p:spPr>
          <a:xfrm>
            <a:off x="952502" y="4801704"/>
            <a:ext cx="2095500" cy="254000"/>
          </a:xfrm>
          <a:prstGeom prst="roundRect">
            <a:avLst>
              <a:gd name="adj" fmla="val 2500"/>
            </a:avLst>
          </a:prstGeom>
          <a:solidFill>
            <a:srgbClr val="0F0A20"/>
          </a:solidFill>
          <a:ln w="9525">
            <a:solidFill>
              <a:srgbClr val="7C4D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t135"/>
          <p:cNvSpPr txBox="1">
            <a:spLocks noGrp="1"/>
          </p:cNvSpPr>
          <p:nvPr/>
        </p:nvSpPr>
        <p:spPr>
          <a:xfrm>
            <a:off x="952502" y="4801704"/>
            <a:ext cx="20955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7C4DFF"/>
                </a:solidFill>
                <a:latin typeface="Segoe UI"/>
                <a:ea typeface="Yu Gothic UI"/>
              </a:rPr>
              <a:t>30 min</a:t>
            </a:r>
          </a:p>
        </p:txBody>
      </p:sp>
      <p:sp>
        <p:nvSpPr>
          <p:cNvPr id="136" name="s136"/>
          <p:cNvSpPr>
            <a:spLocks noGrp="1"/>
          </p:cNvSpPr>
          <p:nvPr/>
        </p:nvSpPr>
        <p:spPr>
          <a:xfrm>
            <a:off x="952502" y="5131904"/>
            <a:ext cx="2095500" cy="1270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137"/>
          <p:cNvSpPr txBox="1">
            <a:spLocks noGrp="1"/>
          </p:cNvSpPr>
          <p:nvPr/>
        </p:nvSpPr>
        <p:spPr>
          <a:xfrm>
            <a:off x="952502" y="5208104"/>
            <a:ext cx="2095500" cy="142737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ts val="2800"/>
              </a:lnSpc>
            </a:pPr>
            <a:r>
              <a:rPr lang="ja-JP" altLang="en-US" sz="1200" dirty="0">
                <a:solidFill>
                  <a:srgbClr val="7C4DFF"/>
                </a:solidFill>
                <a:ea typeface="Yu Gothic UI"/>
              </a:rPr>
              <a:t>▸ </a:t>
            </a:r>
            <a:r>
              <a:rPr lang="ja-JP" altLang="en-US" sz="1200" dirty="0">
                <a:solidFill>
                  <a:srgbClr val="D0D8E0"/>
                </a:solidFill>
                <a:ea typeface="Yu Gothic UI"/>
              </a:rPr>
              <a:t>システムの説明</a:t>
            </a:r>
            <a:endParaRPr lang="en-US" altLang="ja-JP" sz="1200" dirty="0">
              <a:solidFill>
                <a:srgbClr val="D0D8E0"/>
              </a:solidFill>
              <a:ea typeface="Yu Gothic UI"/>
            </a:endParaRPr>
          </a:p>
          <a:p>
            <a:pPr>
              <a:lnSpc>
                <a:spcPts val="2800"/>
              </a:lnSpc>
            </a:pPr>
            <a:r>
              <a:rPr lang="ja-JP" altLang="en-US" sz="1200" dirty="0">
                <a:solidFill>
                  <a:srgbClr val="7C4DFF"/>
                </a:solidFill>
                <a:ea typeface="Yu Gothic UI"/>
              </a:rPr>
              <a:t>▸ </a:t>
            </a:r>
            <a:r>
              <a:rPr lang="ja-JP" altLang="en-US" sz="1200" dirty="0">
                <a:solidFill>
                  <a:srgbClr val="D0D8E0"/>
                </a:solidFill>
                <a:ea typeface="Yu Gothic UI"/>
              </a:rPr>
              <a:t>設計書の説明</a:t>
            </a:r>
            <a:endParaRPr lang="en-US" altLang="ja-JP" sz="1200" dirty="0">
              <a:solidFill>
                <a:srgbClr val="D0D8E0"/>
              </a:solidFill>
              <a:ea typeface="Yu Gothic UI"/>
            </a:endParaRPr>
          </a:p>
          <a:p>
            <a:pPr>
              <a:lnSpc>
                <a:spcPts val="2800"/>
              </a:lnSpc>
            </a:pPr>
            <a:r>
              <a:rPr lang="ja-JP" altLang="en-US" sz="1200" dirty="0">
                <a:solidFill>
                  <a:srgbClr val="7C4DFF"/>
                </a:solidFill>
                <a:ea typeface="Yu Gothic UI"/>
              </a:rPr>
              <a:t>▸ </a:t>
            </a:r>
            <a:r>
              <a:rPr lang="ja-JP" altLang="en-US" sz="1200" dirty="0">
                <a:solidFill>
                  <a:srgbClr val="D0D8E0"/>
                </a:solidFill>
                <a:ea typeface="Yu Gothic UI"/>
              </a:rPr>
              <a:t>プロンプトの説明</a:t>
            </a:r>
            <a:endParaRPr lang="en-US" altLang="ja-JP" sz="1200" dirty="0">
              <a:solidFill>
                <a:srgbClr val="D0D8E0"/>
              </a:solidFill>
              <a:ea typeface="Yu Gothic UI"/>
            </a:endParaRP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endParaRPr lang="ja-JP" altLang="en-US" sz="1200" dirty="0">
              <a:solidFill>
                <a:srgbClr val="D0D8E0"/>
              </a:solidFill>
              <a:latin typeface="Segoe UI"/>
              <a:ea typeface="Yu Gothic UI"/>
            </a:endParaRPr>
          </a:p>
        </p:txBody>
      </p:sp>
      <p:sp>
        <p:nvSpPr>
          <p:cNvPr id="148" name="s148"/>
          <p:cNvSpPr>
            <a:spLocks noGrp="1"/>
          </p:cNvSpPr>
          <p:nvPr/>
        </p:nvSpPr>
        <p:spPr>
          <a:xfrm>
            <a:off x="3496462" y="857121"/>
            <a:ext cx="6858000" cy="5537200"/>
          </a:xfrm>
          <a:prstGeom prst="roundRect">
            <a:avLst>
              <a:gd name="adj" fmla="val 2500"/>
            </a:avLst>
          </a:prstGeom>
          <a:solidFill>
            <a:srgbClr val="161E0A"/>
          </a:solidFill>
          <a:ln w="9525">
            <a:solidFill>
              <a:srgbClr val="FF6E4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9" name="s149"/>
          <p:cNvSpPr>
            <a:spLocks noGrp="1"/>
          </p:cNvSpPr>
          <p:nvPr/>
        </p:nvSpPr>
        <p:spPr>
          <a:xfrm>
            <a:off x="3496462" y="825371"/>
            <a:ext cx="6858000" cy="1397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s150"/>
          <p:cNvSpPr>
            <a:spLocks noGrp="1"/>
          </p:cNvSpPr>
          <p:nvPr/>
        </p:nvSpPr>
        <p:spPr>
          <a:xfrm>
            <a:off x="3687514" y="1111121"/>
            <a:ext cx="635000" cy="254000"/>
          </a:xfrm>
          <a:prstGeom prst="roundRect">
            <a:avLst>
              <a:gd name="adj" fmla="val 2000"/>
            </a:avLst>
          </a:prstGeom>
          <a:solidFill>
            <a:srgbClr val="FF6E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151"/>
          <p:cNvSpPr txBox="1">
            <a:spLocks noGrp="1"/>
          </p:cNvSpPr>
          <p:nvPr/>
        </p:nvSpPr>
        <p:spPr>
          <a:xfrm>
            <a:off x="3687514" y="1111121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0A1017"/>
                </a:solidFill>
                <a:latin typeface="Segoe UI"/>
                <a:ea typeface="Yu Gothic UI"/>
              </a:rPr>
              <a:t>3TH</a:t>
            </a:r>
          </a:p>
        </p:txBody>
      </p:sp>
      <p:sp>
        <p:nvSpPr>
          <p:cNvPr id="152" name="s152"/>
          <p:cNvSpPr>
            <a:spLocks noGrp="1"/>
          </p:cNvSpPr>
          <p:nvPr/>
        </p:nvSpPr>
        <p:spPr>
          <a:xfrm>
            <a:off x="9668662" y="1104217"/>
            <a:ext cx="596900" cy="254000"/>
          </a:xfrm>
          <a:prstGeom prst="roundRect">
            <a:avLst>
              <a:gd name="adj" fmla="val 2000"/>
            </a:avLst>
          </a:prstGeom>
          <a:solidFill>
            <a:srgbClr val="CC55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153"/>
          <p:cNvSpPr txBox="1">
            <a:spLocks noGrp="1"/>
          </p:cNvSpPr>
          <p:nvPr/>
        </p:nvSpPr>
        <p:spPr>
          <a:xfrm>
            <a:off x="9668662" y="1104217"/>
            <a:ext cx="5969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900" b="1" dirty="0">
                <a:solidFill>
                  <a:srgbClr val="FFFFFF"/>
                </a:solidFill>
                <a:latin typeface="Segoe UI"/>
                <a:ea typeface="Yu Gothic UI"/>
              </a:rPr>
              <a:t>MAIN</a:t>
            </a:r>
          </a:p>
        </p:txBody>
      </p:sp>
      <p:sp>
        <p:nvSpPr>
          <p:cNvPr id="154" name="t154"/>
          <p:cNvSpPr txBox="1">
            <a:spLocks noGrp="1"/>
          </p:cNvSpPr>
          <p:nvPr/>
        </p:nvSpPr>
        <p:spPr>
          <a:xfrm>
            <a:off x="3846540" y="1441321"/>
            <a:ext cx="20955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700" b="1" dirty="0">
                <a:solidFill>
                  <a:srgbClr val="FF6E40"/>
                </a:solidFill>
                <a:latin typeface="Segoe UI"/>
                <a:ea typeface="Yu Gothic UI"/>
              </a:rPr>
              <a:t>3th step</a:t>
            </a:r>
          </a:p>
        </p:txBody>
      </p:sp>
      <p:sp>
        <p:nvSpPr>
          <p:cNvPr id="155" name="t155"/>
          <p:cNvSpPr txBox="1">
            <a:spLocks noGrp="1"/>
          </p:cNvSpPr>
          <p:nvPr/>
        </p:nvSpPr>
        <p:spPr>
          <a:xfrm>
            <a:off x="4894290" y="1492121"/>
            <a:ext cx="20955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200" dirty="0">
                <a:solidFill>
                  <a:srgbClr val="D8D8D8"/>
                </a:solidFill>
                <a:latin typeface="Segoe UI"/>
                <a:ea typeface="Yu Gothic UI"/>
              </a:rPr>
              <a:t>10:30–12:30</a:t>
            </a:r>
          </a:p>
        </p:txBody>
      </p:sp>
      <p:sp>
        <p:nvSpPr>
          <p:cNvPr id="156" name="s156"/>
          <p:cNvSpPr>
            <a:spLocks noGrp="1"/>
          </p:cNvSpPr>
          <p:nvPr/>
        </p:nvSpPr>
        <p:spPr>
          <a:xfrm>
            <a:off x="5942040" y="1481353"/>
            <a:ext cx="1047750" cy="254000"/>
          </a:xfrm>
          <a:prstGeom prst="roundRect">
            <a:avLst>
              <a:gd name="adj" fmla="val 2500"/>
            </a:avLst>
          </a:prstGeom>
          <a:solidFill>
            <a:srgbClr val="1E0A06"/>
          </a:solidFill>
          <a:ln w="9525">
            <a:solidFill>
              <a:srgbClr val="FF6E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7" name="t157"/>
          <p:cNvSpPr txBox="1">
            <a:spLocks noGrp="1"/>
          </p:cNvSpPr>
          <p:nvPr/>
        </p:nvSpPr>
        <p:spPr>
          <a:xfrm>
            <a:off x="5838088" y="1481353"/>
            <a:ext cx="1241823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FF6E40"/>
                </a:solidFill>
                <a:latin typeface="Segoe UI"/>
                <a:ea typeface="Yu Gothic UI"/>
              </a:rPr>
              <a:t>2 h</a:t>
            </a:r>
          </a:p>
        </p:txBody>
      </p:sp>
      <p:sp>
        <p:nvSpPr>
          <p:cNvPr id="159" name="t159"/>
          <p:cNvSpPr txBox="1">
            <a:spLocks noGrp="1"/>
          </p:cNvSpPr>
          <p:nvPr/>
        </p:nvSpPr>
        <p:spPr>
          <a:xfrm>
            <a:off x="3903907" y="1843786"/>
            <a:ext cx="4334746" cy="184031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ja-JP" altLang="en-US" sz="1600" b="1" dirty="0">
                <a:solidFill>
                  <a:srgbClr val="FF6E40"/>
                </a:solidFill>
                <a:ea typeface="Yu Gothic UI"/>
              </a:rPr>
              <a:t>実行準備</a:t>
            </a:r>
            <a:endParaRPr lang="en-US" altLang="ja-JP" sz="1600" b="1" dirty="0">
              <a:solidFill>
                <a:srgbClr val="FF6E40"/>
              </a:solidFill>
              <a:ea typeface="Yu Gothic UI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ja-JP" altLang="en-US" sz="1600" dirty="0">
                <a:solidFill>
                  <a:srgbClr val="FF6E40"/>
                </a:solidFill>
                <a:ea typeface="Yu Gothic UI"/>
              </a:rPr>
              <a:t>▸ 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コーディング作業の流れの説明</a:t>
            </a:r>
            <a:endParaRPr lang="en-US" altLang="ja-JP" sz="1600" dirty="0">
              <a:solidFill>
                <a:srgbClr val="FF6E40"/>
              </a:solidFill>
              <a:ea typeface="Yu Gothic UI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ja-JP" altLang="en-US" sz="1600" dirty="0">
                <a:solidFill>
                  <a:srgbClr val="FF6E40"/>
                </a:solidFill>
                <a:ea typeface="Yu Gothic UI"/>
              </a:rPr>
              <a:t>▸ 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コーディングプロンプトの説明</a:t>
            </a:r>
            <a:endParaRPr lang="en-US" altLang="ja-JP" sz="1600" dirty="0">
              <a:solidFill>
                <a:srgbClr val="FF6E40"/>
              </a:solidFill>
              <a:latin typeface="Segoe UI"/>
              <a:ea typeface="Yu Gothic UI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buNone/>
            </a:pPr>
            <a:r>
              <a:rPr lang="ja-JP" altLang="en-US" sz="1600" dirty="0">
                <a:solidFill>
                  <a:srgbClr val="FF6E40"/>
                </a:solidFill>
                <a:latin typeface="Segoe UI"/>
                <a:ea typeface="Yu Gothic UI"/>
              </a:rPr>
              <a:t>▸ </a:t>
            </a:r>
            <a:r>
              <a:rPr lang="ja-JP" altLang="en-US" sz="1600" dirty="0">
                <a:solidFill>
                  <a:srgbClr val="CFD8DC"/>
                </a:solidFill>
                <a:latin typeface="Segoe UI"/>
                <a:ea typeface="Yu Gothic UI"/>
              </a:rPr>
              <a:t>プロンプト実行 (CD)</a:t>
            </a:r>
          </a:p>
        </p:txBody>
      </p:sp>
      <p:sp>
        <p:nvSpPr>
          <p:cNvPr id="161" name="t161"/>
          <p:cNvSpPr txBox="1">
            <a:spLocks noGrp="1"/>
          </p:cNvSpPr>
          <p:nvPr/>
        </p:nvSpPr>
        <p:spPr>
          <a:xfrm>
            <a:off x="10265562" y="6102076"/>
            <a:ext cx="2051237" cy="330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ja-JP" altLang="en-US" sz="1200" dirty="0">
                <a:solidFill>
                  <a:srgbClr val="607D8B"/>
                </a:solidFill>
                <a:latin typeface="Segoe UI"/>
                <a:ea typeface="Yu Gothic UI"/>
              </a:rPr>
              <a:t>☕ 昼休憩  12:</a:t>
            </a:r>
            <a:r>
              <a:rPr lang="en-US" altLang="ja-JP" sz="1200" dirty="0">
                <a:solidFill>
                  <a:srgbClr val="607D8B"/>
                </a:solidFill>
                <a:latin typeface="Segoe UI"/>
                <a:ea typeface="Yu Gothic UI"/>
              </a:rPr>
              <a:t>3</a:t>
            </a:r>
            <a:r>
              <a:rPr lang="ja-JP" altLang="en-US" sz="1200" dirty="0">
                <a:solidFill>
                  <a:srgbClr val="607D8B"/>
                </a:solidFill>
                <a:latin typeface="Segoe UI"/>
                <a:ea typeface="Yu Gothic UI"/>
              </a:rPr>
              <a:t>0–13:</a:t>
            </a:r>
            <a:r>
              <a:rPr lang="en-US" altLang="ja-JP" sz="1200" dirty="0">
                <a:solidFill>
                  <a:srgbClr val="607D8B"/>
                </a:solidFill>
                <a:latin typeface="Segoe UI"/>
                <a:ea typeface="Yu Gothic UI"/>
              </a:rPr>
              <a:t>3</a:t>
            </a:r>
            <a:r>
              <a:rPr lang="ja-JP" altLang="en-US" sz="1200" dirty="0">
                <a:solidFill>
                  <a:srgbClr val="607D8B"/>
                </a:solidFill>
                <a:latin typeface="Segoe UI"/>
                <a:ea typeface="Yu Gothic UI"/>
              </a:rPr>
              <a:t>0</a:t>
            </a:r>
          </a:p>
        </p:txBody>
      </p:sp>
      <p:sp>
        <p:nvSpPr>
          <p:cNvPr id="162" name="t162"/>
          <p:cNvSpPr txBox="1">
            <a:spLocks noGrp="1"/>
          </p:cNvSpPr>
          <p:nvPr/>
        </p:nvSpPr>
        <p:spPr>
          <a:xfrm>
            <a:off x="9476049" y="6378438"/>
            <a:ext cx="2692400" cy="330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buNone/>
            </a:pPr>
            <a:r>
              <a:rPr lang="ja-JP" altLang="en-US" sz="1300" b="1" dirty="0">
                <a:solidFill>
                  <a:srgbClr val="00D4FF"/>
                </a:solidFill>
                <a:latin typeface="Segoe UI"/>
                <a:ea typeface="Yu Gothic UI"/>
              </a:rPr>
              <a:t>午後の部  →</a:t>
            </a:r>
          </a:p>
        </p:txBody>
      </p:sp>
      <p:sp>
        <p:nvSpPr>
          <p:cNvPr id="158" name="s158"/>
          <p:cNvSpPr>
            <a:spLocks noGrp="1"/>
          </p:cNvSpPr>
          <p:nvPr/>
        </p:nvSpPr>
        <p:spPr>
          <a:xfrm>
            <a:off x="4005013" y="1860420"/>
            <a:ext cx="5770800" cy="1080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104">
            <a:extLst>
              <a:ext uri="{FF2B5EF4-FFF2-40B4-BE49-F238E27FC236}">
                <a16:creationId xmlns:a16="http://schemas.microsoft.com/office/drawing/2014/main" id="{8713ACAB-ED1E-CEA6-9DE2-4F4A8EC1B9A0}"/>
              </a:ext>
            </a:extLst>
          </p:cNvPr>
          <p:cNvSpPr txBox="1">
            <a:spLocks noGrp="1"/>
          </p:cNvSpPr>
          <p:nvPr/>
        </p:nvSpPr>
        <p:spPr>
          <a:xfrm>
            <a:off x="1808408" y="878895"/>
            <a:ext cx="1353617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dirty="0">
                <a:solidFill>
                  <a:srgbClr val="FFFFFF"/>
                </a:solidFill>
                <a:latin typeface="Segoe UI"/>
                <a:ea typeface="Yu Gothic UI"/>
              </a:rPr>
              <a:t>環境確認</a:t>
            </a:r>
          </a:p>
        </p:txBody>
      </p:sp>
      <p:sp>
        <p:nvSpPr>
          <p:cNvPr id="3" name="t104">
            <a:extLst>
              <a:ext uri="{FF2B5EF4-FFF2-40B4-BE49-F238E27FC236}">
                <a16:creationId xmlns:a16="http://schemas.microsoft.com/office/drawing/2014/main" id="{D1FBF203-8582-8C35-0BAE-070BF5B0F852}"/>
              </a:ext>
            </a:extLst>
          </p:cNvPr>
          <p:cNvSpPr txBox="1">
            <a:spLocks noGrp="1"/>
          </p:cNvSpPr>
          <p:nvPr/>
        </p:nvSpPr>
        <p:spPr>
          <a:xfrm>
            <a:off x="1808407" y="3828774"/>
            <a:ext cx="1353617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dirty="0">
                <a:solidFill>
                  <a:srgbClr val="FFFFFF"/>
                </a:solidFill>
                <a:latin typeface="Segoe UI"/>
                <a:ea typeface="Yu Gothic UI"/>
              </a:rPr>
              <a:t>資材説明</a:t>
            </a:r>
          </a:p>
        </p:txBody>
      </p:sp>
      <p:sp>
        <p:nvSpPr>
          <p:cNvPr id="4" name="t104">
            <a:extLst>
              <a:ext uri="{FF2B5EF4-FFF2-40B4-BE49-F238E27FC236}">
                <a16:creationId xmlns:a16="http://schemas.microsoft.com/office/drawing/2014/main" id="{1046AF5E-E45B-5FB6-09F3-8E72FA20A159}"/>
              </a:ext>
            </a:extLst>
          </p:cNvPr>
          <p:cNvSpPr txBox="1">
            <a:spLocks noGrp="1"/>
          </p:cNvSpPr>
          <p:nvPr/>
        </p:nvSpPr>
        <p:spPr>
          <a:xfrm>
            <a:off x="4588423" y="1057447"/>
            <a:ext cx="2491488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dirty="0">
                <a:solidFill>
                  <a:srgbClr val="FFFFFF"/>
                </a:solidFill>
                <a:latin typeface="Segoe UI"/>
                <a:ea typeface="Yu Gothic UI"/>
              </a:rPr>
              <a:t>コーディング作業</a:t>
            </a:r>
          </a:p>
        </p:txBody>
      </p:sp>
      <p:sp>
        <p:nvSpPr>
          <p:cNvPr id="7" name="s158">
            <a:extLst>
              <a:ext uri="{FF2B5EF4-FFF2-40B4-BE49-F238E27FC236}">
                <a16:creationId xmlns:a16="http://schemas.microsoft.com/office/drawing/2014/main" id="{3770AA8F-F105-4AA6-A47E-FE81C2FD1050}"/>
              </a:ext>
            </a:extLst>
          </p:cNvPr>
          <p:cNvSpPr>
            <a:spLocks noGrp="1"/>
          </p:cNvSpPr>
          <p:nvPr/>
        </p:nvSpPr>
        <p:spPr>
          <a:xfrm>
            <a:off x="4017929" y="3868782"/>
            <a:ext cx="5770800" cy="1080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159">
            <a:extLst>
              <a:ext uri="{FF2B5EF4-FFF2-40B4-BE49-F238E27FC236}">
                <a16:creationId xmlns:a16="http://schemas.microsoft.com/office/drawing/2014/main" id="{6F12C331-1A5D-C970-C79D-A17377567412}"/>
              </a:ext>
            </a:extLst>
          </p:cNvPr>
          <p:cNvSpPr txBox="1">
            <a:spLocks noGrp="1"/>
          </p:cNvSpPr>
          <p:nvPr/>
        </p:nvSpPr>
        <p:spPr>
          <a:xfrm>
            <a:off x="3903907" y="3793145"/>
            <a:ext cx="5476576" cy="20602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ja-JP" altLang="en-US" sz="1600" b="1" dirty="0">
                <a:solidFill>
                  <a:srgbClr val="FF6E40"/>
                </a:solidFill>
                <a:ea typeface="Yu Gothic UI"/>
              </a:rPr>
              <a:t>実行結果確認</a:t>
            </a:r>
            <a:endParaRPr lang="en-US" altLang="ja-JP" sz="1600" b="1" dirty="0">
              <a:solidFill>
                <a:srgbClr val="FF6E40"/>
              </a:solidFill>
              <a:ea typeface="Yu Gothic UI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ja-JP" altLang="en-US" sz="1600" dirty="0">
                <a:solidFill>
                  <a:srgbClr val="FF6E40"/>
                </a:solidFill>
                <a:ea typeface="Yu Gothic UI"/>
              </a:rPr>
              <a:t>▸ 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成果物の確認 </a:t>
            </a:r>
            <a:r>
              <a:rPr lang="en-US" altLang="ja-JP" sz="1600" dirty="0">
                <a:solidFill>
                  <a:srgbClr val="CFD8DC"/>
                </a:solidFill>
                <a:ea typeface="Yu Gothic UI"/>
              </a:rPr>
              <a:t>(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画面・</a:t>
            </a:r>
            <a:r>
              <a:rPr lang="en-US" altLang="ja-JP" sz="1600" dirty="0">
                <a:solidFill>
                  <a:srgbClr val="CFD8DC"/>
                </a:solidFill>
                <a:ea typeface="Yu Gothic UI"/>
              </a:rPr>
              <a:t>Controller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・</a:t>
            </a:r>
            <a:r>
              <a:rPr lang="en-US" altLang="ja-JP" sz="1600" dirty="0">
                <a:solidFill>
                  <a:srgbClr val="CFD8DC"/>
                </a:solidFill>
                <a:ea typeface="Yu Gothic UI"/>
              </a:rPr>
              <a:t>Service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・</a:t>
            </a:r>
            <a:r>
              <a:rPr lang="en-US" altLang="ja-JP" sz="1600" dirty="0">
                <a:solidFill>
                  <a:srgbClr val="CFD8DC"/>
                </a:solidFill>
                <a:ea typeface="Yu Gothic UI"/>
              </a:rPr>
              <a:t>Mapper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・</a:t>
            </a:r>
            <a:r>
              <a:rPr lang="en-US" altLang="ja-JP" sz="1600" dirty="0" err="1">
                <a:solidFill>
                  <a:srgbClr val="CFD8DC"/>
                </a:solidFill>
                <a:ea typeface="Yu Gothic UI"/>
              </a:rPr>
              <a:t>Dto</a:t>
            </a:r>
            <a:r>
              <a:rPr lang="en-US" altLang="ja-JP" sz="1600" dirty="0">
                <a:solidFill>
                  <a:srgbClr val="CFD8DC"/>
                </a:solidFill>
                <a:ea typeface="Yu Gothic UI"/>
              </a:rPr>
              <a:t>)</a:t>
            </a:r>
            <a:endParaRPr lang="en-US" altLang="ja-JP" sz="1600" dirty="0">
              <a:solidFill>
                <a:srgbClr val="FF6E40"/>
              </a:solidFill>
              <a:ea typeface="Yu Gothic UI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buNone/>
            </a:pPr>
            <a:r>
              <a:rPr lang="ja-JP" altLang="en-US" sz="1600" dirty="0">
                <a:solidFill>
                  <a:srgbClr val="FF6E40"/>
                </a:solidFill>
                <a:latin typeface="Segoe UI"/>
                <a:ea typeface="Yu Gothic UI"/>
              </a:rPr>
              <a:t>▸ </a:t>
            </a:r>
            <a:r>
              <a:rPr lang="ja-JP" altLang="en-US" sz="1600" dirty="0">
                <a:solidFill>
                  <a:srgbClr val="CFD8DC"/>
                </a:solidFill>
                <a:latin typeface="Segoe UI"/>
                <a:ea typeface="Yu Gothic UI"/>
              </a:rPr>
              <a:t>動作検証（画面遷移図に沿って全画面＋全ボタン）</a:t>
            </a:r>
            <a:endParaRPr lang="en-US" altLang="ja-JP" sz="1600" dirty="0">
              <a:solidFill>
                <a:srgbClr val="CFD8DC"/>
              </a:solidFill>
              <a:latin typeface="Segoe UI"/>
              <a:ea typeface="Yu Gothic UI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ja-JP" altLang="en-US" sz="1600" dirty="0">
                <a:solidFill>
                  <a:srgbClr val="FF6E40"/>
                </a:solidFill>
                <a:ea typeface="Yu Gothic UI"/>
              </a:rPr>
              <a:t>▸ </a:t>
            </a:r>
            <a:r>
              <a:rPr lang="ja-JP" altLang="en-US" sz="1600" dirty="0">
                <a:solidFill>
                  <a:srgbClr val="CFD8DC"/>
                </a:solidFill>
                <a:ea typeface="Yu Gothic UI"/>
              </a:rPr>
              <a:t>結果格納 / git commit</a:t>
            </a:r>
          </a:p>
        </p:txBody>
      </p:sp>
    </p:spTree>
    <p:extLst>
      <p:ext uri="{BB962C8B-B14F-4D97-AF65-F5344CB8AC3E}">
        <p14:creationId xmlns:p14="http://schemas.microsoft.com/office/powerpoint/2010/main" val="596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0"/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254000" y="127000"/>
            <a:ext cx="38100" cy="4318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3" name="t203"/>
          <p:cNvSpPr txBox="1">
            <a:spLocks noGrp="1"/>
          </p:cNvSpPr>
          <p:nvPr/>
        </p:nvSpPr>
        <p:spPr>
          <a:xfrm>
            <a:off x="381000" y="152400"/>
            <a:ext cx="5842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2600" dirty="0">
                <a:solidFill>
                  <a:srgbClr val="FFAA80"/>
                </a:solidFill>
                <a:latin typeface="Segoe UI"/>
                <a:ea typeface="Yu Gothic UI"/>
              </a:rPr>
              <a:t>02</a:t>
            </a:r>
          </a:p>
        </p:txBody>
      </p:sp>
      <p:sp>
        <p:nvSpPr>
          <p:cNvPr id="204" name="t204"/>
          <p:cNvSpPr txBox="1">
            <a:spLocks noGrp="1"/>
          </p:cNvSpPr>
          <p:nvPr/>
        </p:nvSpPr>
        <p:spPr>
          <a:xfrm>
            <a:off x="990600" y="1651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sz="2200" dirty="0">
                <a:solidFill>
                  <a:srgbClr val="FFFFFF"/>
                </a:solidFill>
                <a:latin typeface="Segoe UI"/>
                <a:ea typeface="Yu Gothic UI"/>
              </a:rPr>
              <a:t>カリキュラム概要｜午後の部</a:t>
            </a:r>
          </a:p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990600" y="571500"/>
            <a:ext cx="2286000" cy="254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9677400" y="139700"/>
            <a:ext cx="2260600" cy="355600"/>
          </a:xfrm>
          <a:prstGeom prst="roundRect">
            <a:avLst>
              <a:gd name="adj" fmla="val 2500"/>
            </a:avLst>
          </a:prstGeom>
          <a:solidFill>
            <a:srgbClr val="22100A"/>
          </a:solidFill>
          <a:ln w="9525">
            <a:solidFill>
              <a:srgbClr val="FF6E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" name="t207"/>
          <p:cNvSpPr txBox="1">
            <a:spLocks noGrp="1"/>
          </p:cNvSpPr>
          <p:nvPr/>
        </p:nvSpPr>
        <p:spPr>
          <a:xfrm>
            <a:off x="9677400" y="139700"/>
            <a:ext cx="22606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400" b="1" dirty="0">
                <a:solidFill>
                  <a:srgbClr val="FF6E40"/>
                </a:solidFill>
                <a:latin typeface="Segoe UI"/>
                <a:ea typeface="Yu Gothic UI"/>
              </a:rPr>
              <a:t>13:30 – 18:00</a:t>
            </a:r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254000" y="1269260"/>
            <a:ext cx="3683000" cy="2667000"/>
          </a:xfrm>
          <a:prstGeom prst="roundRect">
            <a:avLst>
              <a:gd name="adj" fmla="val 2500"/>
            </a:avLst>
          </a:prstGeom>
          <a:solidFill>
            <a:srgbClr val="0E0A22"/>
          </a:solidFill>
          <a:ln w="9525">
            <a:solidFill>
              <a:srgbClr val="7C4D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s209"/>
          <p:cNvSpPr>
            <a:spLocks noGrp="1"/>
          </p:cNvSpPr>
          <p:nvPr/>
        </p:nvSpPr>
        <p:spPr>
          <a:xfrm>
            <a:off x="254000" y="1269260"/>
            <a:ext cx="3683000" cy="63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355600" y="1408960"/>
            <a:ext cx="609600" cy="254000"/>
          </a:xfrm>
          <a:prstGeom prst="roundRect">
            <a:avLst>
              <a:gd name="adj" fmla="val 2000"/>
            </a:avLst>
          </a:prstGeom>
          <a:solidFill>
            <a:srgbClr val="7C4D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t211"/>
          <p:cNvSpPr txBox="1">
            <a:spLocks noGrp="1"/>
          </p:cNvSpPr>
          <p:nvPr/>
        </p:nvSpPr>
        <p:spPr>
          <a:xfrm>
            <a:off x="355600" y="140896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FFFFFF"/>
                </a:solidFill>
                <a:latin typeface="Segoe UI"/>
                <a:ea typeface="Yu Gothic UI"/>
              </a:rPr>
              <a:t>4TH</a:t>
            </a:r>
          </a:p>
        </p:txBody>
      </p:sp>
      <p:sp>
        <p:nvSpPr>
          <p:cNvPr id="212" name="t212"/>
          <p:cNvSpPr txBox="1">
            <a:spLocks noGrp="1"/>
          </p:cNvSpPr>
          <p:nvPr/>
        </p:nvSpPr>
        <p:spPr>
          <a:xfrm>
            <a:off x="1041400" y="140896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500" b="1" dirty="0">
                <a:solidFill>
                  <a:srgbClr val="7C4DFF"/>
                </a:solidFill>
                <a:latin typeface="Segoe UI"/>
                <a:ea typeface="Yu Gothic UI"/>
              </a:rPr>
              <a:t>4th step</a:t>
            </a:r>
          </a:p>
        </p:txBody>
      </p:sp>
      <p:sp>
        <p:nvSpPr>
          <p:cNvPr id="213" name="t213"/>
          <p:cNvSpPr txBox="1">
            <a:spLocks noGrp="1"/>
          </p:cNvSpPr>
          <p:nvPr/>
        </p:nvSpPr>
        <p:spPr>
          <a:xfrm>
            <a:off x="355600" y="172646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200" dirty="0">
                <a:solidFill>
                  <a:srgbClr val="B0BEC5"/>
                </a:solidFill>
                <a:latin typeface="Segoe UI"/>
                <a:ea typeface="Yu Gothic UI"/>
              </a:rPr>
              <a:t>13:30–14:30  (1h)</a:t>
            </a:r>
          </a:p>
        </p:txBody>
      </p:sp>
      <p:sp>
        <p:nvSpPr>
          <p:cNvPr id="214" name="s214"/>
          <p:cNvSpPr>
            <a:spLocks noGrp="1"/>
          </p:cNvSpPr>
          <p:nvPr/>
        </p:nvSpPr>
        <p:spPr>
          <a:xfrm>
            <a:off x="355600" y="2005860"/>
            <a:ext cx="3479800" cy="12700"/>
          </a:xfrm>
          <a:prstGeom prst="rect">
            <a:avLst/>
          </a:prstGeom>
          <a:solidFill>
            <a:srgbClr val="2A20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t215"/>
          <p:cNvSpPr txBox="1">
            <a:spLocks noGrp="1"/>
          </p:cNvSpPr>
          <p:nvPr/>
        </p:nvSpPr>
        <p:spPr>
          <a:xfrm>
            <a:off x="355600" y="2056660"/>
            <a:ext cx="3479800" cy="1778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ts val="2400"/>
              </a:lnSpc>
              <a:spcBef>
                <a:spcPts val="200"/>
              </a:spcBef>
            </a:pPr>
            <a:r>
              <a:rPr lang="ja-JP" altLang="en-US" sz="1300" dirty="0">
                <a:solidFill>
                  <a:srgbClr val="7C4DFF"/>
                </a:solidFill>
                <a:ea typeface="Yu Gothic UI"/>
              </a:rPr>
              <a:t>▸ </a:t>
            </a:r>
            <a:r>
              <a:rPr lang="ja-JP" altLang="en-US" sz="1300" dirty="0">
                <a:solidFill>
                  <a:srgbClr val="CFD8DC"/>
                </a:solidFill>
                <a:ea typeface="Yu Gothic UI"/>
              </a:rPr>
              <a:t>単体テストの流れ説明</a:t>
            </a:r>
            <a:endParaRPr lang="en-US" altLang="ja-JP" sz="1300" dirty="0">
              <a:solidFill>
                <a:srgbClr val="CFD8DC"/>
              </a:solidFill>
              <a:ea typeface="Yu Gothic UI"/>
            </a:endParaRPr>
          </a:p>
          <a:p>
            <a:pPr>
              <a:lnSpc>
                <a:spcPts val="2400"/>
              </a:lnSpc>
              <a:spcBef>
                <a:spcPts val="200"/>
              </a:spcBef>
            </a:pPr>
            <a:r>
              <a:rPr lang="ja-JP" altLang="en-US" sz="1300" dirty="0">
                <a:solidFill>
                  <a:srgbClr val="7C4DFF"/>
                </a:solidFill>
                <a:ea typeface="Yu Gothic UI"/>
              </a:rPr>
              <a:t>▸ </a:t>
            </a:r>
            <a:r>
              <a:rPr lang="ja-JP" altLang="en-US" sz="1300" dirty="0">
                <a:solidFill>
                  <a:srgbClr val="CFD8DC"/>
                </a:solidFill>
                <a:ea typeface="Yu Gothic UI"/>
              </a:rPr>
              <a:t>プロンプトの説明</a:t>
            </a:r>
            <a:endParaRPr lang="en-US" altLang="ja-JP" sz="1300" dirty="0">
              <a:solidFill>
                <a:srgbClr val="7C4DFF"/>
              </a:solidFill>
              <a:latin typeface="Segoe UI"/>
              <a:ea typeface="Yu Gothic UI"/>
            </a:endParaRPr>
          </a:p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300" dirty="0">
                <a:solidFill>
                  <a:srgbClr val="7C4DFF"/>
                </a:solidFill>
                <a:latin typeface="Segoe UI"/>
                <a:ea typeface="Yu Gothic UI"/>
              </a:rPr>
              <a:t>▸ </a:t>
            </a:r>
            <a:r>
              <a:rPr lang="ja-JP" altLang="en-US" sz="1300" dirty="0">
                <a:solidFill>
                  <a:srgbClr val="CFD8DC"/>
                </a:solidFill>
                <a:latin typeface="Segoe UI"/>
                <a:ea typeface="Yu Gothic UI"/>
              </a:rPr>
              <a:t>プロンプトの実行</a:t>
            </a:r>
            <a:r>
              <a:rPr lang="en-US" altLang="ja-JP" sz="1300" dirty="0">
                <a:solidFill>
                  <a:srgbClr val="CFD8DC"/>
                </a:solidFill>
                <a:latin typeface="Segoe UI"/>
                <a:ea typeface="Yu Gothic UI"/>
              </a:rPr>
              <a:t>(U</a:t>
            </a:r>
            <a:r>
              <a:rPr lang="ja-JP" altLang="en-US" sz="1300" dirty="0">
                <a:solidFill>
                  <a:srgbClr val="CFD8DC"/>
                </a:solidFill>
                <a:latin typeface="Segoe UI"/>
                <a:ea typeface="Yu Gothic UI"/>
              </a:rPr>
              <a:t>Tクラス作成</a:t>
            </a:r>
            <a:r>
              <a:rPr lang="en-US" altLang="ja-JP" sz="1300" dirty="0">
                <a:solidFill>
                  <a:srgbClr val="CFD8DC"/>
                </a:solidFill>
                <a:latin typeface="Segoe UI"/>
                <a:ea typeface="Yu Gothic UI"/>
              </a:rPr>
              <a:t>/Junit)</a:t>
            </a:r>
            <a:endParaRPr lang="ja-JP" altLang="en-US" sz="1300" dirty="0">
              <a:solidFill>
                <a:srgbClr val="CFD8DC"/>
              </a:solidFill>
              <a:latin typeface="Segoe UI"/>
              <a:ea typeface="Yu Gothic UI"/>
            </a:endParaRPr>
          </a:p>
          <a:p>
            <a:pPr>
              <a:lnSpc>
                <a:spcPts val="2400"/>
              </a:lnSpc>
              <a:spcBef>
                <a:spcPts val="200"/>
              </a:spcBef>
            </a:pPr>
            <a:r>
              <a:rPr lang="ja-JP" altLang="en-US" sz="1300" dirty="0">
                <a:solidFill>
                  <a:srgbClr val="7C4DFF"/>
                </a:solidFill>
                <a:latin typeface="Segoe UI"/>
                <a:ea typeface="Yu Gothic UI"/>
              </a:rPr>
              <a:t>▸</a:t>
            </a:r>
            <a:r>
              <a:rPr lang="ja-JP" altLang="en-US" sz="1300" dirty="0">
                <a:solidFill>
                  <a:srgbClr val="CFD8DC"/>
                </a:solidFill>
                <a:ea typeface="Yu Gothic UI"/>
              </a:rPr>
              <a:t>プロンプトの実行</a:t>
            </a:r>
            <a:r>
              <a:rPr lang="en-US" altLang="ja-JP" sz="1300" dirty="0">
                <a:solidFill>
                  <a:srgbClr val="CFD8DC"/>
                </a:solidFill>
                <a:ea typeface="Yu Gothic UI"/>
              </a:rPr>
              <a:t>(U</a:t>
            </a:r>
            <a:r>
              <a:rPr lang="ja-JP" altLang="en-US" sz="1300" dirty="0">
                <a:solidFill>
                  <a:srgbClr val="CFD8DC"/>
                </a:solidFill>
                <a:ea typeface="Yu Gothic UI"/>
              </a:rPr>
              <a:t>Tクラス実施</a:t>
            </a:r>
            <a:r>
              <a:rPr lang="en-US" altLang="ja-JP" sz="1300" dirty="0">
                <a:solidFill>
                  <a:srgbClr val="CFD8DC"/>
                </a:solidFill>
                <a:ea typeface="Yu Gothic UI"/>
              </a:rPr>
              <a:t>)</a:t>
            </a:r>
          </a:p>
          <a:p>
            <a:pPr>
              <a:lnSpc>
                <a:spcPts val="2400"/>
              </a:lnSpc>
              <a:spcBef>
                <a:spcPts val="200"/>
              </a:spcBef>
            </a:pPr>
            <a:r>
              <a:rPr lang="ja-JP" altLang="en-US" sz="1300" dirty="0">
                <a:solidFill>
                  <a:srgbClr val="7C4DFF"/>
                </a:solidFill>
                <a:ea typeface="Yu Gothic UI"/>
              </a:rPr>
              <a:t>▸</a:t>
            </a:r>
            <a:r>
              <a:rPr lang="ja-JP" altLang="en-US" sz="1300" dirty="0">
                <a:solidFill>
                  <a:srgbClr val="CFD8DC"/>
                </a:solidFill>
                <a:ea typeface="Yu Gothic UI"/>
              </a:rPr>
              <a:t>カバレッジ・レポート確認</a:t>
            </a:r>
            <a:endParaRPr lang="en-US" altLang="ja-JP" sz="1300" dirty="0">
              <a:solidFill>
                <a:srgbClr val="CFD8DC"/>
              </a:solidFill>
              <a:ea typeface="Yu Gothic UI"/>
            </a:endParaRPr>
          </a:p>
          <a:p>
            <a:pPr>
              <a:lnSpc>
                <a:spcPts val="2400"/>
              </a:lnSpc>
              <a:spcBef>
                <a:spcPts val="200"/>
              </a:spcBef>
            </a:pPr>
            <a:endParaRPr lang="en-US" altLang="ja-JP" sz="1300" dirty="0">
              <a:solidFill>
                <a:srgbClr val="CFD8DC"/>
              </a:solidFill>
              <a:ea typeface="Yu Gothic UI"/>
            </a:endParaRPr>
          </a:p>
          <a:p>
            <a:pPr>
              <a:lnSpc>
                <a:spcPts val="2400"/>
              </a:lnSpc>
              <a:spcBef>
                <a:spcPts val="200"/>
              </a:spcBef>
            </a:pPr>
            <a:endParaRPr lang="ja-JP" altLang="en-US" sz="1300" dirty="0">
              <a:solidFill>
                <a:srgbClr val="CFD8DC"/>
              </a:solidFill>
              <a:ea typeface="Yu Gothic UI"/>
            </a:endParaRPr>
          </a:p>
        </p:txBody>
      </p:sp>
      <p:sp>
        <p:nvSpPr>
          <p:cNvPr id="216" name="s216"/>
          <p:cNvSpPr>
            <a:spLocks noGrp="1"/>
          </p:cNvSpPr>
          <p:nvPr/>
        </p:nvSpPr>
        <p:spPr>
          <a:xfrm>
            <a:off x="238560" y="738141"/>
            <a:ext cx="3683000" cy="431800"/>
          </a:xfrm>
          <a:prstGeom prst="roundRect">
            <a:avLst>
              <a:gd name="adj" fmla="val 2000"/>
            </a:avLst>
          </a:prstGeom>
          <a:solidFill>
            <a:srgbClr val="0A0F18"/>
          </a:solidFill>
          <a:ln w="9525">
            <a:solidFill>
              <a:srgbClr val="546E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7" name="t217"/>
          <p:cNvSpPr txBox="1">
            <a:spLocks noGrp="1"/>
          </p:cNvSpPr>
          <p:nvPr/>
        </p:nvSpPr>
        <p:spPr>
          <a:xfrm>
            <a:off x="272530" y="726675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ja-JP" altLang="en-US" sz="1200" dirty="0">
                <a:solidFill>
                  <a:srgbClr val="607D8B"/>
                </a:solidFill>
                <a:latin typeface="Segoe UI"/>
                <a:ea typeface="Yu Gothic UI"/>
              </a:rPr>
              <a:t>昼休憩  12:</a:t>
            </a:r>
            <a:r>
              <a:rPr lang="en-US" altLang="ja-JP" sz="1200" dirty="0">
                <a:solidFill>
                  <a:srgbClr val="607D8B"/>
                </a:solidFill>
                <a:latin typeface="Segoe UI"/>
                <a:ea typeface="Yu Gothic UI"/>
              </a:rPr>
              <a:t>3</a:t>
            </a:r>
            <a:r>
              <a:rPr lang="ja-JP" altLang="en-US" sz="1200" dirty="0">
                <a:solidFill>
                  <a:srgbClr val="607D8B"/>
                </a:solidFill>
                <a:latin typeface="Segoe UI"/>
                <a:ea typeface="Yu Gothic UI"/>
              </a:rPr>
              <a:t>0-13:</a:t>
            </a:r>
            <a:r>
              <a:rPr lang="en-US" altLang="ja-JP" sz="1200" dirty="0">
                <a:solidFill>
                  <a:srgbClr val="607D8B"/>
                </a:solidFill>
                <a:latin typeface="Segoe UI"/>
                <a:ea typeface="Yu Gothic UI"/>
              </a:rPr>
              <a:t>3</a:t>
            </a:r>
            <a:r>
              <a:rPr lang="ja-JP" altLang="en-US" sz="1200" dirty="0">
                <a:solidFill>
                  <a:srgbClr val="607D8B"/>
                </a:solidFill>
                <a:latin typeface="Segoe UI"/>
                <a:ea typeface="Yu Gothic UI"/>
              </a:rPr>
              <a:t>0</a:t>
            </a:r>
          </a:p>
        </p:txBody>
      </p:sp>
      <p:sp>
        <p:nvSpPr>
          <p:cNvPr id="218" name="s218"/>
          <p:cNvSpPr>
            <a:spLocks noGrp="1"/>
          </p:cNvSpPr>
          <p:nvPr/>
        </p:nvSpPr>
        <p:spPr>
          <a:xfrm>
            <a:off x="254000" y="3987800"/>
            <a:ext cx="3683000" cy="2184400"/>
          </a:xfrm>
          <a:prstGeom prst="roundRect">
            <a:avLst>
              <a:gd name="adj" fmla="val 2500"/>
            </a:avLst>
          </a:prstGeom>
          <a:solidFill>
            <a:srgbClr val="0A0820"/>
          </a:solidFill>
          <a:ln w="9525">
            <a:solidFill>
              <a:srgbClr val="7C4D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s219"/>
          <p:cNvSpPr>
            <a:spLocks noGrp="1"/>
          </p:cNvSpPr>
          <p:nvPr/>
        </p:nvSpPr>
        <p:spPr>
          <a:xfrm>
            <a:off x="254000" y="3987800"/>
            <a:ext cx="3683000" cy="50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t220"/>
          <p:cNvSpPr txBox="1">
            <a:spLocks noGrp="1"/>
          </p:cNvSpPr>
          <p:nvPr/>
        </p:nvSpPr>
        <p:spPr>
          <a:xfrm>
            <a:off x="355600" y="4114800"/>
            <a:ext cx="3479800" cy="279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altLang="en-US" sz="1300" b="1" dirty="0">
                <a:solidFill>
                  <a:srgbClr val="B39DDB"/>
                </a:solidFill>
                <a:latin typeface="Segoe UI"/>
                <a:ea typeface="Yu Gothic UI"/>
              </a:rPr>
              <a:t>ポイント</a:t>
            </a:r>
          </a:p>
        </p:txBody>
      </p:sp>
      <p:sp>
        <p:nvSpPr>
          <p:cNvPr id="221" name="s221"/>
          <p:cNvSpPr>
            <a:spLocks noGrp="1"/>
          </p:cNvSpPr>
          <p:nvPr/>
        </p:nvSpPr>
        <p:spPr>
          <a:xfrm>
            <a:off x="355600" y="4445000"/>
            <a:ext cx="3479800" cy="12700"/>
          </a:xfrm>
          <a:prstGeom prst="rect">
            <a:avLst/>
          </a:prstGeom>
          <a:solidFill>
            <a:srgbClr val="2A20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t222"/>
          <p:cNvSpPr txBox="1">
            <a:spLocks noGrp="1"/>
          </p:cNvSpPr>
          <p:nvPr/>
        </p:nvSpPr>
        <p:spPr>
          <a:xfrm>
            <a:off x="355600" y="4495800"/>
            <a:ext cx="3479800" cy="1549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B39DDB"/>
                </a:solidFill>
                <a:latin typeface="Segoe UI"/>
                <a:ea typeface="Yu Gothic UI"/>
              </a:rPr>
              <a:t>◆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人手レビューで品質確保</a:t>
            </a:r>
          </a:p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B39DDB"/>
                </a:solidFill>
                <a:latin typeface="Segoe UI"/>
                <a:ea typeface="Yu Gothic UI"/>
              </a:rPr>
              <a:t>◆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テスト実行・グリーン確認</a:t>
            </a:r>
            <a:endParaRPr lang="en-US" altLang="ja-JP" sz="1200" dirty="0">
              <a:solidFill>
                <a:srgbClr val="CFD8DC"/>
              </a:solidFill>
              <a:latin typeface="Segoe UI"/>
              <a:ea typeface="Yu Gothic UI"/>
            </a:endParaRPr>
          </a:p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B39DDB"/>
                </a:solidFill>
                <a:ea typeface="Yu Gothic UI"/>
              </a:rPr>
              <a:t>◆ </a:t>
            </a:r>
            <a:r>
              <a:rPr lang="ja-JP" altLang="en-US" sz="1200" dirty="0">
                <a:solidFill>
                  <a:srgbClr val="CFD8DC"/>
                </a:solidFill>
                <a:ea typeface="Yu Gothic UI"/>
              </a:rPr>
              <a:t>自プロジェクト展開をリアルに検討</a:t>
            </a:r>
            <a:r>
              <a:rPr lang="en-US" altLang="ja-JP" sz="1200" dirty="0">
                <a:solidFill>
                  <a:srgbClr val="CFD8DC"/>
                </a:solidFill>
                <a:ea typeface="Yu Gothic UI"/>
              </a:rPr>
              <a:t>(</a:t>
            </a:r>
            <a:r>
              <a:rPr lang="ja-JP" altLang="en-US" sz="1200" dirty="0">
                <a:solidFill>
                  <a:srgbClr val="CFD8DC"/>
                </a:solidFill>
                <a:ea typeface="Yu Gothic UI"/>
              </a:rPr>
              <a:t>レポートは宿題</a:t>
            </a:r>
            <a:r>
              <a:rPr lang="en-US" altLang="ja-JP" sz="1200" dirty="0">
                <a:solidFill>
                  <a:srgbClr val="CFD8DC"/>
                </a:solidFill>
                <a:ea typeface="Yu Gothic UI"/>
              </a:rPr>
              <a:t>)</a:t>
            </a:r>
            <a:endParaRPr lang="ja-JP" altLang="en-US" sz="1200" dirty="0">
              <a:solidFill>
                <a:srgbClr val="CFD8DC"/>
              </a:solidFill>
              <a:latin typeface="Segoe UI"/>
              <a:ea typeface="Yu Gothic UI"/>
            </a:endParaRPr>
          </a:p>
        </p:txBody>
      </p:sp>
      <p:sp>
        <p:nvSpPr>
          <p:cNvPr id="223" name="s223"/>
          <p:cNvSpPr>
            <a:spLocks noGrp="1"/>
          </p:cNvSpPr>
          <p:nvPr/>
        </p:nvSpPr>
        <p:spPr>
          <a:xfrm>
            <a:off x="4038600" y="736600"/>
            <a:ext cx="4699000" cy="5435600"/>
          </a:xfrm>
          <a:prstGeom prst="roundRect">
            <a:avLst>
              <a:gd name="adj" fmla="val 2500"/>
            </a:avLst>
          </a:prstGeom>
          <a:solidFill>
            <a:srgbClr val="06180E"/>
          </a:solidFill>
          <a:ln w="9525">
            <a:solidFill>
              <a:srgbClr val="00E6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4" name="s224"/>
          <p:cNvSpPr>
            <a:spLocks noGrp="1"/>
          </p:cNvSpPr>
          <p:nvPr/>
        </p:nvSpPr>
        <p:spPr>
          <a:xfrm>
            <a:off x="4038600" y="736600"/>
            <a:ext cx="4699000" cy="76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5" name="s225"/>
          <p:cNvSpPr>
            <a:spLocks noGrp="1"/>
          </p:cNvSpPr>
          <p:nvPr/>
        </p:nvSpPr>
        <p:spPr>
          <a:xfrm>
            <a:off x="4140200" y="889000"/>
            <a:ext cx="609600" cy="279400"/>
          </a:xfrm>
          <a:prstGeom prst="roundRect">
            <a:avLst>
              <a:gd name="adj" fmla="val 2000"/>
            </a:avLst>
          </a:prstGeom>
          <a:solidFill>
            <a:srgbClr val="00E67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6" name="t226"/>
          <p:cNvSpPr txBox="1">
            <a:spLocks noGrp="1"/>
          </p:cNvSpPr>
          <p:nvPr/>
        </p:nvSpPr>
        <p:spPr>
          <a:xfrm>
            <a:off x="4140200" y="889000"/>
            <a:ext cx="6096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0A1810"/>
                </a:solidFill>
                <a:latin typeface="Segoe UI"/>
                <a:ea typeface="Yu Gothic UI"/>
              </a:rPr>
              <a:t>5TH</a:t>
            </a:r>
          </a:p>
        </p:txBody>
      </p:sp>
      <p:sp>
        <p:nvSpPr>
          <p:cNvPr id="227" name="s227"/>
          <p:cNvSpPr>
            <a:spLocks noGrp="1"/>
          </p:cNvSpPr>
          <p:nvPr/>
        </p:nvSpPr>
        <p:spPr>
          <a:xfrm>
            <a:off x="4826000" y="889000"/>
            <a:ext cx="1524000" cy="279400"/>
          </a:xfrm>
          <a:prstGeom prst="roundRect">
            <a:avLst>
              <a:gd name="adj" fmla="val 2000"/>
            </a:avLst>
          </a:prstGeom>
          <a:solidFill>
            <a:srgbClr val="06180E"/>
          </a:solidFill>
          <a:ln w="9525">
            <a:solidFill>
              <a:srgbClr val="00E67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8" name="t228"/>
          <p:cNvSpPr txBox="1">
            <a:spLocks noGrp="1"/>
          </p:cNvSpPr>
          <p:nvPr/>
        </p:nvSpPr>
        <p:spPr>
          <a:xfrm>
            <a:off x="4826000" y="8890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900" b="1" dirty="0">
                <a:solidFill>
                  <a:srgbClr val="00E676"/>
                </a:solidFill>
                <a:latin typeface="Segoe UI"/>
                <a:ea typeface="Yu Gothic UI"/>
              </a:rPr>
              <a:t>ITERATION</a:t>
            </a:r>
          </a:p>
        </p:txBody>
      </p:sp>
      <p:sp>
        <p:nvSpPr>
          <p:cNvPr id="229" name="t229"/>
          <p:cNvSpPr txBox="1">
            <a:spLocks noGrp="1"/>
          </p:cNvSpPr>
          <p:nvPr/>
        </p:nvSpPr>
        <p:spPr>
          <a:xfrm>
            <a:off x="4140200" y="1244600"/>
            <a:ext cx="4495800" cy="330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b="1" dirty="0">
                <a:solidFill>
                  <a:srgbClr val="00E676"/>
                </a:solidFill>
                <a:latin typeface="Segoe UI"/>
                <a:ea typeface="Yu Gothic UI"/>
              </a:rPr>
              <a:t>5</a:t>
            </a:r>
            <a:r>
              <a:rPr lang="en-US" altLang="ja-JP" sz="1800" b="1" dirty="0">
                <a:solidFill>
                  <a:srgbClr val="00E676"/>
                </a:solidFill>
                <a:latin typeface="Segoe UI"/>
                <a:ea typeface="Yu Gothic UI"/>
              </a:rPr>
              <a:t>th step</a:t>
            </a:r>
          </a:p>
        </p:txBody>
      </p:sp>
      <p:sp>
        <p:nvSpPr>
          <p:cNvPr id="230" name="t230"/>
          <p:cNvSpPr txBox="1">
            <a:spLocks noGrp="1"/>
          </p:cNvSpPr>
          <p:nvPr/>
        </p:nvSpPr>
        <p:spPr>
          <a:xfrm>
            <a:off x="4140200" y="1600200"/>
            <a:ext cx="44958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300" dirty="0">
                <a:solidFill>
                  <a:srgbClr val="B0BEC5"/>
                </a:solidFill>
                <a:latin typeface="Segoe UI"/>
                <a:ea typeface="Yu Gothic UI"/>
              </a:rPr>
              <a:t>14:30–16:30  (2h)</a:t>
            </a:r>
          </a:p>
        </p:txBody>
      </p:sp>
      <p:sp>
        <p:nvSpPr>
          <p:cNvPr id="231" name="s231"/>
          <p:cNvSpPr>
            <a:spLocks noGrp="1"/>
          </p:cNvSpPr>
          <p:nvPr/>
        </p:nvSpPr>
        <p:spPr>
          <a:xfrm>
            <a:off x="4140200" y="1905000"/>
            <a:ext cx="4495800" cy="12700"/>
          </a:xfrm>
          <a:prstGeom prst="rect">
            <a:avLst/>
          </a:prstGeom>
          <a:solidFill>
            <a:srgbClr val="1A3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t232"/>
          <p:cNvSpPr txBox="1">
            <a:spLocks noGrp="1"/>
          </p:cNvSpPr>
          <p:nvPr/>
        </p:nvSpPr>
        <p:spPr>
          <a:xfrm>
            <a:off x="4140200" y="1981200"/>
            <a:ext cx="44958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sz="1300" b="1" dirty="0">
                <a:solidFill>
                  <a:srgbClr val="00E676"/>
                </a:solidFill>
                <a:latin typeface="Segoe UI"/>
                <a:ea typeface="Yu Gothic UI"/>
              </a:rPr>
              <a:t>設計・合否判断</a:t>
            </a:r>
          </a:p>
        </p:txBody>
      </p:sp>
      <p:sp>
        <p:nvSpPr>
          <p:cNvPr id="233" name="t233"/>
          <p:cNvSpPr txBox="1">
            <a:spLocks noGrp="1"/>
          </p:cNvSpPr>
          <p:nvPr/>
        </p:nvSpPr>
        <p:spPr>
          <a:xfrm>
            <a:off x="4140200" y="2260600"/>
            <a:ext cx="4495800" cy="660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00E676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機能追加プロンプト作成・実行（設計）</a:t>
            </a:r>
          </a:p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00E676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設計の確認 / 合否判断</a:t>
            </a:r>
          </a:p>
        </p:txBody>
      </p:sp>
      <p:sp>
        <p:nvSpPr>
          <p:cNvPr id="234" name="s234"/>
          <p:cNvSpPr>
            <a:spLocks noGrp="1"/>
          </p:cNvSpPr>
          <p:nvPr/>
        </p:nvSpPr>
        <p:spPr>
          <a:xfrm>
            <a:off x="4140200" y="2997200"/>
            <a:ext cx="4495800" cy="12700"/>
          </a:xfrm>
          <a:prstGeom prst="rect">
            <a:avLst/>
          </a:prstGeom>
          <a:solidFill>
            <a:srgbClr val="1A3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5" name="t235"/>
          <p:cNvSpPr txBox="1">
            <a:spLocks noGrp="1"/>
          </p:cNvSpPr>
          <p:nvPr/>
        </p:nvSpPr>
        <p:spPr>
          <a:xfrm>
            <a:off x="4140200" y="3086100"/>
            <a:ext cx="44958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sz="1300" b="1" dirty="0">
                <a:solidFill>
                  <a:srgbClr val="80FFB8"/>
                </a:solidFill>
                <a:latin typeface="Segoe UI"/>
                <a:ea typeface="Yu Gothic UI"/>
              </a:rPr>
              <a:t>コード生成 (CD)</a:t>
            </a:r>
          </a:p>
        </p:txBody>
      </p:sp>
      <p:sp>
        <p:nvSpPr>
          <p:cNvPr id="236" name="t236"/>
          <p:cNvSpPr txBox="1">
            <a:spLocks noGrp="1"/>
          </p:cNvSpPr>
          <p:nvPr/>
        </p:nvSpPr>
        <p:spPr>
          <a:xfrm>
            <a:off x="4140200" y="3365500"/>
            <a:ext cx="4495800" cy="660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80FFB8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CDプロンプトの作成・実行</a:t>
            </a:r>
          </a:p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80FFB8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結果確認 / git commit</a:t>
            </a:r>
          </a:p>
        </p:txBody>
      </p:sp>
      <p:sp>
        <p:nvSpPr>
          <p:cNvPr id="237" name="s237"/>
          <p:cNvSpPr>
            <a:spLocks noGrp="1"/>
          </p:cNvSpPr>
          <p:nvPr/>
        </p:nvSpPr>
        <p:spPr>
          <a:xfrm>
            <a:off x="4140200" y="4102100"/>
            <a:ext cx="4495800" cy="12700"/>
          </a:xfrm>
          <a:prstGeom prst="rect">
            <a:avLst/>
          </a:prstGeom>
          <a:solidFill>
            <a:srgbClr val="1A3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t238"/>
          <p:cNvSpPr txBox="1">
            <a:spLocks noGrp="1"/>
          </p:cNvSpPr>
          <p:nvPr/>
        </p:nvSpPr>
        <p:spPr>
          <a:xfrm>
            <a:off x="4140200" y="4191000"/>
            <a:ext cx="44958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sz="1300" b="1" dirty="0">
                <a:solidFill>
                  <a:srgbClr val="00D4A0"/>
                </a:solidFill>
                <a:latin typeface="Segoe UI"/>
                <a:ea typeface="Yu Gothic UI"/>
              </a:rPr>
              <a:t>テスト (UT)</a:t>
            </a:r>
          </a:p>
        </p:txBody>
      </p:sp>
      <p:sp>
        <p:nvSpPr>
          <p:cNvPr id="239" name="t239"/>
          <p:cNvSpPr txBox="1">
            <a:spLocks noGrp="1"/>
          </p:cNvSpPr>
          <p:nvPr/>
        </p:nvSpPr>
        <p:spPr>
          <a:xfrm>
            <a:off x="4140200" y="4470400"/>
            <a:ext cx="4495800" cy="660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00D4A0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UTプロンプトの作成・実行</a:t>
            </a:r>
          </a:p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00D4A0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結果確認 / git commit</a:t>
            </a:r>
          </a:p>
        </p:txBody>
      </p:sp>
      <p:sp>
        <p:nvSpPr>
          <p:cNvPr id="240" name="s240"/>
          <p:cNvSpPr>
            <a:spLocks noGrp="1"/>
          </p:cNvSpPr>
          <p:nvPr/>
        </p:nvSpPr>
        <p:spPr>
          <a:xfrm>
            <a:off x="4140200" y="5207000"/>
            <a:ext cx="4495800" cy="12700"/>
          </a:xfrm>
          <a:prstGeom prst="rect">
            <a:avLst/>
          </a:prstGeom>
          <a:solidFill>
            <a:srgbClr val="1A3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1" name="t241"/>
          <p:cNvSpPr txBox="1">
            <a:spLocks noGrp="1"/>
          </p:cNvSpPr>
          <p:nvPr/>
        </p:nvSpPr>
        <p:spPr>
          <a:xfrm>
            <a:off x="4140200" y="5295900"/>
            <a:ext cx="4495800" cy="279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sz="1300" b="1" dirty="0">
                <a:solidFill>
                  <a:srgbClr val="78909C"/>
                </a:solidFill>
                <a:latin typeface="Segoe UI"/>
                <a:ea typeface="Yu Gothic UI"/>
              </a:rPr>
              <a:t>繰り返し</a:t>
            </a:r>
          </a:p>
        </p:txBody>
      </p:sp>
      <p:sp>
        <p:nvSpPr>
          <p:cNvPr id="242" name="t242"/>
          <p:cNvSpPr txBox="1">
            <a:spLocks noGrp="1"/>
          </p:cNvSpPr>
          <p:nvPr/>
        </p:nvSpPr>
        <p:spPr>
          <a:xfrm>
            <a:off x="4140200" y="5575300"/>
            <a:ext cx="4495800" cy="330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ts val="2400"/>
              </a:lnSpc>
              <a:spcBef>
                <a:spcPts val="200"/>
              </a:spcBef>
              <a:buNone/>
            </a:pPr>
            <a:r>
              <a:rPr lang="ja-JP" altLang="en-US" sz="1200" dirty="0">
                <a:solidFill>
                  <a:srgbClr val="78909C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進行に合わせて機能追加を繰り返す</a:t>
            </a:r>
          </a:p>
        </p:txBody>
      </p:sp>
      <p:sp>
        <p:nvSpPr>
          <p:cNvPr id="243" name="s243"/>
          <p:cNvSpPr>
            <a:spLocks noGrp="1"/>
          </p:cNvSpPr>
          <p:nvPr/>
        </p:nvSpPr>
        <p:spPr>
          <a:xfrm>
            <a:off x="8839200" y="736600"/>
            <a:ext cx="3098800" cy="2540000"/>
          </a:xfrm>
          <a:prstGeom prst="roundRect">
            <a:avLst>
              <a:gd name="adj" fmla="val 2500"/>
            </a:avLst>
          </a:prstGeom>
          <a:solidFill>
            <a:srgbClr val="080E22"/>
          </a:solidFill>
          <a:ln w="9525">
            <a:solidFill>
              <a:srgbClr val="448A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4" name="s244"/>
          <p:cNvSpPr>
            <a:spLocks noGrp="1"/>
          </p:cNvSpPr>
          <p:nvPr/>
        </p:nvSpPr>
        <p:spPr>
          <a:xfrm>
            <a:off x="8839200" y="736600"/>
            <a:ext cx="3098800" cy="63500"/>
          </a:xfrm>
          <a:prstGeom prst="rect">
            <a:avLst/>
          </a:prstGeom>
          <a:solidFill>
            <a:srgbClr val="448A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5" name="s245"/>
          <p:cNvSpPr>
            <a:spLocks noGrp="1"/>
          </p:cNvSpPr>
          <p:nvPr/>
        </p:nvSpPr>
        <p:spPr>
          <a:xfrm>
            <a:off x="8940800" y="876300"/>
            <a:ext cx="609600" cy="254000"/>
          </a:xfrm>
          <a:prstGeom prst="roundRect">
            <a:avLst>
              <a:gd name="adj" fmla="val 2000"/>
            </a:avLst>
          </a:prstGeom>
          <a:solidFill>
            <a:srgbClr val="448A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6" name="t246"/>
          <p:cNvSpPr txBox="1">
            <a:spLocks noGrp="1"/>
          </p:cNvSpPr>
          <p:nvPr/>
        </p:nvSpPr>
        <p:spPr>
          <a:xfrm>
            <a:off x="8940800" y="8763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FFFFFF"/>
                </a:solidFill>
                <a:latin typeface="Segoe UI"/>
                <a:ea typeface="Yu Gothic UI"/>
              </a:rPr>
              <a:t>6TH</a:t>
            </a:r>
          </a:p>
        </p:txBody>
      </p:sp>
      <p:sp>
        <p:nvSpPr>
          <p:cNvPr id="247" name="t247"/>
          <p:cNvSpPr txBox="1">
            <a:spLocks noGrp="1"/>
          </p:cNvSpPr>
          <p:nvPr/>
        </p:nvSpPr>
        <p:spPr>
          <a:xfrm>
            <a:off x="9626600" y="8763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500" b="1" dirty="0">
                <a:solidFill>
                  <a:srgbClr val="448AFF"/>
                </a:solidFill>
                <a:latin typeface="Segoe UI"/>
                <a:ea typeface="Yu Gothic UI"/>
              </a:rPr>
              <a:t>6th step</a:t>
            </a:r>
          </a:p>
        </p:txBody>
      </p:sp>
      <p:sp>
        <p:nvSpPr>
          <p:cNvPr id="248" name="t248"/>
          <p:cNvSpPr txBox="1">
            <a:spLocks noGrp="1"/>
          </p:cNvSpPr>
          <p:nvPr/>
        </p:nvSpPr>
        <p:spPr>
          <a:xfrm>
            <a:off x="8940800" y="11938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200" dirty="0">
                <a:solidFill>
                  <a:srgbClr val="B0BEC5"/>
                </a:solidFill>
                <a:latin typeface="Segoe UI"/>
                <a:ea typeface="Yu Gothic UI"/>
              </a:rPr>
              <a:t>16:30–17:30  (1h)</a:t>
            </a:r>
          </a:p>
        </p:txBody>
      </p:sp>
      <p:sp>
        <p:nvSpPr>
          <p:cNvPr id="249" name="s249"/>
          <p:cNvSpPr>
            <a:spLocks noGrp="1"/>
          </p:cNvSpPr>
          <p:nvPr/>
        </p:nvSpPr>
        <p:spPr>
          <a:xfrm>
            <a:off x="8940800" y="1473200"/>
            <a:ext cx="2895600" cy="1270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" name="t250"/>
          <p:cNvSpPr txBox="1">
            <a:spLocks noGrp="1"/>
          </p:cNvSpPr>
          <p:nvPr/>
        </p:nvSpPr>
        <p:spPr>
          <a:xfrm>
            <a:off x="8940800" y="1676400"/>
            <a:ext cx="2895600" cy="12827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>
              <a:lnSpc>
                <a:spcPts val="2400"/>
              </a:lnSpc>
              <a:spcBef>
                <a:spcPts val="200"/>
              </a:spcBef>
            </a:pPr>
            <a:r>
              <a:rPr lang="ja-JP" altLang="en-US" sz="1200" dirty="0">
                <a:solidFill>
                  <a:srgbClr val="448AFF"/>
                </a:solidFill>
                <a:ea typeface="Yu Gothic UI"/>
              </a:rPr>
              <a:t>▸</a:t>
            </a:r>
            <a:r>
              <a:rPr lang="ja-JP" altLang="en-US" sz="1200" dirty="0">
                <a:solidFill>
                  <a:srgbClr val="CFD8DC"/>
                </a:solidFill>
                <a:ea typeface="Yu Gothic UI"/>
              </a:rPr>
              <a:t>今後の</a:t>
            </a:r>
            <a:r>
              <a:rPr lang="en-US" altLang="ja-JP" sz="1200" dirty="0">
                <a:solidFill>
                  <a:srgbClr val="CFD8DC"/>
                </a:solidFill>
                <a:ea typeface="Yu Gothic UI"/>
              </a:rPr>
              <a:t>PJ</a:t>
            </a:r>
            <a:r>
              <a:rPr lang="ja-JP" altLang="en-US" sz="1200" dirty="0">
                <a:solidFill>
                  <a:srgbClr val="CFD8DC"/>
                </a:solidFill>
                <a:ea typeface="Yu Gothic UI"/>
              </a:rPr>
              <a:t> </a:t>
            </a:r>
            <a:r>
              <a:rPr lang="en-US" altLang="ja-JP" sz="1200" dirty="0">
                <a:solidFill>
                  <a:srgbClr val="CFD8DC"/>
                </a:solidFill>
                <a:ea typeface="Yu Gothic UI"/>
              </a:rPr>
              <a:t>(</a:t>
            </a:r>
            <a:r>
              <a:rPr lang="ja-JP" altLang="en-US" sz="1200" dirty="0">
                <a:solidFill>
                  <a:srgbClr val="CFD8DC"/>
                </a:solidFill>
                <a:ea typeface="Yu Gothic UI"/>
              </a:rPr>
              <a:t>プレゼン</a:t>
            </a:r>
            <a:r>
              <a:rPr lang="en-US" altLang="ja-JP" sz="1200" dirty="0">
                <a:solidFill>
                  <a:srgbClr val="CFD8DC"/>
                </a:solidFill>
                <a:ea typeface="Yu Gothic UI"/>
              </a:rPr>
              <a:t>-From</a:t>
            </a:r>
            <a:r>
              <a:rPr lang="ja-JP" altLang="en-US" sz="1200" dirty="0">
                <a:solidFill>
                  <a:srgbClr val="CFD8DC"/>
                </a:solidFill>
                <a:ea typeface="Yu Gothic UI"/>
              </a:rPr>
              <a:t>講師</a:t>
            </a:r>
            <a:r>
              <a:rPr lang="en-US" altLang="ja-JP" sz="1200" dirty="0">
                <a:solidFill>
                  <a:srgbClr val="CFD8DC"/>
                </a:solidFill>
                <a:ea typeface="Yu Gothic UI"/>
              </a:rPr>
              <a:t>)</a:t>
            </a:r>
            <a:endParaRPr lang="en-US" altLang="ja-JP" sz="1200" dirty="0">
              <a:solidFill>
                <a:srgbClr val="448AFF"/>
              </a:solidFill>
              <a:latin typeface="Segoe UI"/>
              <a:ea typeface="Yu Gothic UI"/>
            </a:endParaRPr>
          </a:p>
          <a:p>
            <a:pPr>
              <a:lnSpc>
                <a:spcPts val="2400"/>
              </a:lnSpc>
              <a:spcBef>
                <a:spcPts val="200"/>
              </a:spcBef>
            </a:pPr>
            <a:r>
              <a:rPr lang="ja-JP" altLang="en-US" sz="1200" dirty="0">
                <a:solidFill>
                  <a:srgbClr val="448AFF"/>
                </a:solidFill>
                <a:latin typeface="Segoe UI"/>
                <a:ea typeface="Yu Gothic UI"/>
              </a:rPr>
              <a:t>▸</a:t>
            </a:r>
            <a:r>
              <a:rPr lang="ja-JP" altLang="en-US" sz="1200" dirty="0">
                <a:solidFill>
                  <a:srgbClr val="CFD8DC"/>
                </a:solidFill>
                <a:ea typeface="Yu Gothic UI"/>
              </a:rPr>
              <a:t>質疑応答／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意見交換</a:t>
            </a:r>
          </a:p>
          <a:p>
            <a:pPr>
              <a:lnSpc>
                <a:spcPts val="2400"/>
              </a:lnSpc>
              <a:spcBef>
                <a:spcPts val="200"/>
              </a:spcBef>
              <a:buNone/>
            </a:pPr>
            <a:endParaRPr lang="ja-JP" altLang="en-US" sz="1200" dirty="0">
              <a:solidFill>
                <a:srgbClr val="CFD8DC"/>
              </a:solidFill>
              <a:latin typeface="Segoe UI"/>
              <a:ea typeface="Yu Gothic UI"/>
            </a:endParaRPr>
          </a:p>
        </p:txBody>
      </p:sp>
      <p:sp>
        <p:nvSpPr>
          <p:cNvPr id="251" name="s251"/>
          <p:cNvSpPr>
            <a:spLocks noGrp="1"/>
          </p:cNvSpPr>
          <p:nvPr/>
        </p:nvSpPr>
        <p:spPr>
          <a:xfrm>
            <a:off x="8839200" y="3378200"/>
            <a:ext cx="3098800" cy="2794000"/>
          </a:xfrm>
          <a:prstGeom prst="roundRect">
            <a:avLst>
              <a:gd name="adj" fmla="val 2500"/>
            </a:avLst>
          </a:prstGeom>
          <a:solidFill>
            <a:srgbClr val="180820"/>
          </a:solidFill>
          <a:ln w="9525">
            <a:solidFill>
              <a:srgbClr val="E040FB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2" name="s252"/>
          <p:cNvSpPr>
            <a:spLocks noGrp="1"/>
          </p:cNvSpPr>
          <p:nvPr/>
        </p:nvSpPr>
        <p:spPr>
          <a:xfrm>
            <a:off x="8839200" y="3378200"/>
            <a:ext cx="3098800" cy="635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3" name="s253"/>
          <p:cNvSpPr>
            <a:spLocks noGrp="1"/>
          </p:cNvSpPr>
          <p:nvPr/>
        </p:nvSpPr>
        <p:spPr>
          <a:xfrm>
            <a:off x="8940800" y="3517900"/>
            <a:ext cx="609600" cy="254000"/>
          </a:xfrm>
          <a:prstGeom prst="roundRect">
            <a:avLst>
              <a:gd name="adj" fmla="val 2000"/>
            </a:avLst>
          </a:prstGeom>
          <a:solidFill>
            <a:srgbClr val="E04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4" name="t254"/>
          <p:cNvSpPr txBox="1">
            <a:spLocks noGrp="1"/>
          </p:cNvSpPr>
          <p:nvPr/>
        </p:nvSpPr>
        <p:spPr>
          <a:xfrm>
            <a:off x="8940800" y="35179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altLang="ja-JP" sz="1000" b="1" dirty="0">
                <a:solidFill>
                  <a:srgbClr val="FFFFFF"/>
                </a:solidFill>
                <a:latin typeface="Segoe UI"/>
                <a:ea typeface="Yu Gothic UI"/>
              </a:rPr>
              <a:t>7TH</a:t>
            </a:r>
          </a:p>
        </p:txBody>
      </p:sp>
      <p:sp>
        <p:nvSpPr>
          <p:cNvPr id="255" name="t255"/>
          <p:cNvSpPr txBox="1">
            <a:spLocks noGrp="1"/>
          </p:cNvSpPr>
          <p:nvPr/>
        </p:nvSpPr>
        <p:spPr>
          <a:xfrm>
            <a:off x="9626600" y="3517900"/>
            <a:ext cx="2209800" cy="25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500" b="1" dirty="0">
                <a:solidFill>
                  <a:srgbClr val="E040FB"/>
                </a:solidFill>
                <a:latin typeface="Segoe UI"/>
                <a:ea typeface="Yu Gothic UI"/>
              </a:rPr>
              <a:t>7th step</a:t>
            </a:r>
          </a:p>
        </p:txBody>
      </p:sp>
      <p:sp>
        <p:nvSpPr>
          <p:cNvPr id="256" name="t256"/>
          <p:cNvSpPr txBox="1">
            <a:spLocks noGrp="1"/>
          </p:cNvSpPr>
          <p:nvPr/>
        </p:nvSpPr>
        <p:spPr>
          <a:xfrm>
            <a:off x="8940800" y="38354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altLang="ja-JP" sz="1200" dirty="0">
                <a:solidFill>
                  <a:srgbClr val="E040FB"/>
                </a:solidFill>
                <a:latin typeface="Segoe UI"/>
                <a:ea typeface="Yu Gothic UI"/>
              </a:rPr>
              <a:t>17:30–18:00  (30min)</a:t>
            </a:r>
          </a:p>
        </p:txBody>
      </p:sp>
      <p:sp>
        <p:nvSpPr>
          <p:cNvPr id="257" name="s257"/>
          <p:cNvSpPr>
            <a:spLocks noGrp="1"/>
          </p:cNvSpPr>
          <p:nvPr/>
        </p:nvSpPr>
        <p:spPr>
          <a:xfrm>
            <a:off x="8940800" y="4191000"/>
            <a:ext cx="2895600" cy="939800"/>
          </a:xfrm>
          <a:prstGeom prst="rect">
            <a:avLst/>
          </a:prstGeom>
          <a:solidFill>
            <a:srgbClr val="2A1040"/>
          </a:solidFill>
          <a:ln>
            <a:noFill/>
          </a:ln>
        </p:spPr>
        <p:txBody>
          <a:bodyPr anchor="ctr"/>
          <a:lstStyle/>
          <a:p>
            <a:pPr>
              <a:lnSpc>
                <a:spcPts val="2800"/>
              </a:lnSpc>
              <a:spcBef>
                <a:spcPts val="200"/>
              </a:spcBef>
            </a:pPr>
            <a:r>
              <a:rPr lang="ja-JP" altLang="en-US" sz="1200" dirty="0">
                <a:solidFill>
                  <a:srgbClr val="448AFF"/>
                </a:solidFill>
                <a:ea typeface="Yu Gothic UI"/>
              </a:rPr>
              <a:t> </a:t>
            </a:r>
            <a:r>
              <a:rPr lang="ja-JP" altLang="en-US" sz="1200" dirty="0">
                <a:solidFill>
                  <a:srgbClr val="E040FB"/>
                </a:solidFill>
                <a:ea typeface="Yu Gothic UI"/>
              </a:rPr>
              <a:t>▸ </a:t>
            </a:r>
            <a:r>
              <a:rPr lang="ja-JP" altLang="en-US" sz="1200" dirty="0">
                <a:ea typeface="Yu Gothic UI"/>
              </a:rPr>
              <a:t>宿題説明</a:t>
            </a:r>
            <a:endParaRPr lang="en-US" altLang="ja-JP" sz="1200" dirty="0">
              <a:ea typeface="Yu Gothic UI"/>
            </a:endParaRPr>
          </a:p>
          <a:p>
            <a:pPr>
              <a:lnSpc>
                <a:spcPts val="2800"/>
              </a:lnSpc>
              <a:spcBef>
                <a:spcPts val="200"/>
              </a:spcBef>
            </a:pPr>
            <a:r>
              <a:rPr lang="ja-JP" altLang="en-US" sz="1200" dirty="0">
                <a:solidFill>
                  <a:srgbClr val="448AFF"/>
                </a:solidFill>
                <a:ea typeface="Yu Gothic UI"/>
              </a:rPr>
              <a:t> </a:t>
            </a:r>
            <a:r>
              <a:rPr lang="ja-JP" altLang="en-US" sz="1200" dirty="0">
                <a:solidFill>
                  <a:srgbClr val="E040FB"/>
                </a:solidFill>
                <a:latin typeface="Segoe UI"/>
                <a:ea typeface="Yu Gothic UI"/>
              </a:rPr>
              <a:t>▸ </a:t>
            </a:r>
            <a:r>
              <a:rPr lang="ja-JP" altLang="en-US" sz="1200" dirty="0">
                <a:solidFill>
                  <a:srgbClr val="CFD8DC"/>
                </a:solidFill>
                <a:latin typeface="Segoe UI"/>
                <a:ea typeface="Yu Gothic UI"/>
              </a:rPr>
              <a:t>クロージング</a:t>
            </a:r>
            <a:endParaRPr lang="en-US" altLang="ja-JP" sz="1200" dirty="0">
              <a:solidFill>
                <a:srgbClr val="CFD8DC"/>
              </a:solidFill>
              <a:latin typeface="Segoe UI"/>
              <a:ea typeface="Yu Gothic UI"/>
            </a:endParaRPr>
          </a:p>
        </p:txBody>
      </p:sp>
      <p:sp>
        <p:nvSpPr>
          <p:cNvPr id="259" name="s259"/>
          <p:cNvSpPr>
            <a:spLocks noGrp="1"/>
          </p:cNvSpPr>
          <p:nvPr/>
        </p:nvSpPr>
        <p:spPr>
          <a:xfrm>
            <a:off x="8940800" y="5664200"/>
            <a:ext cx="2895600" cy="381000"/>
          </a:xfrm>
          <a:prstGeom prst="roundRect">
            <a:avLst>
              <a:gd name="adj" fmla="val 3000"/>
            </a:avLst>
          </a:prstGeom>
          <a:solidFill>
            <a:srgbClr val="E04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t260"/>
          <p:cNvSpPr txBox="1">
            <a:spLocks noGrp="1"/>
          </p:cNvSpPr>
          <p:nvPr/>
        </p:nvSpPr>
        <p:spPr>
          <a:xfrm>
            <a:off x="8940800" y="56642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Segoe UI"/>
                <a:ea typeface="Yu Gothic UI"/>
              </a:rPr>
              <a:t>研修終了 18:00</a:t>
            </a:r>
          </a:p>
        </p:txBody>
      </p:sp>
      <p:sp>
        <p:nvSpPr>
          <p:cNvPr id="261" name="t261"/>
          <p:cNvSpPr txBox="1">
            <a:spLocks noGrp="1"/>
          </p:cNvSpPr>
          <p:nvPr/>
        </p:nvSpPr>
        <p:spPr>
          <a:xfrm>
            <a:off x="254000" y="6350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sz="1200" dirty="0">
                <a:solidFill>
                  <a:srgbClr val="78909C"/>
                </a:solidFill>
                <a:latin typeface="Segoe UI"/>
                <a:ea typeface="Yu Gothic UI"/>
              </a:rPr>
              <a:t>← 午前の部</a:t>
            </a:r>
          </a:p>
        </p:txBody>
      </p:sp>
      <p:sp>
        <p:nvSpPr>
          <p:cNvPr id="2" name="t104">
            <a:extLst>
              <a:ext uri="{FF2B5EF4-FFF2-40B4-BE49-F238E27FC236}">
                <a16:creationId xmlns:a16="http://schemas.microsoft.com/office/drawing/2014/main" id="{1721E976-1DAB-77C9-3DC2-FA0CF9A9F26B}"/>
              </a:ext>
            </a:extLst>
          </p:cNvPr>
          <p:cNvSpPr txBox="1">
            <a:spLocks noGrp="1"/>
          </p:cNvSpPr>
          <p:nvPr/>
        </p:nvSpPr>
        <p:spPr>
          <a:xfrm>
            <a:off x="2438400" y="1472460"/>
            <a:ext cx="1353617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dirty="0">
                <a:solidFill>
                  <a:srgbClr val="FFFFFF"/>
                </a:solidFill>
                <a:latin typeface="Segoe UI"/>
                <a:ea typeface="Yu Gothic UI"/>
              </a:rPr>
              <a:t>単体テスト</a:t>
            </a:r>
          </a:p>
        </p:txBody>
      </p:sp>
      <p:sp>
        <p:nvSpPr>
          <p:cNvPr id="3" name="t104">
            <a:extLst>
              <a:ext uri="{FF2B5EF4-FFF2-40B4-BE49-F238E27FC236}">
                <a16:creationId xmlns:a16="http://schemas.microsoft.com/office/drawing/2014/main" id="{8ADB9100-393C-8B16-9EC3-681BA63688C4}"/>
              </a:ext>
            </a:extLst>
          </p:cNvPr>
          <p:cNvSpPr txBox="1">
            <a:spLocks noGrp="1"/>
          </p:cNvSpPr>
          <p:nvPr/>
        </p:nvSpPr>
        <p:spPr>
          <a:xfrm>
            <a:off x="6628646" y="828392"/>
            <a:ext cx="1872558" cy="50510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altLang="en-US" dirty="0">
                <a:solidFill>
                  <a:srgbClr val="FFFFFF"/>
                </a:solidFill>
                <a:latin typeface="Segoe UI"/>
                <a:ea typeface="Yu Gothic UI"/>
              </a:rPr>
              <a:t>機能追加・改善</a:t>
            </a:r>
            <a:endParaRPr lang="en-US" altLang="ja-JP" dirty="0">
              <a:solidFill>
                <a:srgbClr val="FFFFFF"/>
              </a:solidFill>
              <a:latin typeface="Segoe UI"/>
              <a:ea typeface="Yu Gothic UI"/>
            </a:endParaRPr>
          </a:p>
        </p:txBody>
      </p:sp>
    </p:spTree>
    <p:extLst>
      <p:ext uri="{BB962C8B-B14F-4D97-AF65-F5344CB8AC3E}">
        <p14:creationId xmlns:p14="http://schemas.microsoft.com/office/powerpoint/2010/main" val="84448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C6E5E9-6275-46A7-3387-794FFFA13CA9}"/>
              </a:ext>
            </a:extLst>
          </p:cNvPr>
          <p:cNvSpPr txBox="1"/>
          <p:nvPr/>
        </p:nvSpPr>
        <p:spPr>
          <a:xfrm>
            <a:off x="378373" y="575441"/>
            <a:ext cx="404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EOF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66122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um"/>
          <p:cNvSpPr/>
          <p:nvPr/>
        </p:nvSpPr>
        <p:spPr>
          <a:xfrm>
            <a:off x="457200" y="274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3600" b="0" dirty="0">
                <a:solidFill>
                  <a:srgbClr val="80EAFF"/>
                </a:solidFill>
                <a:latin typeface="Segoe UI Light"/>
              </a:rPr>
              <a:t>03</a:t>
            </a:r>
          </a:p>
        </p:txBody>
      </p:sp>
      <p:sp>
        <p:nvSpPr>
          <p:cNvPr id="21" name="Title"/>
          <p:cNvSpPr/>
          <p:nvPr/>
        </p:nvSpPr>
        <p:spPr>
          <a:xfrm>
            <a:off x="457200" y="274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lIns="720000" tIns="0" rIns="0" bIns="0" anchor="ctr"/>
          <a:lstStyle/>
          <a:p>
            <a:pPr algn="l"/>
            <a:r>
              <a:rPr lang="ja-JP" altLang="en-US" sz="2400" dirty="0">
                <a:solidFill>
                  <a:srgbClr val="FFFFFF"/>
                </a:solidFill>
                <a:latin typeface="Segoe UI Light"/>
                <a:ea typeface="Yu Gothic UI Light"/>
              </a:rPr>
              <a:t>カリキュラム全体サマリー</a:t>
            </a:r>
            <a:r>
              <a:rPr lang="en-US" sz="1600" dirty="0">
                <a:solidFill>
                  <a:srgbClr val="78909C"/>
                </a:solidFill>
                <a:latin typeface="Segoe UI Light"/>
              </a:rPr>
              <a:t>   1st step ～ 8th step</a:t>
            </a:r>
          </a:p>
        </p:txBody>
      </p:sp>
      <p:sp>
        <p:nvSpPr>
          <p:cNvPr id="22" name="Line"/>
          <p:cNvSpPr/>
          <p:nvPr/>
        </p:nvSpPr>
        <p:spPr>
          <a:xfrm>
            <a:off x="457200" y="780000"/>
            <a:ext cx="2400000" cy="24000"/>
          </a:xfrm>
          <a:prstGeom prst="rect">
            <a:avLst/>
          </a:prstGeom>
          <a:gradFill>
            <a:gsLst>
              <a:gs pos="0">
                <a:srgbClr val="00E676"/>
              </a:gs>
              <a:gs pos="100000">
                <a:srgbClr val="448AFF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" name="SimCard"/>
          <p:cNvSpPr/>
          <p:nvPr/>
        </p:nvSpPr>
        <p:spPr>
          <a:xfrm>
            <a:off x="457201" y="1000000"/>
            <a:ext cx="10811021" cy="5368556"/>
          </a:xfrm>
          <a:prstGeom prst="roundRect">
            <a:avLst>
              <a:gd name="adj" fmla="val 3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00E676">
                <a:alpha val="25000"/>
              </a:srgbClr>
            </a:solidFill>
          </a:ln>
        </p:spPr>
        <p:txBody>
          <a:bodyPr lIns="216000" tIns="180000" rIns="180000" bIns="144000" anchor="t"/>
          <a:lstStyle/>
          <a:p>
            <a:pPr algn="l">
              <a:spcBef>
                <a:spcPts val="4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00D4FF"/>
                </a:solidFill>
                <a:latin typeface="Segoe UI"/>
              </a:rPr>
              <a:t>1st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9:30–10:00  (30min)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環境確認 / Codespaces 利用方法 / Server 起動</a:t>
            </a:r>
          </a:p>
          <a:p>
            <a:pPr algn="l">
              <a:spcBef>
                <a:spcPts val="15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7C4DFF"/>
                </a:solidFill>
                <a:latin typeface="Segoe UI"/>
              </a:rPr>
              <a:t>2nd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10:00–10:30  (30min)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システム・設計書・プロンプトの説明</a:t>
            </a:r>
          </a:p>
          <a:p>
            <a:pPr algn="l">
              <a:spcBef>
                <a:spcPts val="15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FF6E40"/>
                </a:solidFill>
                <a:latin typeface="Segoe UI"/>
              </a:rPr>
              <a:t>3rd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10:30–11:30  (1h)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コーディング作業の流れ / プロンプト説明・実行 (CD)</a:t>
            </a:r>
          </a:p>
          <a:p>
            <a:pPr algn="l">
              <a:spcBef>
                <a:spcPts val="15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FF6E40"/>
                </a:solidFill>
                <a:latin typeface="Segoe UI"/>
              </a:rPr>
              <a:t>4th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11:30–12:30  (1h)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実行結果確認 / 動作検証 / git commit</a:t>
            </a:r>
          </a:p>
          <a:p>
            <a:pPr algn="l">
              <a:spcBef>
                <a:spcPts val="15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7C4DFF"/>
                </a:solidFill>
                <a:latin typeface="Segoe UI"/>
              </a:rPr>
              <a:t>5th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12:30–13:30  (1h)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UTクラス作成 / JUnit 実施 / カバレッジ確認</a:t>
            </a:r>
          </a:p>
          <a:p>
            <a:pPr algn="l">
              <a:spcBef>
                <a:spcPts val="15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00E676"/>
                </a:solidFill>
                <a:latin typeface="Segoe UI"/>
              </a:rPr>
              <a:t>6th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13:30–15:30  (2h)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機能追加ループ（設計→合否→CD→UT）/ git commit</a:t>
            </a:r>
          </a:p>
          <a:p>
            <a:pPr algn="l">
              <a:spcBef>
                <a:spcPts val="15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448AFF"/>
                </a:solidFill>
                <a:latin typeface="Segoe UI"/>
              </a:rPr>
              <a:t>7th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15:30–17:30  (2h)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意見交換 / 質疑応答 / 所管・宿題説明</a:t>
            </a:r>
          </a:p>
          <a:p>
            <a:pPr algn="l">
              <a:spcBef>
                <a:spcPts val="1500"/>
              </a:spcBef>
              <a:spcAft>
                <a:spcPts val="150"/>
              </a:spcAft>
              <a:buNone/>
            </a:pPr>
            <a:r>
              <a:rPr lang="en-US" sz="1300" b="1" spc="200" dirty="0">
                <a:solidFill>
                  <a:srgbClr val="E040FB"/>
                </a:solidFill>
                <a:latin typeface="Segoe UI"/>
              </a:rPr>
              <a:t>8th step</a:t>
            </a:r>
            <a:r>
              <a:rPr lang="en-US" sz="1100" dirty="0">
                <a:solidFill>
                  <a:srgbClr val="B0BEC5"/>
                </a:solidFill>
                <a:latin typeface="Segoe UI"/>
              </a:rPr>
              <a:t>  17:30–18:00  (30min)</a:t>
            </a:r>
          </a:p>
          <a:p>
            <a:pPr marL="171450" indent="-171450" algn="l">
              <a:lnSpc>
                <a:spcPts val="1600"/>
              </a:lnSpc>
              <a:spcBef>
                <a:spcPts val="100"/>
              </a:spcBef>
              <a:spcAft>
                <a:spcPts val="0"/>
              </a:spcAft>
              <a:buFont typeface="Arial"/>
              <a:buChar char="▸"/>
            </a:pPr>
            <a:r>
              <a:rPr lang="ja-JP" altLang="en-US" sz="1100" dirty="0">
                <a:solidFill>
                  <a:srgbClr val="CFD8DC"/>
                </a:solidFill>
                <a:latin typeface="Segoe UI"/>
                <a:ea typeface="Yu Gothic UI"/>
              </a:rPr>
              <a:t>クロージング</a:t>
            </a:r>
          </a:p>
        </p:txBody>
      </p:sp>
      <p:pic>
        <p:nvPicPr>
          <p:cNvPr id="31" name="Graphic 31" descr="ステップ詳細チェックリストアイコン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4500" y="10160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34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Num"/>
          <p:cNvSpPr/>
          <p:nvPr/>
        </p:nvSpPr>
        <p:spPr>
          <a:xfrm>
            <a:off x="457200" y="274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3600" b="0" dirty="0">
                <a:solidFill>
                  <a:srgbClr val="00D4FF"/>
                </a:solidFill>
                <a:latin typeface="Segoe UI Light"/>
              </a:rPr>
              <a:t>00</a:t>
            </a:r>
          </a:p>
        </p:txBody>
      </p:sp>
      <p:sp>
        <p:nvSpPr>
          <p:cNvPr id="21" name="Title"/>
          <p:cNvSpPr/>
          <p:nvPr/>
        </p:nvSpPr>
        <p:spPr>
          <a:xfrm>
            <a:off x="457200" y="274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lIns="720000" tIns="0" rIns="0" bIns="0" anchor="ctr"/>
          <a:lstStyle/>
          <a:p>
            <a:pPr algn="l"/>
            <a:r>
              <a:rPr lang="ja-JP" altLang="en-US" sz="2400" b="0" dirty="0">
                <a:solidFill>
                  <a:srgbClr val="FFFFFF"/>
                </a:solidFill>
                <a:latin typeface="Segoe UI Light"/>
                <a:ea typeface="Yu Gothic UI Light"/>
              </a:rPr>
              <a:t>事前準備</a:t>
            </a:r>
          </a:p>
        </p:txBody>
      </p:sp>
      <p:sp>
        <p:nvSpPr>
          <p:cNvPr id="22" name="TitleLine"/>
          <p:cNvSpPr/>
          <p:nvPr/>
        </p:nvSpPr>
        <p:spPr>
          <a:xfrm>
            <a:off x="457200" y="780000"/>
            <a:ext cx="2400000" cy="24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4DFF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3" name="PurposeCard"/>
          <p:cNvSpPr/>
          <p:nvPr/>
        </p:nvSpPr>
        <p:spPr>
          <a:xfrm>
            <a:off x="457199" y="1100000"/>
            <a:ext cx="9346223" cy="105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lIns="216000" tIns="144000" rIns="180000" bIns="108000" anchor="t"/>
          <a:lstStyle/>
          <a:p>
            <a:pPr algn="l">
              <a:lnSpc>
                <a:spcPts val="2200"/>
              </a:lnSpc>
              <a:buNone/>
            </a:pPr>
            <a:r>
              <a:rPr lang="ja-JP" altLang="en-US" sz="1500" dirty="0">
                <a:solidFill>
                  <a:srgbClr val="E0E0E0"/>
                </a:solidFill>
                <a:latin typeface="Segoe UI"/>
                <a:ea typeface="Yu Gothic UI"/>
              </a:rPr>
              <a:t>研修開始前に以下の準備を完了させてください。</a:t>
            </a:r>
          </a:p>
          <a:p>
            <a:pPr algn="l">
              <a:lnSpc>
                <a:spcPts val="2200"/>
              </a:lnSpc>
              <a:buNone/>
            </a:pPr>
            <a:r>
              <a:rPr lang="ja-JP" altLang="en-US" sz="1500" b="1" dirty="0">
                <a:solidFill>
                  <a:srgbClr val="00D4FF"/>
                </a:solidFill>
                <a:latin typeface="Segoe UI"/>
                <a:ea typeface="Yu Gothic UI"/>
              </a:rPr>
              <a:t>当日スムーズに進行するために、事前確認が必須です。</a:t>
            </a:r>
          </a:p>
        </p:txBody>
      </p:sp>
      <p:sp>
        <p:nvSpPr>
          <p:cNvPr id="29" name="BgLabel"/>
          <p:cNvSpPr/>
          <p:nvPr/>
        </p:nvSpPr>
        <p:spPr>
          <a:xfrm>
            <a:off x="457200" y="2411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l"/>
            <a:r>
              <a:rPr lang="en-US" sz="1400" b="1" spc="200" dirty="0">
                <a:solidFill>
                  <a:srgbClr val="00D4FF"/>
                </a:solidFill>
                <a:latin typeface="Segoe UI"/>
                <a:ea typeface="Yu Gothic UI"/>
              </a:rPr>
              <a:t>CHECKLIST</a:t>
            </a:r>
          </a:p>
        </p:txBody>
      </p:sp>
      <p:sp>
        <p:nvSpPr>
          <p:cNvPr id="40" name="BgText1"/>
          <p:cNvSpPr/>
          <p:nvPr/>
        </p:nvSpPr>
        <p:spPr>
          <a:xfrm>
            <a:off x="920000" y="2700000"/>
            <a:ext cx="10800000" cy="850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>
              <a:lnSpc>
                <a:spcPts val="2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Segoe UI"/>
                <a:ea typeface="Yu Gothic UI"/>
              </a:rPr>
              <a:t>GitHub アカウントの作成</a:t>
            </a:r>
          </a:p>
          <a:p>
            <a:pPr>
              <a:lnSpc>
                <a:spcPts val="2000"/>
              </a:lnSpc>
            </a:pPr>
            <a:r>
              <a:rPr lang="ja-JP" altLang="en-US" sz="1400" dirty="0">
                <a:solidFill>
                  <a:srgbClr val="CFD8DC"/>
                </a:solidFill>
                <a:latin typeface="Segoe UI"/>
                <a:ea typeface="Yu Gothic UI"/>
              </a:rPr>
              <a:t>https://github.com にてアカウントを作成してください</a:t>
            </a:r>
          </a:p>
        </p:txBody>
      </p:sp>
      <p:sp>
        <p:nvSpPr>
          <p:cNvPr id="50" name="Sep1"/>
          <p:cNvSpPr/>
          <p:nvPr/>
        </p:nvSpPr>
        <p:spPr>
          <a:xfrm>
            <a:off x="457200" y="3600000"/>
            <a:ext cx="11100000" cy="12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1" name="BgText2"/>
          <p:cNvSpPr/>
          <p:nvPr/>
        </p:nvSpPr>
        <p:spPr>
          <a:xfrm>
            <a:off x="934800" y="3556040"/>
            <a:ext cx="10800000" cy="760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>
              <a:lnSpc>
                <a:spcPts val="2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Segoe UI"/>
                <a:ea typeface="Yu Gothic UI"/>
              </a:rPr>
              <a:t>ブラウザーから GitHub Codespaces の利用確認</a:t>
            </a:r>
          </a:p>
          <a:p>
            <a:pPr>
              <a:lnSpc>
                <a:spcPts val="2000"/>
              </a:lnSpc>
            </a:pPr>
            <a:r>
              <a:rPr lang="ja-JP" altLang="en-US" sz="1400" dirty="0">
                <a:solidFill>
                  <a:srgbClr val="CFD8DC"/>
                </a:solidFill>
                <a:latin typeface="Segoe UI"/>
                <a:ea typeface="Yu Gothic UI"/>
              </a:rPr>
              <a:t>ブラウザーのみで利用可能。ローカル環境の構築は不要です。</a:t>
            </a:r>
          </a:p>
        </p:txBody>
      </p:sp>
      <p:sp>
        <p:nvSpPr>
          <p:cNvPr id="51" name="Sep2"/>
          <p:cNvSpPr/>
          <p:nvPr/>
        </p:nvSpPr>
        <p:spPr>
          <a:xfrm>
            <a:off x="457200" y="4292600"/>
            <a:ext cx="11100000" cy="120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2" name="BgText3"/>
          <p:cNvSpPr/>
          <p:nvPr/>
        </p:nvSpPr>
        <p:spPr>
          <a:xfrm>
            <a:off x="920000" y="4597400"/>
            <a:ext cx="10800000" cy="991066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>
              <a:lnSpc>
                <a:spcPts val="2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Segoe UI"/>
                <a:ea typeface="Yu Gothic UI"/>
              </a:rPr>
              <a:t>当日の研修環境について</a:t>
            </a:r>
          </a:p>
          <a:p>
            <a:pPr>
              <a:lnSpc>
                <a:spcPts val="2000"/>
              </a:lnSpc>
            </a:pPr>
            <a:r>
              <a:rPr lang="ja-JP" altLang="en-US" sz="1400" dirty="0">
                <a:solidFill>
                  <a:srgbClr val="CFD8DC"/>
                </a:solidFill>
                <a:latin typeface="Segoe UI"/>
                <a:ea typeface="Yu Gothic UI"/>
              </a:rPr>
              <a:t>PCとブラウザーのみ持参。インターネット接続が必須です（Wi-Fi 提供あり）</a:t>
            </a:r>
          </a:p>
        </p:txBody>
      </p:sp>
      <p:sp>
        <p:nvSpPr>
          <p:cNvPr id="60" name="RightAccent"/>
          <p:cNvSpPr/>
          <p:nvPr/>
        </p:nvSpPr>
        <p:spPr>
          <a:xfrm>
            <a:off x="11800000" y="1000000"/>
            <a:ext cx="36000" cy="4800000"/>
          </a:xfrm>
          <a:prstGeom prst="rect">
            <a:avLst/>
          </a:prstGeom>
          <a:gradFill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20000"/>
                </a:srgbClr>
              </a:gs>
              <a:gs pos="100000">
                <a:srgbClr val="7C4DFF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" name="HeroCard">
            <a:extLst>
              <a:ext uri="{FF2B5EF4-FFF2-40B4-BE49-F238E27FC236}">
                <a16:creationId xmlns:a16="http://schemas.microsoft.com/office/drawing/2014/main" id="{EF5CFD18-4BE9-965B-7844-362E0FBB8639}"/>
              </a:ext>
            </a:extLst>
          </p:cNvPr>
          <p:cNvSpPr/>
          <p:nvPr/>
        </p:nvSpPr>
        <p:spPr>
          <a:xfrm>
            <a:off x="816959" y="5585711"/>
            <a:ext cx="9271731" cy="8770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7C4DFF">
                  <a:alpha val="15000"/>
                </a:srgbClr>
              </a:gs>
              <a:gs pos="100000">
                <a:srgbClr val="00D4FF">
                  <a:alpha val="8000"/>
                </a:srgbClr>
              </a:gs>
            </a:gsLst>
            <a:lin ang="0" scaled="1"/>
          </a:gradFill>
          <a:ln w="9525">
            <a:solidFill>
              <a:srgbClr val="7C4DFF">
                <a:alpha val="40000"/>
              </a:srgbClr>
            </a:solidFill>
          </a:ln>
        </p:spPr>
        <p:txBody>
          <a:bodyPr lIns="288000" tIns="144000" rIns="216000" bIns="144000" anchor="ctr"/>
          <a:lstStyle/>
          <a:p>
            <a:pPr algn="l">
              <a:spcAft>
                <a:spcPts val="500"/>
              </a:spcAft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Segoe UI"/>
                <a:ea typeface="Yu Gothic UI"/>
              </a:rPr>
              <a:t>研修当日はPCとブラウザーのみで参加できます</a:t>
            </a:r>
          </a:p>
          <a:p>
            <a:pPr algn="l">
              <a:lnSpc>
                <a:spcPts val="2000"/>
              </a:lnSpc>
              <a:buNone/>
            </a:pPr>
            <a:r>
              <a:rPr lang="ja-JP" altLang="en-US" sz="1400" dirty="0">
                <a:solidFill>
                  <a:srgbClr val="B0BEC5"/>
                </a:solidFill>
                <a:latin typeface="Segoe UI"/>
                <a:ea typeface="Yu Gothic UI"/>
              </a:rPr>
              <a:t>GitHub Codespaces はクラウド上でコードを実行できるため、ローカルへのインストール不要です</a:t>
            </a:r>
          </a:p>
        </p:txBody>
      </p:sp>
      <p:sp>
        <p:nvSpPr>
          <p:cNvPr id="4" name="Arrow">
            <a:extLst>
              <a:ext uri="{FF2B5EF4-FFF2-40B4-BE49-F238E27FC236}">
                <a16:creationId xmlns:a16="http://schemas.microsoft.com/office/drawing/2014/main" id="{3F95847A-9ED1-EF30-2FF0-EEA85CEBD153}"/>
              </a:ext>
            </a:extLst>
          </p:cNvPr>
          <p:cNvSpPr/>
          <p:nvPr/>
        </p:nvSpPr>
        <p:spPr>
          <a:xfrm rot="5400000">
            <a:off x="5489007" y="5373648"/>
            <a:ext cx="389156" cy="400000"/>
          </a:xfrm>
          <a:prstGeom prst="rightArrow">
            <a:avLst/>
          </a:prstGeom>
          <a:gradFill flip="none" rotWithShape="1">
            <a:gsLst>
              <a:gs pos="0">
                <a:srgbClr val="14D1FF">
                  <a:shade val="30000"/>
                  <a:satMod val="115000"/>
                  <a:alpha val="20000"/>
                </a:srgbClr>
              </a:gs>
              <a:gs pos="50000">
                <a:srgbClr val="14D1FF">
                  <a:shade val="67500"/>
                  <a:satMod val="115000"/>
                </a:srgbClr>
              </a:gs>
              <a:gs pos="100000">
                <a:srgbClr val="14D1FF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6" name="PointBadge">
            <a:extLst>
              <a:ext uri="{FF2B5EF4-FFF2-40B4-BE49-F238E27FC236}">
                <a16:creationId xmlns:a16="http://schemas.microsoft.com/office/drawing/2014/main" id="{EBC397DF-5A34-4DD6-81E5-AF6DD1D4041C}"/>
              </a:ext>
            </a:extLst>
          </p:cNvPr>
          <p:cNvSpPr/>
          <p:nvPr/>
        </p:nvSpPr>
        <p:spPr>
          <a:xfrm>
            <a:off x="457200" y="4406900"/>
            <a:ext cx="254000" cy="254000"/>
          </a:xfrm>
          <a:prstGeom prst="diamond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" name="PointLabel2">
            <a:extLst>
              <a:ext uri="{FF2B5EF4-FFF2-40B4-BE49-F238E27FC236}">
                <a16:creationId xmlns:a16="http://schemas.microsoft.com/office/drawing/2014/main" id="{B805AC92-B72E-49C4-9713-5062EA264796}"/>
              </a:ext>
            </a:extLst>
          </p:cNvPr>
          <p:cNvSpPr txBox="1"/>
          <p:nvPr/>
        </p:nvSpPr>
        <p:spPr>
          <a:xfrm>
            <a:off x="736600" y="4381500"/>
            <a:ext cx="1016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FF6E40"/>
                </a:solidFill>
                <a:latin typeface="Segoe UI"/>
              </a:rPr>
              <a:t>POINT</a:t>
            </a:r>
          </a:p>
        </p:txBody>
      </p:sp>
      <p:pic>
        <p:nvPicPr>
          <p:cNvPr id="61" name="Graphic 61" descr="GitHub アカウント作成アイコン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768600"/>
            <a:ext cx="330200" cy="330200"/>
          </a:xfrm>
          <a:prstGeom prst="rect">
            <a:avLst/>
          </a:prstGeom>
        </p:spPr>
      </p:pic>
      <p:pic>
        <p:nvPicPr>
          <p:cNvPr id="62" name="Graphic 62" descr="ブラウザー確認アイコン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670300"/>
            <a:ext cx="330200" cy="330200"/>
          </a:xfrm>
          <a:prstGeom prst="rect">
            <a:avLst/>
          </a:prstGeom>
        </p:spPr>
      </p:pic>
      <p:pic>
        <p:nvPicPr>
          <p:cNvPr id="63" name="Graphic 63" descr="環境説明アイコン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660900"/>
            <a:ext cx="330200" cy="3302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4C838D-FB47-E572-E88C-D5193EB21B8E}"/>
              </a:ext>
            </a:extLst>
          </p:cNvPr>
          <p:cNvSpPr txBox="1"/>
          <p:nvPr/>
        </p:nvSpPr>
        <p:spPr>
          <a:xfrm>
            <a:off x="7393886" y="4985318"/>
            <a:ext cx="4693655" cy="4924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1300" dirty="0">
                <a:solidFill>
                  <a:schemeClr val="accent1"/>
                </a:solidFill>
              </a:rPr>
              <a:t>事前に</a:t>
            </a:r>
            <a:r>
              <a:rPr lang="en-US" altLang="ja-JP" sz="1300" dirty="0">
                <a:solidFill>
                  <a:schemeClr val="accent1"/>
                </a:solidFill>
              </a:rPr>
              <a:t>teams</a:t>
            </a:r>
            <a:r>
              <a:rPr lang="ja-JP" altLang="en-US" sz="1300" dirty="0">
                <a:solidFill>
                  <a:schemeClr val="accent1"/>
                </a:solidFill>
              </a:rPr>
              <a:t>チャネルを用意しておくのが良いかも。</a:t>
            </a:r>
            <a:endParaRPr lang="en-US" altLang="ja-JP" sz="1300" dirty="0">
              <a:solidFill>
                <a:schemeClr val="accent1"/>
              </a:solidFill>
            </a:endParaRPr>
          </a:p>
          <a:p>
            <a:r>
              <a:rPr lang="ja-JP" altLang="en-US" sz="1300" dirty="0">
                <a:solidFill>
                  <a:schemeClr val="accent1"/>
                </a:solidFill>
              </a:rPr>
              <a:t>周知事項をロックで表示できると尚よし</a:t>
            </a:r>
            <a:r>
              <a:rPr lang="en-US" altLang="ja-JP" sz="1300" dirty="0">
                <a:solidFill>
                  <a:schemeClr val="accent1"/>
                </a:solidFill>
              </a:rPr>
              <a:t>(slack</a:t>
            </a:r>
            <a:r>
              <a:rPr lang="ja-JP" altLang="en-US" sz="1300" dirty="0">
                <a:solidFill>
                  <a:schemeClr val="accent1"/>
                </a:solidFill>
              </a:rPr>
              <a:t>みたいに</a:t>
            </a:r>
            <a:r>
              <a:rPr lang="en-US" altLang="ja-JP" sz="13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777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AI Futuristic">
      <a:dk1>
        <a:srgbClr val="FFFFFF"/>
      </a:dk1>
      <a:lt1>
        <a:srgbClr val="0D1117"/>
      </a:lt1>
      <a:dk2>
        <a:srgbClr val="B0BEC5"/>
      </a:dk2>
      <a:lt2>
        <a:srgbClr val="161B22"/>
      </a:lt2>
      <a:accent1>
        <a:srgbClr val="00D4FF"/>
      </a:accent1>
      <a:accent2>
        <a:srgbClr val="7C4DFF"/>
      </a:accent2>
      <a:accent3>
        <a:srgbClr val="00E676"/>
      </a:accent3>
      <a:accent4>
        <a:srgbClr val="FF6E40"/>
      </a:accent4>
      <a:accent5>
        <a:srgbClr val="448AFF"/>
      </a:accent5>
      <a:accent6>
        <a:srgbClr val="E040FB"/>
      </a:accent6>
      <a:hlink>
        <a:srgbClr val="0563C1"/>
      </a:hlink>
      <a:folHlink>
        <a:srgbClr val="954F72"/>
      </a:folHlink>
    </a:clrScheme>
    <a:fontScheme name="AI Modern">
      <a:majorFont>
        <a:latin typeface="Segoe UI Light" panose="020F0302020204030204"/>
        <a:ea typeface="Yu Gothic UI Light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Yu Gothic U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4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5ED450-EC9A-428E-A1BB-5F3D73E5D861}">
  <we:reference id="wa200010001" version="1.0.0.0" store="ja-JP" storeType="OMEX"/>
  <we:alternateReferences>
    <we:reference id="WA200010001" version="1.0.0.0" store="WA200010001" storeType="OMEX"/>
  </we:alternateReferences>
  <we:properties>
    <we:property name="claude.fileId" value="&quot;b650dedc-9e9d-44bc-941f-e830be898fb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25568</TotalTime>
  <Words>738</Words>
  <Application>Microsoft Office PowerPoint</Application>
  <PresentationFormat>ワイド画面</PresentationFormat>
  <Paragraphs>144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Yu Gothic UI</vt:lpstr>
      <vt:lpstr>游ゴシック</vt:lpstr>
      <vt:lpstr>Arial</vt:lpstr>
      <vt:lpstr>Segoe UI</vt:lpstr>
      <vt:lpstr>Segoe UI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初見 昌宏</dc:creator>
  <cp:lastModifiedBy>初見 昌宏</cp:lastModifiedBy>
  <cp:revision>53</cp:revision>
  <dcterms:created xsi:type="dcterms:W3CDTF">2026-02-10T09:25:20Z</dcterms:created>
  <dcterms:modified xsi:type="dcterms:W3CDTF">2026-07-26T10:38:00Z</dcterms:modified>
</cp:coreProperties>
</file>